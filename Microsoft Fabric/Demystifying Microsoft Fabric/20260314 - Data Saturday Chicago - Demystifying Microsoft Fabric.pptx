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28"/>
  </p:notesMasterIdLst>
  <p:sldIdLst>
    <p:sldId id="256" r:id="rId2"/>
    <p:sldId id="330" r:id="rId3"/>
    <p:sldId id="311" r:id="rId4"/>
    <p:sldId id="257" r:id="rId5"/>
    <p:sldId id="331" r:id="rId6"/>
    <p:sldId id="319" r:id="rId7"/>
    <p:sldId id="2147482607" r:id="rId8"/>
    <p:sldId id="333" r:id="rId9"/>
    <p:sldId id="2147482608" r:id="rId10"/>
    <p:sldId id="2147482609" r:id="rId11"/>
    <p:sldId id="2147482610" r:id="rId12"/>
    <p:sldId id="276" r:id="rId13"/>
    <p:sldId id="2147482613" r:id="rId14"/>
    <p:sldId id="2147482616" r:id="rId15"/>
    <p:sldId id="2147482617" r:id="rId16"/>
    <p:sldId id="332" r:id="rId17"/>
    <p:sldId id="2147482621" r:id="rId18"/>
    <p:sldId id="2147482622" r:id="rId19"/>
    <p:sldId id="2147482623" r:id="rId20"/>
    <p:sldId id="2147482624" r:id="rId21"/>
    <p:sldId id="2147482618" r:id="rId22"/>
    <p:sldId id="2147482612" r:id="rId23"/>
    <p:sldId id="2147482614" r:id="rId24"/>
    <p:sldId id="2147482611" r:id="rId25"/>
    <p:sldId id="2147482615" r:id="rId26"/>
    <p:sldId id="277" r:id="rId2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F8465D3-AAB6-4CFA-8EC9-533CC9B8970E}" v="12" dt="2023-07-15T12:13:47.164"/>
    <p1510:client id="{ED1F197A-5E72-4051-89EB-401A16FF6143}" v="51" dt="2023-07-20T01:27:36.55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D5E261-72C1-4575-95CD-11A9CC6C674A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5B05B6-38F4-4D29-B64A-2B00ADE53C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69364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A7A225-41F1-7F27-4E78-75869776FF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8404C8-A5F4-C53A-806C-8E93D273F6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9F36E5-3153-47EF-69DA-ECD69DAA6B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BB3460-B602-6334-89A4-CE6177B0F6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2C13D3-B291-44D2-95AA-8F8B205FDB4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85273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89CF30-CC64-3EAF-40FF-4A5FB2053B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4DB159-1A7F-85B6-5FD5-0625FD4D06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3CFD08B-F284-2A32-5073-730BD144D4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5C3B99-F334-9C41-66BB-CD60F0A9DB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2C13D3-B291-44D2-95AA-8F8B205FDB45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61621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89AFC3-A486-2575-AB6C-B11C784CB7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15AD05-02C4-99DE-5954-1533C092E6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492134-5802-17DE-5394-6C7BBB0727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029AD7-0D9B-470C-29E4-174CE5045B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2C13D3-B291-44D2-95AA-8F8B205FDB45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85932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9D4D2D-B767-4B98-A849-70D2999C03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8F8854-F02B-CAEB-1426-0CA64ECAE9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81709C-4DAF-0E4E-866A-061C79D47D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C960E5-499E-0957-9CEB-F96DCCBF59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2C13D3-B291-44D2-95AA-8F8B205FDB45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9480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3ACBDB-94DE-677C-5E25-53DF78B611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C48E82-5659-A9AA-A771-7016BD6947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830F39B-98F4-E1A0-DF10-63380B5496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00003A-AF6F-11EB-9161-5A0B200FF9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2C13D3-B291-44D2-95AA-8F8B205FDB45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89092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3/13/2026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3/13/2026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3/13/2026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3/13/2026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3/13/2026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3/13/2026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3/13/2026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5" r:id="rId2"/>
    <p:sldLayoutId id="2147483651" r:id="rId3"/>
    <p:sldLayoutId id="2147483666" r:id="rId4"/>
    <p:sldLayoutId id="2147483653" r:id="rId5"/>
    <p:sldLayoutId id="2147483654" r:id="rId6"/>
    <p:sldLayoutId id="2147483655" r:id="rId7"/>
    <p:sldLayoutId id="2147483667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learn.microsoft.com/en-us/fabric/enterprise/licenses" TargetMode="Externa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hyperlink" Target="https://learn.microsoft.com/en-us/fabric/security/permission-model" TargetMode="Externa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C0997-3CB9-4AC0-9A06-C07B8B01E6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73792" y="2404534"/>
            <a:ext cx="8649048" cy="1646302"/>
          </a:xfrm>
        </p:spPr>
        <p:txBody>
          <a:bodyPr/>
          <a:lstStyle/>
          <a:p>
            <a:pPr algn="ctr"/>
            <a:r>
              <a:rPr lang="en-US" sz="4800" dirty="0">
                <a:solidFill>
                  <a:schemeClr val="accent2"/>
                </a:solidFill>
              </a:rPr>
              <a:t>Demystifying Microsoft Fabric:</a:t>
            </a:r>
            <a:br>
              <a:rPr lang="en-US" sz="4800" dirty="0">
                <a:solidFill>
                  <a:schemeClr val="accent2"/>
                </a:solidFill>
              </a:rPr>
            </a:br>
            <a:r>
              <a:rPr lang="en-US" sz="4000" dirty="0">
                <a:solidFill>
                  <a:schemeClr val="accent2"/>
                </a:solidFill>
              </a:rPr>
              <a:t>Architecture and Organization 101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5C867A6-A7E8-4D82-9D66-A68CDB8EFA3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800" dirty="0"/>
              <a:t>Data Saturday Chicago</a:t>
            </a:r>
          </a:p>
          <a:p>
            <a:pPr algn="ctr"/>
            <a:r>
              <a:rPr lang="en-US" sz="2800" dirty="0"/>
              <a:t>March 14th, 2026</a:t>
            </a:r>
          </a:p>
        </p:txBody>
      </p:sp>
    </p:spTree>
    <p:extLst>
      <p:ext uri="{BB962C8B-B14F-4D97-AF65-F5344CB8AC3E}">
        <p14:creationId xmlns:p14="http://schemas.microsoft.com/office/powerpoint/2010/main" val="33411222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85F3BF-3DD6-82A4-6171-A3D9693C7C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41C43D-C86C-72B9-D229-C9BC68294D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7067" y="570452"/>
            <a:ext cx="7766936" cy="855676"/>
          </a:xfrm>
        </p:spPr>
        <p:txBody>
          <a:bodyPr/>
          <a:lstStyle/>
          <a:p>
            <a:pPr algn="ctr"/>
            <a:r>
              <a:rPr lang="en-US" sz="4000" dirty="0">
                <a:solidFill>
                  <a:schemeClr val="accent2"/>
                </a:solidFill>
              </a:rPr>
              <a:t>Demystifying Microsoft Fabric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BDB2AE-BE6A-7640-FA14-B35FAE1240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07067" y="1661021"/>
            <a:ext cx="7766936" cy="4530054"/>
          </a:xfrm>
        </p:spPr>
        <p:txBody>
          <a:bodyPr>
            <a:normAutofit/>
          </a:bodyPr>
          <a:lstStyle/>
          <a:p>
            <a:pPr algn="l"/>
            <a:r>
              <a:rPr lang="en-US" sz="2400" dirty="0"/>
              <a:t>Architecture and Organization 101</a:t>
            </a:r>
          </a:p>
          <a:p>
            <a:pPr algn="l"/>
            <a:endParaRPr lang="en-US" sz="1200" dirty="0"/>
          </a:p>
          <a:p>
            <a:pPr algn="l"/>
            <a:r>
              <a:rPr lang="en-US" dirty="0"/>
              <a:t>As with any other new technology, Microsoft Fabric comes with a host of new terms and concepts. Do you know your tenants from your capacities from your workspaces? How about your data lakes from your delta lakes and your </a:t>
            </a:r>
            <a:r>
              <a:rPr lang="en-US" dirty="0" err="1"/>
              <a:t>lakehouses</a:t>
            </a:r>
            <a:r>
              <a:rPr lang="en-US" dirty="0"/>
              <a:t> from your warehouses? If not, you're not alone!</a:t>
            </a:r>
            <a:endParaRPr lang="en-US" dirty="0">
              <a:sym typeface="Wingdings" panose="05000000000000000000" pitchFamily="2" charset="2"/>
            </a:endParaRPr>
          </a:p>
          <a:p>
            <a:pPr algn="l"/>
            <a:endParaRPr lang="en-US" sz="1200" dirty="0"/>
          </a:p>
          <a:p>
            <a:pPr algn="l"/>
            <a:r>
              <a:rPr lang="en-US" dirty="0"/>
              <a:t>This session is aimed at data analysts, on-premises data professionals, managers/executives, and other tech pros struggling to understand the purpose, architecture, and organization of Fabric. We'll use plain English and not marketing-speak or technobabble to ensure all attendees have a shared understanding of this new paradigm for analytics in the Microsoft ecosystem.</a:t>
            </a:r>
          </a:p>
        </p:txBody>
      </p:sp>
    </p:spTree>
    <p:extLst>
      <p:ext uri="{BB962C8B-B14F-4D97-AF65-F5344CB8AC3E}">
        <p14:creationId xmlns:p14="http://schemas.microsoft.com/office/powerpoint/2010/main" val="1319868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43">
            <a:extLst>
              <a:ext uri="{FF2B5EF4-FFF2-40B4-BE49-F238E27FC236}">
                <a16:creationId xmlns:a16="http://schemas.microsoft.com/office/drawing/2014/main" id="{650E806A-B659-CFFE-A625-116D91E31518}"/>
              </a:ext>
            </a:extLst>
          </p:cNvPr>
          <p:cNvSpPr txBox="1">
            <a:spLocks/>
          </p:cNvSpPr>
          <p:nvPr/>
        </p:nvSpPr>
        <p:spPr>
          <a:xfrm>
            <a:off x="1217137" y="3956323"/>
            <a:ext cx="3248526" cy="47092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marR="0" indent="0" algn="ctr" defTabSz="457200" rtl="0" eaLnBrk="1" fontAlgn="auto" latinLnBrk="0" hangingPunct="1">
              <a:lnSpc>
                <a:spcPts val="35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3200" b="0" i="0" u="none" strike="noStrike" kern="1200" cap="none" spc="0" normalizeH="0" baseline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Segoe UI Light" charset="0"/>
                <a:ea typeface="Segoe UI Light" charset="0"/>
                <a:cs typeface="Segoe UI Light" charset="0"/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ts val="35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>
                <a:ln>
                  <a:noFill/>
                </a:ln>
                <a:solidFill>
                  <a:srgbClr val="414954"/>
                </a:solidFill>
                <a:effectLst/>
                <a:uLnTx/>
                <a:uFillTx/>
                <a:latin typeface="Segoe UI Light" charset="0"/>
                <a:cs typeface="Segoe UI Light" charset="0"/>
              </a:rPr>
              <a:t>Chris Hyde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414954"/>
              </a:solidFill>
              <a:effectLst/>
              <a:uLnTx/>
              <a:uFillTx/>
              <a:latin typeface="Segoe UI Light" charset="0"/>
              <a:cs typeface="Segoe UI Light" charset="0"/>
            </a:endParaRPr>
          </a:p>
        </p:txBody>
      </p:sp>
      <p:sp>
        <p:nvSpPr>
          <p:cNvPr id="5" name="Text Placeholder 44">
            <a:extLst>
              <a:ext uri="{FF2B5EF4-FFF2-40B4-BE49-F238E27FC236}">
                <a16:creationId xmlns:a16="http://schemas.microsoft.com/office/drawing/2014/main" id="{BDA512D8-0FBA-9BE8-8A82-B12631B2BF76}"/>
              </a:ext>
            </a:extLst>
          </p:cNvPr>
          <p:cNvSpPr txBox="1">
            <a:spLocks/>
          </p:cNvSpPr>
          <p:nvPr/>
        </p:nvSpPr>
        <p:spPr>
          <a:xfrm>
            <a:off x="866436" y="4420326"/>
            <a:ext cx="3904735" cy="40568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marR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2000" b="0" i="0" u="none" strike="noStrike" kern="1200" cap="none" spc="0" normalizeH="0" baseline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+mn-lt"/>
                <a:ea typeface="Segoe UI Light" charset="0"/>
                <a:cs typeface="Segoe UI Light" charset="0"/>
              </a:defRPr>
            </a:lvl1pPr>
            <a:lvl2pPr marL="342900" indent="-3429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/>
              <a:buChar char="•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Segoe UI"/>
              </a:defRPr>
            </a:lvl2pPr>
            <a:lvl3pPr marL="638175" indent="-3429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/>
              <a:buChar char="•"/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Segoe UI"/>
              </a:defRPr>
            </a:lvl3pPr>
            <a:lvl4pPr marL="922338" indent="-3429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/>
              <a:buChar char="•"/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Segoe UI"/>
              </a:defRPr>
            </a:lvl4pPr>
            <a:lvl5pPr marL="1189038" indent="-3429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/>
              <a:buChar char="•"/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Segoe UI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2CCCD3"/>
                </a:solidFill>
                <a:effectLst/>
                <a:uLnTx/>
                <a:uFillTx/>
                <a:latin typeface="Segoe UI"/>
                <a:cs typeface="Segoe UI Light" charset="0"/>
              </a:rPr>
              <a:t>Owner and Principal Consultant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2CCCD3"/>
                </a:solidFill>
                <a:effectLst/>
                <a:uLnTx/>
                <a:uFillTx/>
                <a:latin typeface="Segoe UI"/>
                <a:cs typeface="Segoe UI Light" charset="0"/>
              </a:rPr>
              <a:t>Hydrate Consulting, LLC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2CCCD3"/>
              </a:solidFill>
              <a:effectLst/>
              <a:uLnTx/>
              <a:uFillTx/>
              <a:latin typeface="Segoe UI"/>
              <a:cs typeface="Segoe UI Light" charset="0"/>
            </a:endParaRPr>
          </a:p>
        </p:txBody>
      </p:sp>
      <p:sp>
        <p:nvSpPr>
          <p:cNvPr id="6" name="Text Placeholder 149">
            <a:extLst>
              <a:ext uri="{FF2B5EF4-FFF2-40B4-BE49-F238E27FC236}">
                <a16:creationId xmlns:a16="http://schemas.microsoft.com/office/drawing/2014/main" id="{195E63DD-9D84-66B4-519A-3EBC18E08255}"/>
              </a:ext>
            </a:extLst>
          </p:cNvPr>
          <p:cNvSpPr txBox="1">
            <a:spLocks/>
          </p:cNvSpPr>
          <p:nvPr/>
        </p:nvSpPr>
        <p:spPr>
          <a:xfrm>
            <a:off x="5808433" y="774861"/>
            <a:ext cx="3840619" cy="569606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kumimoji="0" lang="en-US" sz="1400" b="0" i="0" u="none" strike="noStrike" kern="1200" cap="none" spc="0" normalizeH="0" baseline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Segoe UI Light" charset="0"/>
                <a:cs typeface="Segoe UI Light" charset="0"/>
              </a:defRPr>
            </a:lvl1pPr>
            <a:lvl2pPr marL="342900" indent="-3429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/>
              <a:buChar char="•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Segoe UI"/>
              </a:defRPr>
            </a:lvl2pPr>
            <a:lvl3pPr marL="638175" indent="-3429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/>
              <a:buChar char="•"/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Segoe UI"/>
              </a:defRPr>
            </a:lvl3pPr>
            <a:lvl4pPr marL="922338" indent="-3429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/>
              <a:buChar char="•"/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Segoe UI"/>
              </a:defRPr>
            </a:lvl4pPr>
            <a:lvl5pPr marL="1189038" indent="-3429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/>
              <a:buChar char="•"/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Segoe UI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9413A"/>
                </a:solidFill>
                <a:effectLst/>
                <a:uLnTx/>
                <a:uFillTx/>
                <a:latin typeface="Segoe UI"/>
                <a:cs typeface="Segoe UI Light" charset="0"/>
              </a:rPr>
              <a:t>He / him pronouns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9413A"/>
              </a:solidFill>
              <a:effectLst/>
              <a:uLnTx/>
              <a:uFillTx/>
              <a:latin typeface="Segoe UI"/>
              <a:cs typeface="Segoe UI Light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9413A"/>
                </a:solidFill>
                <a:effectLst/>
                <a:uLnTx/>
                <a:uFillTx/>
                <a:latin typeface="Segoe UI"/>
                <a:cs typeface="Segoe UI Light" charset="0"/>
              </a:rPr>
              <a:t>Microsoft Data Platform MVP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9413A"/>
              </a:solidFill>
              <a:effectLst/>
              <a:uLnTx/>
              <a:uFillTx/>
              <a:latin typeface="Segoe UI"/>
              <a:cs typeface="Segoe UI Light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9413A"/>
                </a:solidFill>
                <a:effectLst/>
                <a:uLnTx/>
                <a:uFillTx/>
                <a:latin typeface="Segoe UI"/>
                <a:cs typeface="Segoe UI Light" charset="0"/>
              </a:rPr>
              <a:t>MCSE: Data Management and Analytics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9413A"/>
              </a:solidFill>
              <a:effectLst/>
              <a:uLnTx/>
              <a:uFillTx/>
              <a:latin typeface="Segoe UI"/>
              <a:cs typeface="Segoe UI Light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9413A"/>
                </a:solidFill>
                <a:effectLst/>
                <a:uLnTx/>
                <a:uFillTx/>
                <a:latin typeface="Segoe UI"/>
                <a:cs typeface="Segoe UI Light" charset="0"/>
              </a:rPr>
              <a:t>Albuquerque data platform group leader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9413A"/>
              </a:solidFill>
              <a:effectLst/>
              <a:uLnTx/>
              <a:uFillTx/>
              <a:latin typeface="Segoe UI"/>
              <a:cs typeface="Segoe UI Light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9413A"/>
              </a:solidFill>
              <a:effectLst/>
              <a:uLnTx/>
              <a:uFillTx/>
              <a:latin typeface="Segoe UI"/>
              <a:cs typeface="Segoe UI Light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9413A"/>
                </a:solidFill>
                <a:effectLst/>
                <a:uLnTx/>
                <a:uFillTx/>
                <a:latin typeface="Segoe UI"/>
                <a:cs typeface="Segoe UI Light" charset="0"/>
              </a:rPr>
              <a:t>Contact me: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9413A"/>
                </a:solidFill>
                <a:effectLst/>
                <a:uLnTx/>
                <a:uFillTx/>
                <a:latin typeface="Segoe UI"/>
                <a:cs typeface="Segoe UI Light" charset="0"/>
              </a:rPr>
              <a:t>Bluesky:  @chrishyde325.bsky.social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9413A"/>
                </a:solidFill>
                <a:effectLst/>
                <a:uLnTx/>
                <a:uFillTx/>
                <a:latin typeface="Segoe UI"/>
                <a:cs typeface="Segoe UI Light" charset="0"/>
              </a:rPr>
              <a:t>Email:  chrishyde325@gmail.com</a:t>
            </a:r>
          </a:p>
        </p:txBody>
      </p:sp>
      <p:pic>
        <p:nvPicPr>
          <p:cNvPr id="7" name="Picture Placeholder 3">
            <a:extLst>
              <a:ext uri="{FF2B5EF4-FFF2-40B4-BE49-F238E27FC236}">
                <a16:creationId xmlns:a16="http://schemas.microsoft.com/office/drawing/2014/main" id="{8623CDD5-A2D7-E061-D3F3-A6F420010A9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0611" y="774861"/>
            <a:ext cx="1938490" cy="2713887"/>
          </a:xfrm>
          <a:prstGeom prst="ellipse">
            <a:avLst/>
          </a:prstGeom>
          <a:solidFill>
            <a:srgbClr val="FFFFFF">
              <a:lumMod val="95000"/>
            </a:srgbClr>
          </a:solidFill>
        </p:spPr>
      </p:pic>
      <p:sp>
        <p:nvSpPr>
          <p:cNvPr id="8" name="Text Placeholder 157">
            <a:extLst>
              <a:ext uri="{FF2B5EF4-FFF2-40B4-BE49-F238E27FC236}">
                <a16:creationId xmlns:a16="http://schemas.microsoft.com/office/drawing/2014/main" id="{61A8194F-8FD9-6238-50ED-873AF2E394EF}"/>
              </a:ext>
            </a:extLst>
          </p:cNvPr>
          <p:cNvSpPr txBox="1">
            <a:spLocks/>
          </p:cNvSpPr>
          <p:nvPr/>
        </p:nvSpPr>
        <p:spPr>
          <a:xfrm>
            <a:off x="2161854" y="5261878"/>
            <a:ext cx="1986131" cy="24426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/>
              <a:buNone/>
              <a:defRPr lang="en-US" sz="1100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342900" indent="-3429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/>
              <a:buChar char="•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Segoe UI"/>
              </a:defRPr>
            </a:lvl2pPr>
            <a:lvl3pPr marL="638175" indent="-3429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/>
              <a:buChar char="•"/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Segoe UI"/>
              </a:defRPr>
            </a:lvl3pPr>
            <a:lvl4pPr marL="922338" indent="-3429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/>
              <a:buChar char="•"/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Segoe UI"/>
              </a:defRPr>
            </a:lvl4pPr>
            <a:lvl5pPr marL="1189038" indent="-3429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/>
              <a:buChar char="•"/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Segoe UI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2CCCD3"/>
              </a:buClr>
              <a:buSzTx/>
              <a:buFont typeface="Arial"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F9413A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@chrishyde325.bsky.social</a:t>
            </a:r>
          </a:p>
        </p:txBody>
      </p:sp>
      <p:pic>
        <p:nvPicPr>
          <p:cNvPr id="3" name="Picture 2" descr="A blue butterfly on a black background&#10;&#10;Description automatically generated">
            <a:extLst>
              <a:ext uri="{FF2B5EF4-FFF2-40B4-BE49-F238E27FC236}">
                <a16:creationId xmlns:a16="http://schemas.microsoft.com/office/drawing/2014/main" id="{CA93040D-70C3-89D9-D1A6-87144A312A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6776" y="5261878"/>
            <a:ext cx="275078" cy="244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70910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62513D21-C24B-1B24-7A32-F5B479EB74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02670" y="1139391"/>
            <a:ext cx="10132194" cy="6262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61882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852258-772B-A8F0-7343-C788A7B11D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9C9A3B-609E-DE0A-0ACA-86B12FC19C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7067" y="570452"/>
            <a:ext cx="7766936" cy="855676"/>
          </a:xfrm>
        </p:spPr>
        <p:txBody>
          <a:bodyPr/>
          <a:lstStyle/>
          <a:p>
            <a:pPr algn="ctr"/>
            <a:r>
              <a:rPr lang="en-US" sz="4800" dirty="0">
                <a:solidFill>
                  <a:schemeClr val="accent2"/>
                </a:solidFill>
              </a:rPr>
              <a:t>agenda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410DE6E-03AB-79BB-AC42-6D7564D02E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07067" y="1661021"/>
            <a:ext cx="7766936" cy="4530054"/>
          </a:xfrm>
        </p:spPr>
        <p:txBody>
          <a:bodyPr>
            <a:normAutofit/>
          </a:bodyPr>
          <a:lstStyle/>
          <a:p>
            <a:pPr algn="l"/>
            <a:r>
              <a:rPr lang="en-US" sz="2400" dirty="0"/>
              <a:t>“100 level” overview of Microsoft Fabric</a:t>
            </a:r>
          </a:p>
          <a:p>
            <a:pPr algn="l"/>
            <a:endParaRPr lang="en-US" sz="1200" dirty="0"/>
          </a:p>
          <a:p>
            <a:pPr algn="l"/>
            <a:r>
              <a:rPr lang="en-US" sz="2400" dirty="0"/>
              <a:t>Data Lake / Delta Lake / Lakehouse </a:t>
            </a:r>
            <a:r>
              <a:rPr lang="en-US" sz="2400" dirty="0">
                <a:sym typeface="Wingdings" panose="05000000000000000000" pitchFamily="2" charset="2"/>
              </a:rPr>
              <a:t>/ Warehouse</a:t>
            </a:r>
          </a:p>
          <a:p>
            <a:pPr algn="l"/>
            <a:endParaRPr lang="en-US" sz="1200" dirty="0"/>
          </a:p>
          <a:p>
            <a:pPr algn="l"/>
            <a:r>
              <a:rPr lang="en-US" sz="2400" dirty="0"/>
              <a:t>Tenant </a:t>
            </a:r>
            <a:r>
              <a:rPr lang="en-US" sz="2400" dirty="0">
                <a:sym typeface="Wingdings" panose="05000000000000000000" pitchFamily="2" charset="2"/>
              </a:rPr>
              <a:t> Capacity  Workspace</a:t>
            </a:r>
            <a:endParaRPr lang="en-US" sz="2400" dirty="0"/>
          </a:p>
          <a:p>
            <a:pPr algn="l"/>
            <a:endParaRPr lang="en-US" sz="1200" dirty="0"/>
          </a:p>
          <a:p>
            <a:pPr algn="l"/>
            <a:r>
              <a:rPr lang="en-US" sz="2400" dirty="0"/>
              <a:t>Medallion architecture</a:t>
            </a:r>
          </a:p>
          <a:p>
            <a:pPr algn="l"/>
            <a:endParaRPr lang="en-US" sz="1200" dirty="0"/>
          </a:p>
          <a:p>
            <a:pPr algn="l"/>
            <a:r>
              <a:rPr lang="en-US" sz="2400" dirty="0"/>
              <a:t>High-Level security</a:t>
            </a:r>
          </a:p>
          <a:p>
            <a:pPr algn="l"/>
            <a:endParaRPr lang="en-US" sz="1200" dirty="0"/>
          </a:p>
          <a:p>
            <a:pPr algn="l"/>
            <a:r>
              <a:rPr lang="en-US" sz="2400" dirty="0"/>
              <a:t>Example case studies</a:t>
            </a:r>
          </a:p>
          <a:p>
            <a:pPr algn="l"/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7388585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C0997-3CB9-4AC0-9A06-C07B8B01E6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7067" y="570452"/>
            <a:ext cx="7766936" cy="855676"/>
          </a:xfrm>
        </p:spPr>
        <p:txBody>
          <a:bodyPr/>
          <a:lstStyle/>
          <a:p>
            <a:pPr algn="ctr"/>
            <a:r>
              <a:rPr lang="en-US" sz="4800" dirty="0">
                <a:solidFill>
                  <a:schemeClr val="accent2"/>
                </a:solidFill>
              </a:rPr>
              <a:t>what is Microsoft Fabric?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5C867A6-A7E8-4D82-9D66-A68CDB8EFA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07067" y="1661021"/>
            <a:ext cx="7766936" cy="4530054"/>
          </a:xfrm>
        </p:spPr>
        <p:txBody>
          <a:bodyPr>
            <a:noAutofit/>
          </a:bodyPr>
          <a:lstStyle/>
          <a:p>
            <a:pPr algn="l"/>
            <a:r>
              <a:rPr lang="en-US" sz="2400" dirty="0"/>
              <a:t>Microsoft’s next generation all-in-one data analytics product</a:t>
            </a:r>
          </a:p>
          <a:p>
            <a:pPr algn="l"/>
            <a:endParaRPr lang="en-US" sz="1200" dirty="0"/>
          </a:p>
          <a:p>
            <a:pPr algn="l"/>
            <a:r>
              <a:rPr lang="en-US" sz="2400" dirty="0"/>
              <a:t>Full integration of data warehousing, data engineering, and data science tools into the same portal as Power BI (reporting and data visualization)</a:t>
            </a:r>
          </a:p>
          <a:p>
            <a:pPr algn="l"/>
            <a:endParaRPr lang="en-US" sz="1200" dirty="0"/>
          </a:p>
          <a:p>
            <a:pPr algn="l"/>
            <a:r>
              <a:rPr lang="en-US" sz="2400" dirty="0"/>
              <a:t>Software-as-a-Service (SaaS) rather than Platform-as-a-Service (PaaS)</a:t>
            </a:r>
          </a:p>
          <a:p>
            <a:pPr algn="l"/>
            <a:endParaRPr lang="en-US" sz="1200" dirty="0"/>
          </a:p>
          <a:p>
            <a:pPr algn="l"/>
            <a:r>
              <a:rPr lang="en-US" sz="2400" dirty="0"/>
              <a:t>One copy of data in the integrated </a:t>
            </a:r>
            <a:r>
              <a:rPr lang="en-US" sz="2400" dirty="0" err="1"/>
              <a:t>OneLake</a:t>
            </a:r>
            <a:r>
              <a:rPr lang="en-US" sz="2400" dirty="0"/>
              <a:t> data lake</a:t>
            </a:r>
          </a:p>
          <a:p>
            <a:pPr algn="l"/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4574105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7B83F3-A747-CBA4-6DEA-CFCBBA67B7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diagram of a fabric&#10;&#10;AI-generated content may be incorrect.">
            <a:extLst>
              <a:ext uri="{FF2B5EF4-FFF2-40B4-BE49-F238E27FC236}">
                <a16:creationId xmlns:a16="http://schemas.microsoft.com/office/drawing/2014/main" id="{62C8B13B-E376-BAB0-AB5E-72ED2833B0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957" y="1689588"/>
            <a:ext cx="8745647" cy="432874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66AD874-A65A-051B-DB05-3545BD4CD5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2188952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000" dirty="0">
                <a:solidFill>
                  <a:schemeClr val="accent2"/>
                </a:solidFill>
              </a:rPr>
              <a:t>Fabric architecture</a:t>
            </a:r>
            <a:endParaRPr lang="en-US" sz="4000" kern="1200" dirty="0">
              <a:solidFill>
                <a:schemeClr val="tx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673719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45E10A-FEE3-F2BF-A667-E4B0E74FE3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9406B7-810C-EE33-11EB-FCFCB5F988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7067" y="570452"/>
            <a:ext cx="7766936" cy="855676"/>
          </a:xfrm>
        </p:spPr>
        <p:txBody>
          <a:bodyPr/>
          <a:lstStyle/>
          <a:p>
            <a:pPr algn="ctr"/>
            <a:r>
              <a:rPr lang="en-US" sz="4800" dirty="0">
                <a:solidFill>
                  <a:schemeClr val="accent2"/>
                </a:solidFill>
              </a:rPr>
              <a:t>what is a data warehouse?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759B670-52D1-5408-EBCA-06A0D7F094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07067" y="1661021"/>
            <a:ext cx="7766936" cy="4530054"/>
          </a:xfrm>
        </p:spPr>
        <p:txBody>
          <a:bodyPr>
            <a:noAutofit/>
          </a:bodyPr>
          <a:lstStyle/>
          <a:p>
            <a:pPr algn="l"/>
            <a:r>
              <a:rPr lang="en-US" sz="2400" dirty="0"/>
              <a:t>Microsoft’s Webster's Dictionary defines a data warehouse as...​</a:t>
            </a:r>
          </a:p>
          <a:p>
            <a:pPr algn="l"/>
            <a:endParaRPr lang="en-US" sz="1200" dirty="0"/>
          </a:p>
          <a:p>
            <a:pPr algn="l"/>
            <a:r>
              <a:rPr lang="en-US" sz="2400" dirty="0"/>
              <a:t>Central repository of current and historical data​; usually from multiple sources​</a:t>
            </a:r>
          </a:p>
          <a:p>
            <a:pPr algn="l"/>
            <a:endParaRPr lang="en-US" sz="1200" dirty="0"/>
          </a:p>
          <a:p>
            <a:pPr algn="l"/>
            <a:r>
              <a:rPr lang="en-US" sz="2400" dirty="0"/>
              <a:t>Data is combined and reshaped to support analytical workloads​</a:t>
            </a:r>
          </a:p>
          <a:p>
            <a:pPr algn="l"/>
            <a:endParaRPr lang="en-US" sz="1200" dirty="0"/>
          </a:p>
          <a:p>
            <a:pPr algn="l"/>
            <a:r>
              <a:rPr lang="en-US" sz="2400" dirty="0"/>
              <a:t>Typically business-focused rather than IT-focused​</a:t>
            </a:r>
          </a:p>
          <a:p>
            <a:pPr algn="l"/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6846823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833982-FFAD-3445-36C2-6C0FD48A89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6C2D78-60DC-4C0C-14A2-75A63DEBD8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7067" y="570452"/>
            <a:ext cx="7766936" cy="855676"/>
          </a:xfrm>
        </p:spPr>
        <p:txBody>
          <a:bodyPr/>
          <a:lstStyle/>
          <a:p>
            <a:pPr algn="ctr"/>
            <a:r>
              <a:rPr lang="en-US" sz="4800" dirty="0">
                <a:solidFill>
                  <a:schemeClr val="accent2"/>
                </a:solidFill>
              </a:rPr>
              <a:t>what is a data lake?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41FB89-CF77-7086-EA1D-D03F6883F6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07067" y="1661021"/>
            <a:ext cx="7766936" cy="4530054"/>
          </a:xfrm>
        </p:spPr>
        <p:txBody>
          <a:bodyPr>
            <a:noAutofit/>
          </a:bodyPr>
          <a:lstStyle/>
          <a:p>
            <a:pPr algn="l"/>
            <a:r>
              <a:rPr lang="en-US" sz="2400" dirty="0"/>
              <a:t>Centralized storage repository for data in it's native format​</a:t>
            </a:r>
          </a:p>
          <a:p>
            <a:pPr algn="l"/>
            <a:endParaRPr lang="en-US" sz="1200" dirty="0"/>
          </a:p>
          <a:p>
            <a:pPr algn="l"/>
            <a:r>
              <a:rPr lang="en-US" sz="2400" dirty="0"/>
              <a:t>Structured data, </a:t>
            </a:r>
            <a:r>
              <a:rPr lang="en-US" sz="2400" dirty="0" err="1"/>
              <a:t>ie</a:t>
            </a:r>
            <a:r>
              <a:rPr lang="en-US" sz="2400" dirty="0"/>
              <a:t>. tables, .csv files​ and semi-structured data, </a:t>
            </a:r>
            <a:r>
              <a:rPr lang="en-US" sz="2400" dirty="0" err="1"/>
              <a:t>ie</a:t>
            </a:r>
            <a:r>
              <a:rPr lang="en-US" sz="2400" dirty="0"/>
              <a:t>. JSON, XML​</a:t>
            </a:r>
          </a:p>
          <a:p>
            <a:pPr algn="l"/>
            <a:endParaRPr lang="en-US" sz="1200" dirty="0"/>
          </a:p>
          <a:p>
            <a:pPr algn="l"/>
            <a:r>
              <a:rPr lang="en-US" sz="2400" dirty="0"/>
              <a:t>Unstructured data, </a:t>
            </a:r>
            <a:r>
              <a:rPr lang="en-US" sz="2400" dirty="0" err="1"/>
              <a:t>ie</a:t>
            </a:r>
            <a:r>
              <a:rPr lang="en-US" sz="2400" dirty="0"/>
              <a:t>. images, sound files, video files​</a:t>
            </a:r>
          </a:p>
          <a:p>
            <a:pPr algn="l"/>
            <a:endParaRPr lang="en-US" sz="1200" dirty="0"/>
          </a:p>
          <a:p>
            <a:pPr algn="l"/>
            <a:r>
              <a:rPr lang="en-US" sz="2400" dirty="0"/>
              <a:t>Organized in a folder structure like a file share​</a:t>
            </a:r>
          </a:p>
          <a:p>
            <a:pPr algn="l"/>
            <a:endParaRPr lang="en-US" sz="1200" dirty="0"/>
          </a:p>
          <a:p>
            <a:pPr algn="l"/>
            <a:r>
              <a:rPr lang="en-US" sz="2400" dirty="0"/>
              <a:t>Can become a data swamp if you're not careful!</a:t>
            </a:r>
          </a:p>
          <a:p>
            <a:pPr algn="l"/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8242701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EA667E-0F6D-AD28-5643-D1B1E336AE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37EE88-B54D-44DE-C67D-16658C17EA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7067" y="570452"/>
            <a:ext cx="7766936" cy="855676"/>
          </a:xfrm>
        </p:spPr>
        <p:txBody>
          <a:bodyPr/>
          <a:lstStyle/>
          <a:p>
            <a:pPr algn="ctr"/>
            <a:r>
              <a:rPr lang="en-US" sz="4800" dirty="0">
                <a:solidFill>
                  <a:schemeClr val="accent2"/>
                </a:solidFill>
              </a:rPr>
              <a:t>what is a </a:t>
            </a:r>
            <a:r>
              <a:rPr lang="en-US" sz="4800" dirty="0" err="1">
                <a:solidFill>
                  <a:schemeClr val="accent2"/>
                </a:solidFill>
              </a:rPr>
              <a:t>lakehouse</a:t>
            </a:r>
            <a:r>
              <a:rPr lang="en-US" sz="4800" dirty="0">
                <a:solidFill>
                  <a:schemeClr val="accent2"/>
                </a:solidFill>
              </a:rPr>
              <a:t>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185F2C-416D-AB9B-40EB-1B4A190551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07067" y="1661021"/>
            <a:ext cx="7766936" cy="4530054"/>
          </a:xfrm>
        </p:spPr>
        <p:txBody>
          <a:bodyPr>
            <a:noAutofit/>
          </a:bodyPr>
          <a:lstStyle/>
          <a:p>
            <a:pPr algn="l"/>
            <a:r>
              <a:rPr lang="en-US" sz="2400" dirty="0"/>
              <a:t>“…An open architecture that combines the best elements of data lakes and data warehouses.”</a:t>
            </a:r>
          </a:p>
          <a:p>
            <a:pPr algn="l"/>
            <a:endParaRPr lang="en-US" sz="1200" dirty="0"/>
          </a:p>
          <a:p>
            <a:pPr algn="l"/>
            <a:r>
              <a:rPr lang="en-US" sz="2400" dirty="0"/>
              <a:t>Both structured and unstructured data</a:t>
            </a:r>
          </a:p>
          <a:p>
            <a:pPr algn="l"/>
            <a:endParaRPr lang="en-US" sz="1200" dirty="0"/>
          </a:p>
          <a:p>
            <a:pPr algn="l"/>
            <a:r>
              <a:rPr lang="en-US" sz="2400" dirty="0"/>
              <a:t>Transaction (ACID) support; Schema enforcement and governance</a:t>
            </a:r>
          </a:p>
          <a:p>
            <a:pPr algn="l"/>
            <a:endParaRPr lang="en-US" sz="1200" dirty="0"/>
          </a:p>
          <a:p>
            <a:pPr algn="l"/>
            <a:r>
              <a:rPr lang="en-US" sz="2400" dirty="0"/>
              <a:t>Open standards; Storage is de-coupled from Compute</a:t>
            </a:r>
          </a:p>
          <a:p>
            <a:pPr algn="l"/>
            <a:endParaRPr lang="en-US" sz="2400" dirty="0"/>
          </a:p>
          <a:p>
            <a:pPr algn="l"/>
            <a:endParaRPr lang="en-US" sz="2400" dirty="0"/>
          </a:p>
          <a:p>
            <a:pPr algn="l"/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3262069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D73481-70BC-0D8D-CC7C-92B09851DF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0A35CE-6138-E206-6796-C6C88EC6F0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03286" y="570452"/>
            <a:ext cx="7976103" cy="855676"/>
          </a:xfrm>
        </p:spPr>
        <p:txBody>
          <a:bodyPr/>
          <a:lstStyle/>
          <a:p>
            <a:pPr algn="ctr"/>
            <a:r>
              <a:rPr lang="en-US" sz="4800" dirty="0">
                <a:solidFill>
                  <a:schemeClr val="accent2"/>
                </a:solidFill>
              </a:rPr>
              <a:t>bonus: what is a delta lake?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192A0E-8710-D061-C5C8-B50E19B519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07067" y="1661021"/>
            <a:ext cx="7766936" cy="4530054"/>
          </a:xfrm>
        </p:spPr>
        <p:txBody>
          <a:bodyPr>
            <a:noAutofit/>
          </a:bodyPr>
          <a:lstStyle/>
          <a:p>
            <a:pPr algn="l"/>
            <a:r>
              <a:rPr lang="en-US" sz="2400" dirty="0"/>
              <a:t>A </a:t>
            </a:r>
            <a:r>
              <a:rPr lang="en-US" sz="2400" dirty="0" err="1"/>
              <a:t>lakehouse</a:t>
            </a:r>
            <a:r>
              <a:rPr lang="en-US" sz="2400" dirty="0"/>
              <a:t> where the tables are in delta parquet format</a:t>
            </a:r>
          </a:p>
          <a:p>
            <a:pPr algn="l"/>
            <a:endParaRPr lang="en-US" sz="1200" dirty="0"/>
          </a:p>
          <a:p>
            <a:pPr algn="l"/>
            <a:r>
              <a:rPr lang="en-US" sz="2400" dirty="0"/>
              <a:t>Parquet is a columnar storage format</a:t>
            </a:r>
          </a:p>
          <a:p>
            <a:pPr algn="l"/>
            <a:endParaRPr lang="en-US" sz="1200" dirty="0"/>
          </a:p>
          <a:p>
            <a:pPr algn="l"/>
            <a:r>
              <a:rPr lang="en-US" sz="2400" dirty="0"/>
              <a:t>Delta is the layer on top of parquet that provides transactions, ACID compliance, and scalable metadata</a:t>
            </a:r>
          </a:p>
          <a:p>
            <a:pPr algn="l"/>
            <a:endParaRPr lang="en-US" sz="1200" dirty="0"/>
          </a:p>
          <a:p>
            <a:pPr algn="l"/>
            <a:r>
              <a:rPr lang="en-US" sz="2400" dirty="0"/>
              <a:t>A Fabric </a:t>
            </a:r>
            <a:r>
              <a:rPr lang="en-US" sz="2400" dirty="0" err="1"/>
              <a:t>lakehouse</a:t>
            </a:r>
            <a:r>
              <a:rPr lang="en-US" sz="2400" dirty="0"/>
              <a:t> is by definition a delta lake</a:t>
            </a:r>
          </a:p>
          <a:p>
            <a:pPr algn="l"/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76859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C0997-3CB9-4AC0-9A06-C07B8B01E6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7067" y="570452"/>
            <a:ext cx="7766936" cy="855676"/>
          </a:xfrm>
        </p:spPr>
        <p:txBody>
          <a:bodyPr/>
          <a:lstStyle/>
          <a:p>
            <a:pPr algn="ctr"/>
            <a:r>
              <a:rPr lang="en-US" sz="4800" dirty="0">
                <a:solidFill>
                  <a:schemeClr val="accent2"/>
                </a:solidFill>
              </a:rPr>
              <a:t>building blocks of Fabric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5C867A6-A7E8-4D82-9D66-A68CDB8EFA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07067" y="1661021"/>
            <a:ext cx="7766936" cy="4530054"/>
          </a:xfrm>
        </p:spPr>
        <p:txBody>
          <a:bodyPr>
            <a:noAutofit/>
          </a:bodyPr>
          <a:lstStyle/>
          <a:p>
            <a:pPr algn="l"/>
            <a:r>
              <a:rPr lang="en-US" sz="2400" dirty="0"/>
              <a:t>Tenant – organization-level Entra tenant</a:t>
            </a:r>
          </a:p>
          <a:p>
            <a:pPr algn="l"/>
            <a:endParaRPr lang="en-US" sz="1200" dirty="0"/>
          </a:p>
          <a:p>
            <a:pPr algn="l"/>
            <a:r>
              <a:rPr lang="en-US" sz="2400" dirty="0"/>
              <a:t>Capacity – a distinct resource pool for Fabric; a tenant can have multiple capacities</a:t>
            </a:r>
          </a:p>
          <a:p>
            <a:pPr algn="l"/>
            <a:endParaRPr lang="en-US" sz="1200" dirty="0"/>
          </a:p>
          <a:p>
            <a:pPr algn="l"/>
            <a:r>
              <a:rPr lang="en-US" sz="2400" dirty="0"/>
              <a:t>Workspace – a container for Fabric items within a capacity; a capacity will have multiple workspaces</a:t>
            </a:r>
          </a:p>
          <a:p>
            <a:pPr algn="l"/>
            <a:endParaRPr lang="en-US" sz="1200" dirty="0"/>
          </a:p>
          <a:p>
            <a:pPr algn="l"/>
            <a:r>
              <a:rPr lang="en-US" sz="2400" dirty="0"/>
              <a:t>My workspace - each user has a personal workspace</a:t>
            </a:r>
          </a:p>
          <a:p>
            <a:pPr algn="l"/>
            <a:endParaRPr lang="en-US" sz="1200" dirty="0"/>
          </a:p>
          <a:p>
            <a:pPr algn="l"/>
            <a:r>
              <a:rPr lang="en-US" sz="1400" dirty="0"/>
              <a:t>( </a:t>
            </a:r>
            <a:r>
              <a:rPr lang="en-US" sz="1400" dirty="0">
                <a:hlinkClick r:id="rId2"/>
              </a:rPr>
              <a:t>https://learn.microsoft.com/en-us/fabric/enterprise/licenses</a:t>
            </a:r>
            <a:r>
              <a:rPr lang="en-US" sz="1400" dirty="0"/>
              <a:t> )</a:t>
            </a:r>
          </a:p>
          <a:p>
            <a:pPr algn="l"/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9111805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79040A-98CB-DDE8-D92A-8D1CBD54B3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8CF891-E6AA-DCF9-47F1-FF7CFD27F6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2188952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800" dirty="0">
                <a:solidFill>
                  <a:schemeClr val="accent2"/>
                </a:solidFill>
              </a:rPr>
              <a:t>organizing Fabric, part 1</a:t>
            </a:r>
            <a:endParaRPr lang="en-US" sz="4800" kern="1200" dirty="0">
              <a:solidFill>
                <a:schemeClr val="tx1"/>
              </a:solidFill>
              <a:latin typeface="+mj-lt"/>
            </a:endParaRPr>
          </a:p>
        </p:txBody>
      </p:sp>
      <p:pic>
        <p:nvPicPr>
          <p:cNvPr id="4" name="Picture 3" descr="A potted plant with a green plant&#10;&#10;AI-generated content may be incorrect.">
            <a:extLst>
              <a:ext uri="{FF2B5EF4-FFF2-40B4-BE49-F238E27FC236}">
                <a16:creationId xmlns:a16="http://schemas.microsoft.com/office/drawing/2014/main" id="{6B7D47E9-E26D-F950-4F15-0D17B44692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9599" y="5116120"/>
            <a:ext cx="1121575" cy="147811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16DB031-5A58-6A1E-0857-457B4C4DE3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63638" y="1690688"/>
            <a:ext cx="6039217" cy="4416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38453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8DE161-206F-741B-9741-16615E610D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B595F9-EFB9-0D66-1CEB-34F1098C7F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2188952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800" dirty="0">
                <a:solidFill>
                  <a:schemeClr val="accent2"/>
                </a:solidFill>
              </a:rPr>
              <a:t>organizing Fabric, part 2</a:t>
            </a:r>
            <a:endParaRPr lang="en-US" sz="4800" kern="1200" dirty="0">
              <a:solidFill>
                <a:schemeClr val="tx1"/>
              </a:solidFill>
              <a:latin typeface="+mj-lt"/>
            </a:endParaRPr>
          </a:p>
        </p:txBody>
      </p:sp>
      <p:pic>
        <p:nvPicPr>
          <p:cNvPr id="4" name="Picture 3" descr="A potted plant with a green plant&#10;&#10;AI-generated content may be incorrect.">
            <a:extLst>
              <a:ext uri="{FF2B5EF4-FFF2-40B4-BE49-F238E27FC236}">
                <a16:creationId xmlns:a16="http://schemas.microsoft.com/office/drawing/2014/main" id="{327F2C11-A083-BE3B-D87D-32146605FBB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9599" y="5116120"/>
            <a:ext cx="1121575" cy="147811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B59432D-9E6A-9571-7BEB-9EF9B5EBBC4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570672" y="1690688"/>
            <a:ext cx="5710686" cy="4416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83092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B148BA-B638-19EC-0EE0-01579BD372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diagram of a fabric&#10;&#10;AI-generated content may be incorrect.">
            <a:extLst>
              <a:ext uri="{FF2B5EF4-FFF2-40B4-BE49-F238E27FC236}">
                <a16:creationId xmlns:a16="http://schemas.microsoft.com/office/drawing/2014/main" id="{E16E1418-7F8E-215F-B380-F529B89664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957" y="1689588"/>
            <a:ext cx="8745647" cy="432874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562A9E1-7694-D39B-39ED-FCC987AC21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2188952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000" dirty="0">
                <a:solidFill>
                  <a:schemeClr val="accent2"/>
                </a:solidFill>
              </a:rPr>
              <a:t>Fabric architecture, the reprise</a:t>
            </a:r>
            <a:endParaRPr lang="en-US" sz="4000" kern="1200" dirty="0">
              <a:solidFill>
                <a:schemeClr val="tx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9759842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7C0DC8-8C62-454E-1DC3-91A4B68C59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353D73-C041-E3E1-313A-755BF2327F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7067" y="570452"/>
            <a:ext cx="7766936" cy="855676"/>
          </a:xfrm>
        </p:spPr>
        <p:txBody>
          <a:bodyPr/>
          <a:lstStyle/>
          <a:p>
            <a:pPr algn="ctr"/>
            <a:r>
              <a:rPr lang="en-US" sz="4800" dirty="0">
                <a:solidFill>
                  <a:schemeClr val="accent2"/>
                </a:solidFill>
              </a:rPr>
              <a:t>medallion architecture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9FD3D1-DC01-8019-65B5-178F9AD406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07067" y="1661021"/>
            <a:ext cx="7766936" cy="4530054"/>
          </a:xfrm>
        </p:spPr>
        <p:txBody>
          <a:bodyPr>
            <a:noAutofit/>
          </a:bodyPr>
          <a:lstStyle/>
          <a:p>
            <a:pPr algn="l"/>
            <a:r>
              <a:rPr lang="en-US" sz="2400" dirty="0"/>
              <a:t>A data design pattern used to logically organize data in a </a:t>
            </a:r>
            <a:r>
              <a:rPr lang="en-US" sz="2400" dirty="0" err="1"/>
              <a:t>lakehouse</a:t>
            </a:r>
            <a:r>
              <a:rPr lang="en-US" sz="2400" dirty="0"/>
              <a:t>, or broadly, any analytics system​</a:t>
            </a:r>
          </a:p>
          <a:p>
            <a:pPr algn="l"/>
            <a:endParaRPr lang="en-US" sz="1200" dirty="0"/>
          </a:p>
          <a:p>
            <a:pPr algn="l"/>
            <a:r>
              <a:rPr lang="en-US" sz="2400" dirty="0"/>
              <a:t>Originally popularized by Databricks in 2020, now common across other platforms​</a:t>
            </a:r>
          </a:p>
          <a:p>
            <a:pPr algn="l"/>
            <a:endParaRPr lang="en-US" sz="1200" dirty="0"/>
          </a:p>
          <a:p>
            <a:pPr algn="l"/>
            <a:r>
              <a:rPr lang="en-US" sz="2400" dirty="0"/>
              <a:t>Canonically three layers: Bronze → Silver → Gold​</a:t>
            </a:r>
          </a:p>
          <a:p>
            <a:pPr algn="l"/>
            <a:endParaRPr lang="en-US" sz="1200" dirty="0"/>
          </a:p>
          <a:p>
            <a:pPr algn="l"/>
            <a:r>
              <a:rPr lang="en-US" sz="2400" dirty="0"/>
              <a:t>Each layer has a specific purpose and quality level​</a:t>
            </a:r>
          </a:p>
          <a:p>
            <a:pPr algn="l"/>
            <a:endParaRPr lang="en-US" sz="1200" dirty="0"/>
          </a:p>
          <a:p>
            <a:pPr algn="l"/>
            <a:r>
              <a:rPr lang="en-US" sz="2400" dirty="0"/>
              <a:t>Not Fabric-specific, but maps well to Lakehouse patterns​</a:t>
            </a:r>
          </a:p>
          <a:p>
            <a:pPr algn="l"/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0778200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2A7727-0A0B-25B2-E099-C4D5A4F67A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2A8D1C-A077-BE64-0632-C69631B1F1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7067" y="570452"/>
            <a:ext cx="7766936" cy="855676"/>
          </a:xfrm>
        </p:spPr>
        <p:txBody>
          <a:bodyPr/>
          <a:lstStyle/>
          <a:p>
            <a:pPr algn="ctr"/>
            <a:r>
              <a:rPr lang="en-US" sz="4800" dirty="0">
                <a:solidFill>
                  <a:schemeClr val="accent2"/>
                </a:solidFill>
              </a:rPr>
              <a:t>bronze layer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AF5719B-6020-45ED-84EC-D40B5DE867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07067" y="1661021"/>
            <a:ext cx="7766936" cy="4530054"/>
          </a:xfrm>
        </p:spPr>
        <p:txBody>
          <a:bodyPr>
            <a:noAutofit/>
          </a:bodyPr>
          <a:lstStyle/>
          <a:p>
            <a:pPr algn="l"/>
            <a:r>
              <a:rPr lang="en-US" sz="2400" dirty="0"/>
              <a:t>Raw data​ from business systems</a:t>
            </a:r>
          </a:p>
          <a:p>
            <a:pPr algn="l"/>
            <a:endParaRPr lang="en-US" sz="1200" dirty="0"/>
          </a:p>
          <a:p>
            <a:pPr algn="l"/>
            <a:r>
              <a:rPr lang="en-US" sz="2400" dirty="0"/>
              <a:t>No transformations, no cleaning​</a:t>
            </a:r>
          </a:p>
          <a:p>
            <a:pPr algn="l"/>
            <a:endParaRPr lang="en-US" sz="1200" dirty="0"/>
          </a:p>
          <a:p>
            <a:pPr algn="l"/>
            <a:r>
              <a:rPr lang="en-US" sz="2400" dirty="0"/>
              <a:t>Preserves original schema, shape, and values (but consider adding ingestion timestamps)​</a:t>
            </a:r>
          </a:p>
          <a:p>
            <a:pPr algn="l"/>
            <a:endParaRPr lang="en-US" sz="1200" dirty="0"/>
          </a:p>
          <a:p>
            <a:pPr algn="l"/>
            <a:r>
              <a:rPr lang="en-US" sz="2400" dirty="0"/>
              <a:t>Your fallback layer if later transformations go wrong​</a:t>
            </a:r>
          </a:p>
          <a:p>
            <a:pPr algn="l"/>
            <a:endParaRPr lang="en-US" sz="1200" dirty="0"/>
          </a:p>
          <a:p>
            <a:pPr algn="l"/>
            <a:r>
              <a:rPr lang="en-US" sz="2400" dirty="0"/>
              <a:t>Provides traceability and </a:t>
            </a:r>
            <a:r>
              <a:rPr lang="en-US" sz="2400" dirty="0" err="1"/>
              <a:t>replayability</a:t>
            </a:r>
            <a:r>
              <a:rPr lang="en-US" sz="2400" dirty="0"/>
              <a:t>​</a:t>
            </a:r>
          </a:p>
          <a:p>
            <a:pPr algn="l"/>
            <a:endParaRPr lang="en-US" sz="1200" dirty="0"/>
          </a:p>
          <a:p>
            <a:pPr algn="l"/>
            <a:r>
              <a:rPr lang="en-US" sz="2400" dirty="0"/>
              <a:t>-</a:t>
            </a:r>
          </a:p>
          <a:p>
            <a:pPr algn="l"/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5869025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ABE5E3-0A38-7A63-BA3A-C120AC95DE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25579C-3E5B-29F4-1AEB-872D9C2D27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7067" y="570452"/>
            <a:ext cx="7766936" cy="855676"/>
          </a:xfrm>
        </p:spPr>
        <p:txBody>
          <a:bodyPr/>
          <a:lstStyle/>
          <a:p>
            <a:pPr algn="ctr"/>
            <a:r>
              <a:rPr lang="en-US" sz="4800" dirty="0">
                <a:solidFill>
                  <a:schemeClr val="accent2"/>
                </a:solidFill>
              </a:rPr>
              <a:t>silver layer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3A168E-664B-F7C4-37D6-9E70A8A39F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07067" y="1661021"/>
            <a:ext cx="7766936" cy="4530054"/>
          </a:xfrm>
        </p:spPr>
        <p:txBody>
          <a:bodyPr>
            <a:noAutofit/>
          </a:bodyPr>
          <a:lstStyle/>
          <a:p>
            <a:pPr algn="l"/>
            <a:r>
              <a:rPr lang="en-US" sz="2400" dirty="0"/>
              <a:t>Enriched data​</a:t>
            </a:r>
          </a:p>
          <a:p>
            <a:pPr algn="l"/>
            <a:endParaRPr lang="en-US" sz="1200" dirty="0"/>
          </a:p>
          <a:p>
            <a:pPr algn="l"/>
            <a:r>
              <a:rPr lang="en-US" sz="2400" dirty="0"/>
              <a:t>Cleansed, conformed, de-duplicated, validated, ​</a:t>
            </a:r>
          </a:p>
          <a:p>
            <a:pPr algn="l"/>
            <a:endParaRPr lang="en-US" sz="1200" dirty="0"/>
          </a:p>
          <a:p>
            <a:pPr algn="l"/>
            <a:r>
              <a:rPr lang="en-US" sz="2400" dirty="0"/>
              <a:t>Usually relationally-modeled tables​</a:t>
            </a:r>
          </a:p>
          <a:p>
            <a:pPr algn="l"/>
            <a:endParaRPr lang="en-US" sz="1200" dirty="0"/>
          </a:p>
          <a:p>
            <a:pPr algn="l"/>
            <a:r>
              <a:rPr lang="en-US" sz="2400" dirty="0"/>
              <a:t>Mapping between different sources happens here​</a:t>
            </a:r>
          </a:p>
          <a:p>
            <a:pPr algn="l"/>
            <a:endParaRPr lang="en-US" sz="1200" dirty="0"/>
          </a:p>
          <a:p>
            <a:pPr algn="l"/>
            <a:r>
              <a:rPr lang="en-US" sz="2400" dirty="0"/>
              <a:t>In Fabric this could be delta tables in a </a:t>
            </a:r>
            <a:r>
              <a:rPr lang="en-US" sz="2400" dirty="0" err="1"/>
              <a:t>lakehouse</a:t>
            </a:r>
            <a:r>
              <a:rPr lang="en-US" sz="2400" dirty="0"/>
              <a:t> or T-SQL tables in a warehouse​</a:t>
            </a:r>
          </a:p>
          <a:p>
            <a:pPr algn="l"/>
            <a:endParaRPr lang="en-US" sz="1200" dirty="0"/>
          </a:p>
          <a:p>
            <a:pPr algn="l"/>
            <a:r>
              <a:rPr lang="en-US" sz="2400" dirty="0"/>
              <a:t>-</a:t>
            </a:r>
          </a:p>
          <a:p>
            <a:pPr algn="l"/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20870817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536834-448A-D451-A34C-747A4B0508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3B3567-3E25-8A8B-115C-426CA2E1C2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7067" y="570452"/>
            <a:ext cx="7766936" cy="855676"/>
          </a:xfrm>
        </p:spPr>
        <p:txBody>
          <a:bodyPr/>
          <a:lstStyle/>
          <a:p>
            <a:pPr algn="ctr"/>
            <a:r>
              <a:rPr lang="en-US" sz="4800" dirty="0">
                <a:solidFill>
                  <a:schemeClr val="accent2"/>
                </a:solidFill>
              </a:rPr>
              <a:t>gold layer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49AAA7D-513B-45D6-FCC6-F40AB664F5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07067" y="1661021"/>
            <a:ext cx="7766936" cy="4530054"/>
          </a:xfrm>
        </p:spPr>
        <p:txBody>
          <a:bodyPr>
            <a:noAutofit/>
          </a:bodyPr>
          <a:lstStyle/>
          <a:p>
            <a:pPr algn="l"/>
            <a:r>
              <a:rPr lang="en-US" sz="2400" dirty="0"/>
              <a:t>Curated data​</a:t>
            </a:r>
          </a:p>
          <a:p>
            <a:pPr algn="l"/>
            <a:endParaRPr lang="en-US" sz="1200" dirty="0"/>
          </a:p>
          <a:p>
            <a:pPr algn="l"/>
            <a:r>
              <a:rPr lang="en-US" sz="2400" dirty="0"/>
              <a:t>Business-focused, query-optimized presentation layer​</a:t>
            </a:r>
          </a:p>
          <a:p>
            <a:pPr algn="l"/>
            <a:endParaRPr lang="en-US" sz="1200" dirty="0"/>
          </a:p>
          <a:p>
            <a:pPr algn="l"/>
            <a:r>
              <a:rPr lang="en-US" sz="2400" dirty="0"/>
              <a:t>Hopefully data-governed and certified!​</a:t>
            </a:r>
          </a:p>
          <a:p>
            <a:pPr algn="l"/>
            <a:endParaRPr lang="en-US" sz="1200" dirty="0"/>
          </a:p>
          <a:p>
            <a:pPr algn="l"/>
            <a:r>
              <a:rPr lang="en-US" sz="2400" dirty="0"/>
              <a:t>Usually a dimensionally-modeled star schema​</a:t>
            </a:r>
          </a:p>
          <a:p>
            <a:pPr algn="l"/>
            <a:endParaRPr lang="en-US" sz="1200" dirty="0"/>
          </a:p>
          <a:p>
            <a:pPr algn="l"/>
            <a:r>
              <a:rPr lang="en-US" sz="2400" dirty="0"/>
              <a:t>In Fabric this could be a </a:t>
            </a:r>
            <a:r>
              <a:rPr lang="en-US" sz="2400" dirty="0" err="1"/>
              <a:t>lakehouse</a:t>
            </a:r>
            <a:r>
              <a:rPr lang="en-US" sz="2400" dirty="0"/>
              <a:t> or warehouse, and is the data source for your Power BI semantic</a:t>
            </a:r>
          </a:p>
          <a:p>
            <a:pPr algn="l"/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75809419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238DE5-6BF7-267B-1538-D8A2A80EBD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3802A3-8098-9CE7-BD45-A7DCB0C867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2188952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000" dirty="0">
                <a:solidFill>
                  <a:schemeClr val="accent2"/>
                </a:solidFill>
              </a:rPr>
              <a:t>medallion architecture example</a:t>
            </a:r>
            <a:endParaRPr lang="en-US" sz="4000" kern="1200" dirty="0">
              <a:solidFill>
                <a:schemeClr val="tx1"/>
              </a:solidFill>
              <a:latin typeface="+mj-lt"/>
            </a:endParaRPr>
          </a:p>
        </p:txBody>
      </p:sp>
      <p:pic>
        <p:nvPicPr>
          <p:cNvPr id="1028" name="Picture 4" descr="Medallion architecture bronze, silver, and gold layers">
            <a:extLst>
              <a:ext uri="{FF2B5EF4-FFF2-40B4-BE49-F238E27FC236}">
                <a16:creationId xmlns:a16="http://schemas.microsoft.com/office/drawing/2014/main" id="{DC7F3618-CBD4-BAF9-4B4D-A451E112A3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6156" y="1325604"/>
            <a:ext cx="8008219" cy="47886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4699720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386C2D-8B4B-BD2F-D28E-A28B79F272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72929D-DD77-4687-07F6-3C9B604D0A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7067" y="570452"/>
            <a:ext cx="7766936" cy="855676"/>
          </a:xfrm>
        </p:spPr>
        <p:txBody>
          <a:bodyPr/>
          <a:lstStyle/>
          <a:p>
            <a:pPr algn="ctr"/>
            <a:r>
              <a:rPr lang="en-US" sz="4800" dirty="0">
                <a:solidFill>
                  <a:schemeClr val="accent2"/>
                </a:solidFill>
              </a:rPr>
              <a:t>high-level Fabric security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A4A054-CBA0-1AF7-51B6-35C19F157B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07067" y="1661021"/>
            <a:ext cx="7766936" cy="4530054"/>
          </a:xfrm>
        </p:spPr>
        <p:txBody>
          <a:bodyPr>
            <a:noAutofit/>
          </a:bodyPr>
          <a:lstStyle/>
          <a:p>
            <a:pPr algn="l"/>
            <a:r>
              <a:rPr lang="en-US" sz="2400" dirty="0"/>
              <a:t>Workspace-level security</a:t>
            </a:r>
          </a:p>
          <a:p>
            <a:pPr algn="l"/>
            <a:endParaRPr lang="en-US" sz="1200" dirty="0"/>
          </a:p>
          <a:p>
            <a:pPr algn="l"/>
            <a:r>
              <a:rPr lang="en-US" sz="2400" dirty="0"/>
              <a:t>Reader – can view all </a:t>
            </a:r>
          </a:p>
          <a:p>
            <a:pPr algn="l"/>
            <a:endParaRPr lang="en-US" sz="1200" dirty="0"/>
          </a:p>
          <a:p>
            <a:pPr algn="l"/>
            <a:r>
              <a:rPr lang="en-US" sz="2400" dirty="0"/>
              <a:t>Contributor – can view and modify all</a:t>
            </a:r>
          </a:p>
          <a:p>
            <a:pPr algn="l"/>
            <a:endParaRPr lang="en-US" sz="1200" dirty="0"/>
          </a:p>
          <a:p>
            <a:pPr algn="l"/>
            <a:r>
              <a:rPr lang="en-US" sz="2400" dirty="0"/>
              <a:t>Member – can view, modify, and share all</a:t>
            </a:r>
          </a:p>
          <a:p>
            <a:pPr algn="l"/>
            <a:endParaRPr lang="en-US" sz="1200" dirty="0"/>
          </a:p>
          <a:p>
            <a:pPr algn="l"/>
            <a:r>
              <a:rPr lang="en-US" sz="2400" dirty="0"/>
              <a:t>Admin - can view, modify, share, and manage all</a:t>
            </a:r>
          </a:p>
          <a:p>
            <a:pPr algn="l"/>
            <a:endParaRPr lang="en-US" sz="1200" dirty="0"/>
          </a:p>
          <a:p>
            <a:pPr algn="l"/>
            <a:r>
              <a:rPr lang="en-US" sz="1400" dirty="0">
                <a:hlinkClick r:id="rId2"/>
              </a:rPr>
              <a:t>( https://learn.microsoft.com/en-us/fabric/security/permission-model</a:t>
            </a:r>
            <a:r>
              <a:rPr lang="en-US" sz="1400" dirty="0"/>
              <a:t> )</a:t>
            </a:r>
          </a:p>
          <a:p>
            <a:pPr algn="l"/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61094665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5D5EF5-1502-AA50-ACE0-9E8D307DC8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4A966E-0F4B-4B47-75DC-CDE6DCCBB8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7067" y="570452"/>
            <a:ext cx="7766936" cy="855676"/>
          </a:xfrm>
        </p:spPr>
        <p:txBody>
          <a:bodyPr/>
          <a:lstStyle/>
          <a:p>
            <a:pPr algn="ctr"/>
            <a:r>
              <a:rPr lang="en-US" sz="4800" dirty="0">
                <a:solidFill>
                  <a:schemeClr val="accent2"/>
                </a:solidFill>
              </a:rPr>
              <a:t>case study #1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F257FB9-57BF-7772-F9D6-AC226A580E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07067" y="1661021"/>
            <a:ext cx="7766936" cy="4530054"/>
          </a:xfrm>
        </p:spPr>
        <p:txBody>
          <a:bodyPr>
            <a:noAutofit/>
          </a:bodyPr>
          <a:lstStyle/>
          <a:p>
            <a:pPr algn="l"/>
            <a:r>
              <a:rPr lang="en-US" sz="2400" dirty="0"/>
              <a:t>Community college on legacy on-prem systems moving to 100% cloud-based architecture</a:t>
            </a:r>
          </a:p>
          <a:p>
            <a:pPr algn="l"/>
            <a:endParaRPr lang="en-US" sz="1200" dirty="0"/>
          </a:p>
          <a:p>
            <a:pPr algn="l"/>
            <a:r>
              <a:rPr lang="en-US" sz="2400" dirty="0"/>
              <a:t>Centralized Office of Data Strategy plus department-specific analysts</a:t>
            </a:r>
          </a:p>
          <a:p>
            <a:pPr algn="l"/>
            <a:endParaRPr lang="en-US" sz="1200" dirty="0"/>
          </a:p>
          <a:p>
            <a:pPr algn="l"/>
            <a:r>
              <a:rPr lang="en-US" sz="2400" dirty="0"/>
              <a:t>Shared roles; jacks- and jills-of-all-trades</a:t>
            </a:r>
          </a:p>
          <a:p>
            <a:pPr algn="l"/>
            <a:endParaRPr lang="en-US" sz="1200" dirty="0"/>
          </a:p>
          <a:p>
            <a:pPr algn="l"/>
            <a:r>
              <a:rPr lang="en-US" sz="2400" dirty="0"/>
              <a:t>Academic (student), HR, and Finance data must have appropriate access</a:t>
            </a:r>
          </a:p>
          <a:p>
            <a:pPr algn="l"/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11089176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F99849-6775-3FA5-FACD-D367A6024F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835B6E-CDAC-5C5B-3435-791E9E688C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7067" y="570452"/>
            <a:ext cx="7766936" cy="855676"/>
          </a:xfrm>
        </p:spPr>
        <p:txBody>
          <a:bodyPr/>
          <a:lstStyle/>
          <a:p>
            <a:pPr algn="ctr"/>
            <a:r>
              <a:rPr lang="en-US" sz="4800" dirty="0">
                <a:solidFill>
                  <a:schemeClr val="accent2"/>
                </a:solidFill>
              </a:rPr>
              <a:t>case study #1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BA32E3-4C12-7D5C-92E3-0EA340B0B7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07067" y="1661021"/>
            <a:ext cx="7766936" cy="4530054"/>
          </a:xfrm>
        </p:spPr>
        <p:txBody>
          <a:bodyPr>
            <a:noAutofit/>
          </a:bodyPr>
          <a:lstStyle/>
          <a:p>
            <a:pPr algn="l"/>
            <a:r>
              <a:rPr lang="en-US" sz="2400" dirty="0"/>
              <a:t>Single capacity</a:t>
            </a:r>
          </a:p>
          <a:p>
            <a:pPr algn="l"/>
            <a:endParaRPr lang="en-US" sz="1200" dirty="0"/>
          </a:p>
          <a:p>
            <a:pPr algn="l"/>
            <a:r>
              <a:rPr lang="en-US" sz="2400" dirty="0"/>
              <a:t>Three workspaces, one each for academic, HR, and finance data for proof-of-concept</a:t>
            </a:r>
          </a:p>
          <a:p>
            <a:pPr algn="l"/>
            <a:endParaRPr lang="en-US" sz="1200" dirty="0"/>
          </a:p>
          <a:p>
            <a:pPr algn="l"/>
            <a:r>
              <a:rPr lang="en-US" sz="2400" dirty="0"/>
              <a:t>Bronze and silver </a:t>
            </a:r>
            <a:r>
              <a:rPr lang="en-US" sz="2400" dirty="0" err="1"/>
              <a:t>lakehouses</a:t>
            </a:r>
            <a:r>
              <a:rPr lang="en-US" sz="2400" dirty="0"/>
              <a:t> for each individual source system, one gold warehouse in each subject area</a:t>
            </a:r>
          </a:p>
          <a:p>
            <a:pPr algn="l"/>
            <a:endParaRPr lang="en-US" sz="1200" dirty="0"/>
          </a:p>
          <a:p>
            <a:pPr algn="l"/>
            <a:r>
              <a:rPr lang="en-US" sz="2400" dirty="0"/>
              <a:t>Three additional workspaces for development in each subject area are planned, leveraging shortcuts so as not to double-ingest data</a:t>
            </a:r>
          </a:p>
          <a:p>
            <a:pPr algn="l"/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4996414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DB562C-94BC-680A-43BE-6EDE365E0D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CB4BEB-AF9A-E1E1-0D4F-D43B58E345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7067" y="570452"/>
            <a:ext cx="7766936" cy="855676"/>
          </a:xfrm>
        </p:spPr>
        <p:txBody>
          <a:bodyPr/>
          <a:lstStyle/>
          <a:p>
            <a:pPr algn="ctr"/>
            <a:r>
              <a:rPr lang="en-US" sz="4800" dirty="0">
                <a:solidFill>
                  <a:schemeClr val="accent2"/>
                </a:solidFill>
              </a:rPr>
              <a:t>case study #2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76A86F-B14B-D17D-DAF9-F2638197D9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07067" y="1661021"/>
            <a:ext cx="7766936" cy="4530054"/>
          </a:xfrm>
        </p:spPr>
        <p:txBody>
          <a:bodyPr>
            <a:noAutofit/>
          </a:bodyPr>
          <a:lstStyle/>
          <a:p>
            <a:pPr algn="l"/>
            <a:r>
              <a:rPr lang="en-US" sz="2400" dirty="0"/>
              <a:t>Large financial enterprise with more modern hybrid analytical architecture</a:t>
            </a:r>
          </a:p>
          <a:p>
            <a:pPr algn="l"/>
            <a:endParaRPr lang="en-US" sz="1200" dirty="0"/>
          </a:p>
          <a:p>
            <a:pPr algn="l"/>
            <a:r>
              <a:rPr lang="en-US" sz="2400" dirty="0"/>
              <a:t>Specialized data engineers, data modelers, data analysts, and report-writers</a:t>
            </a:r>
          </a:p>
          <a:p>
            <a:pPr algn="l"/>
            <a:endParaRPr lang="en-US" sz="1200" dirty="0"/>
          </a:p>
          <a:p>
            <a:pPr algn="l"/>
            <a:r>
              <a:rPr lang="en-US" sz="2400" dirty="0"/>
              <a:t>Several existing data marts for specific departments and subject areas</a:t>
            </a:r>
          </a:p>
          <a:p>
            <a:pPr algn="l"/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44005907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D34B5A-83B4-8DE1-1F7B-747B97AF51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24831C-A035-F33A-432F-44FB491EBB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7067" y="570452"/>
            <a:ext cx="7766936" cy="855676"/>
          </a:xfrm>
        </p:spPr>
        <p:txBody>
          <a:bodyPr/>
          <a:lstStyle/>
          <a:p>
            <a:pPr algn="ctr"/>
            <a:r>
              <a:rPr lang="en-US" sz="4800" dirty="0">
                <a:solidFill>
                  <a:schemeClr val="accent2"/>
                </a:solidFill>
              </a:rPr>
              <a:t>case study #2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B5E33B-F911-4A06-EAC4-6F16C206D9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07067" y="1661021"/>
            <a:ext cx="7766936" cy="4530054"/>
          </a:xfrm>
        </p:spPr>
        <p:txBody>
          <a:bodyPr>
            <a:noAutofit/>
          </a:bodyPr>
          <a:lstStyle/>
          <a:p>
            <a:pPr algn="l"/>
            <a:r>
              <a:rPr lang="en-US" sz="2400" dirty="0"/>
              <a:t>Separate capacities for prod and dev environments</a:t>
            </a:r>
          </a:p>
          <a:p>
            <a:pPr algn="l"/>
            <a:endParaRPr lang="en-US" sz="1200" dirty="0"/>
          </a:p>
          <a:p>
            <a:pPr algn="l"/>
            <a:r>
              <a:rPr lang="en-US" sz="2400" dirty="0"/>
              <a:t>Separate workspaces for each source system</a:t>
            </a:r>
          </a:p>
          <a:p>
            <a:pPr algn="l"/>
            <a:endParaRPr lang="en-US" sz="1200" dirty="0"/>
          </a:p>
          <a:p>
            <a:pPr algn="l"/>
            <a:r>
              <a:rPr lang="en-US" sz="2400" dirty="0"/>
              <a:t>Also separate workspaces for semantic models and reports</a:t>
            </a:r>
          </a:p>
          <a:p>
            <a:pPr algn="l"/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10058445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C0997-3CB9-4AC0-9A06-C07B8B01E6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7067" y="570452"/>
            <a:ext cx="7766936" cy="855676"/>
          </a:xfrm>
        </p:spPr>
        <p:txBody>
          <a:bodyPr/>
          <a:lstStyle/>
          <a:p>
            <a:pPr algn="ctr"/>
            <a:r>
              <a:rPr lang="en-US" sz="4800" dirty="0">
                <a:solidFill>
                  <a:schemeClr val="accent2"/>
                </a:solidFill>
              </a:rPr>
              <a:t>Resources</a:t>
            </a:r>
          </a:p>
        </p:txBody>
      </p:sp>
      <p:sp>
        <p:nvSpPr>
          <p:cNvPr id="3" name="Subtitle 2" descr="Link to two articles from Microsoft and a link to a Microsoft Fabric playlist on the GuyInACube YouTube channel.">
            <a:extLst>
              <a:ext uri="{FF2B5EF4-FFF2-40B4-BE49-F238E27FC236}">
                <a16:creationId xmlns:a16="http://schemas.microsoft.com/office/drawing/2014/main" id="{45C867A6-A7E8-4D82-9D66-A68CDB8EFA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07067" y="1661021"/>
            <a:ext cx="7766936" cy="4530054"/>
          </a:xfrm>
        </p:spPr>
        <p:txBody>
          <a:bodyPr>
            <a:normAutofit/>
          </a:bodyPr>
          <a:lstStyle/>
          <a:p>
            <a:pPr algn="l"/>
            <a:r>
              <a:rPr lang="en-US" sz="2400" dirty="0"/>
              <a:t>https://github.com/DrJekyll325/Presentations</a:t>
            </a:r>
          </a:p>
          <a:p>
            <a:pPr algn="l"/>
            <a:endParaRPr lang="en-US" sz="2400" dirty="0"/>
          </a:p>
          <a:p>
            <a:pPr algn="l"/>
            <a:r>
              <a:rPr lang="en-US" sz="2400" dirty="0"/>
              <a:t>azure.microsoft.com/en-us/blog/introducing-microsoft-fabric-data-analytics-for-the-era-of-ai/</a:t>
            </a:r>
          </a:p>
          <a:p>
            <a:pPr algn="l"/>
            <a:endParaRPr lang="en-US" sz="2400" dirty="0"/>
          </a:p>
          <a:p>
            <a:pPr algn="l"/>
            <a:r>
              <a:rPr lang="en-US" sz="2400" dirty="0"/>
              <a:t>https://learn.microsoft.com/en-us/training/fabric/</a:t>
            </a:r>
          </a:p>
          <a:p>
            <a:pPr algn="l"/>
            <a:endParaRPr lang="en-US" sz="2400" dirty="0"/>
          </a:p>
          <a:p>
            <a:pPr algn="l"/>
            <a:r>
              <a:rPr lang="en-US" sz="2400" dirty="0"/>
              <a:t>aka.ms/</a:t>
            </a:r>
            <a:r>
              <a:rPr lang="en-US" sz="2400" dirty="0" err="1"/>
              <a:t>FabricRoadmap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467766291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3322</TotalTime>
  <Words>1036</Words>
  <Application>Microsoft Office PowerPoint</Application>
  <PresentationFormat>Widescreen</PresentationFormat>
  <Paragraphs>192</Paragraphs>
  <Slides>26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4" baseType="lpstr">
      <vt:lpstr>Aptos</vt:lpstr>
      <vt:lpstr>Arial</vt:lpstr>
      <vt:lpstr>Segoe UI</vt:lpstr>
      <vt:lpstr>Segoe UI Light</vt:lpstr>
      <vt:lpstr>Trebuchet MS</vt:lpstr>
      <vt:lpstr>Wingdings</vt:lpstr>
      <vt:lpstr>Wingdings 3</vt:lpstr>
      <vt:lpstr>Facet</vt:lpstr>
      <vt:lpstr>Demystifying Microsoft Fabric: Architecture and Organization 101</vt:lpstr>
      <vt:lpstr>Demystifying Microsoft Fabric</vt:lpstr>
      <vt:lpstr>PowerPoint Presentation</vt:lpstr>
      <vt:lpstr>PowerPoint Presentation</vt:lpstr>
      <vt:lpstr>agenda</vt:lpstr>
      <vt:lpstr>what is Microsoft Fabric?</vt:lpstr>
      <vt:lpstr>Fabric architecture</vt:lpstr>
      <vt:lpstr>what is a data warehouse?</vt:lpstr>
      <vt:lpstr>what is a data lake?</vt:lpstr>
      <vt:lpstr>what is a lakehouse?</vt:lpstr>
      <vt:lpstr>bonus: what is a delta lake?</vt:lpstr>
      <vt:lpstr>building blocks of Fabric</vt:lpstr>
      <vt:lpstr>organizing Fabric, part 1</vt:lpstr>
      <vt:lpstr>organizing Fabric, part 2</vt:lpstr>
      <vt:lpstr>Fabric architecture, the reprise</vt:lpstr>
      <vt:lpstr>medallion architecture</vt:lpstr>
      <vt:lpstr>bronze layer</vt:lpstr>
      <vt:lpstr>silver layer</vt:lpstr>
      <vt:lpstr>gold layer</vt:lpstr>
      <vt:lpstr>medallion architecture example</vt:lpstr>
      <vt:lpstr>high-level Fabric security</vt:lpstr>
      <vt:lpstr>case study #1</vt:lpstr>
      <vt:lpstr>case study #1</vt:lpstr>
      <vt:lpstr>case study #2</vt:lpstr>
      <vt:lpstr>case study #2</vt:lpstr>
      <vt:lpstr>Resources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GL Transactions Model</dc:title>
  <dc:creator>Chris Hyde</dc:creator>
  <cp:lastModifiedBy>Chris Hyde</cp:lastModifiedBy>
  <cp:revision>122</cp:revision>
  <dcterms:created xsi:type="dcterms:W3CDTF">2021-06-17T21:52:43Z</dcterms:created>
  <dcterms:modified xsi:type="dcterms:W3CDTF">2026-03-14T17:15:13Z</dcterms:modified>
</cp:coreProperties>
</file>