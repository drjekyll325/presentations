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Lst>
  <p:notesMasterIdLst>
    <p:notesMasterId r:id="rId32"/>
  </p:notesMasterIdLst>
  <p:sldIdLst>
    <p:sldId id="256" r:id="rId3"/>
    <p:sldId id="311" r:id="rId4"/>
    <p:sldId id="569" r:id="rId5"/>
    <p:sldId id="570" r:id="rId6"/>
    <p:sldId id="571" r:id="rId7"/>
    <p:sldId id="572" r:id="rId8"/>
    <p:sldId id="573" r:id="rId9"/>
    <p:sldId id="574" r:id="rId10"/>
    <p:sldId id="575" r:id="rId11"/>
    <p:sldId id="576" r:id="rId12"/>
    <p:sldId id="577" r:id="rId13"/>
    <p:sldId id="578" r:id="rId14"/>
    <p:sldId id="579" r:id="rId15"/>
    <p:sldId id="580" r:id="rId16"/>
    <p:sldId id="581" r:id="rId17"/>
    <p:sldId id="582" r:id="rId18"/>
    <p:sldId id="583" r:id="rId19"/>
    <p:sldId id="584" r:id="rId20"/>
    <p:sldId id="585" r:id="rId21"/>
    <p:sldId id="586" r:id="rId22"/>
    <p:sldId id="587" r:id="rId23"/>
    <p:sldId id="588" r:id="rId24"/>
    <p:sldId id="589" r:id="rId25"/>
    <p:sldId id="595" r:id="rId26"/>
    <p:sldId id="590" r:id="rId27"/>
    <p:sldId id="591" r:id="rId28"/>
    <p:sldId id="592" r:id="rId29"/>
    <p:sldId id="593" r:id="rId30"/>
    <p:sldId id="59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697" autoAdjust="0"/>
  </p:normalViewPr>
  <p:slideViewPr>
    <p:cSldViewPr snapToGrid="0">
      <p:cViewPr varScale="1">
        <p:scale>
          <a:sx n="82" d="100"/>
          <a:sy n="82" d="100"/>
        </p:scale>
        <p:origin x="16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7D5ABB-D6C8-4484-9BD7-0B2C71080924}" type="datetimeFigureOut">
              <a:rPr lang="en-US" smtClean="0"/>
              <a:t>7/17/2025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C3E07-2B55-45EA-8078-3BD97FA50993}" type="slidenum">
              <a:rPr lang="en-US" smtClean="0"/>
              <a:t>‹#›</a:t>
            </a:fld>
            <a:endParaRPr lang="en-US"/>
          </a:p>
        </p:txBody>
      </p:sp>
    </p:spTree>
    <p:extLst>
      <p:ext uri="{BB962C8B-B14F-4D97-AF65-F5344CB8AC3E}">
        <p14:creationId xmlns:p14="http://schemas.microsoft.com/office/powerpoint/2010/main" val="74437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6965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CECEC"/>
                </a:solidFill>
                <a:effectLst/>
                <a:highlight>
                  <a:srgbClr val="212121"/>
                </a:highlight>
                <a:latin typeface="Söhne"/>
              </a:rPr>
              <a:t>It's easy to forget about the effect of data latency on our Fabric warehouses.  After all storage and compute have usually been tightly coupled, as in an on-premises SQL Server data warehouse.  However, because Microsoft Fabric is a Software-as-a-Service solution where storage and compute are decoupled, we should stress the co-location, where possible, of both client-to-engine and engine-to-data connections.</a:t>
            </a:r>
          </a:p>
          <a:p>
            <a:pPr algn="l"/>
            <a:endParaRPr lang="en-US" b="0" i="0" dirty="0">
              <a:solidFill>
                <a:srgbClr val="ECECEC"/>
              </a:solidFill>
              <a:effectLst/>
              <a:highlight>
                <a:srgbClr val="212121"/>
              </a:highlight>
              <a:latin typeface="Söhne"/>
            </a:endParaRPr>
          </a:p>
          <a:p>
            <a:pPr algn="l"/>
            <a:r>
              <a:rPr lang="en-US" b="0" i="0" dirty="0">
                <a:solidFill>
                  <a:srgbClr val="ECECEC"/>
                </a:solidFill>
                <a:effectLst/>
                <a:highlight>
                  <a:srgbClr val="212121"/>
                </a:highlight>
                <a:latin typeface="Söhne"/>
              </a:rPr>
              <a:t>When we execute queries, the transfer of the query result sets to the client computer can significantly impact performance, especially with large result sets.  If possible, we should ensure that the client computer is in the same region as the Fabric capacity to minimize network latency.  If that's not possible, be aware that the number of rows in the result set will impact the query duration.  Speaking of the number of rows, we should also keep in mind the that query editor in the Fabric UI returns only the first 10,000 rows of the data set.  If we need more, we should connect to the warehouse using SSMS, aka SQL Server Management Studio, or Azure Data Studio.  Also, SSMS and Azure Data Studio will give us somewhat better performance anyway compared to the Fabric UI due to their TDS binary format communication with the engine.</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909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want to organize the tables in your data warehouse into what is known as a star-schema design.  This organizes data into primarily two types of tables, fact and dimension tables.  Fact tables contain quantitative, or countable, data that are commonly generated in your transactional systems.  For example, sales transaction details, or patient appointments, or as in the image shown on the next slide, NY taxi cab trips.</a:t>
            </a:r>
          </a:p>
          <a:p>
            <a:endParaRPr lang="en-US" dirty="0"/>
          </a:p>
          <a:p>
            <a:r>
              <a:rPr lang="en-US" dirty="0"/>
              <a:t>Dimension tables contain descriptive data about different attributes of your data.  For example, the name and address of the customer placing a sales order, the demographics of a particular patient, or dates and location of taxi trips.  These are the attributes that are commonly used to "slice-and-dice" or group your data on.</a:t>
            </a:r>
          </a:p>
          <a:p>
            <a:endParaRPr lang="en-US" dirty="0"/>
          </a:p>
          <a:p>
            <a:r>
              <a:rPr lang="en-US" dirty="0"/>
              <a:t>This design facilitates analytical processing by de-normalizing the data from your highly normalized OLTP systems, ingesting transactional data and enterprise master data into a common, cleansed, and verified data structure that minimizes JOINS at query time, reduces the number of rows read and facilitates aggregations and grouping processing.</a:t>
            </a:r>
          </a:p>
          <a:p>
            <a:endParaRPr lang="en-US" dirty="0"/>
          </a:p>
          <a:p>
            <a:r>
              <a:rPr lang="en-US" dirty="0"/>
              <a:t>You will also find that you have a third category of table called an integration table.  These might be staging tables used to store the raw data that has been ingested via a pipeline from your OLTP systems, or perhaps temporary integration tables used to store the results of intermediate steps and calculations as you are transforming your data.</a:t>
            </a:r>
          </a:p>
          <a:p>
            <a:endParaRPr lang="en-US" dirty="0"/>
          </a:p>
          <a:p>
            <a:r>
              <a:rPr lang="en-US" dirty="0"/>
              <a:t>You have a number of different ways to organize your data using different schema names, table prefixes, and multiple warehouses.  I prefer to avoid table prefixes and instead use different schemas to separate my fact and dimension tables, although I will often call these schemas data and lookup rather than fact and dim to be more easily understood by my analysts.  And because Fabric fully supports cross-warehouse querying using a three-part naming convention, I will usually separate out my integration tables into different staging warehouses to keep them separate from the conformed and verified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9705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 tables contain descriptive data about different attributes of your data.  For example, the name and address of the customer placing a sales order, the demographics of a particular patient, or dates and location of taxi trips.  These are the attributes that are commonly used to "slice-and-dice" or group your data on.</a:t>
            </a:r>
          </a:p>
          <a:p>
            <a:endParaRPr lang="en-US" dirty="0"/>
          </a:p>
          <a:p>
            <a:r>
              <a:rPr lang="en-US" dirty="0"/>
              <a:t>This design facilitates analytical processing by de-normalizing the data from your highly normalized OLTP systems, ingesting transactional data and enterprise master data into a common, cleansed, and verified data structure that minimizes JOINS at query time, reduces the number of rows read and facilitates aggregations and grouping processing.</a:t>
            </a:r>
          </a:p>
          <a:p>
            <a:endParaRPr lang="en-US" dirty="0"/>
          </a:p>
          <a:p>
            <a:r>
              <a:rPr lang="en-US" dirty="0"/>
              <a:t>You will also find that you have a third category of table called an integration table.  These might be staging tables used to store the raw data that has been ingested via a pipeline from your OLTP systems, or perhaps temporary integration tables used to store the results of intermediate steps and calculations as you are transforming your data.</a:t>
            </a:r>
          </a:p>
          <a:p>
            <a:endParaRPr lang="en-US" dirty="0"/>
          </a:p>
          <a:p>
            <a:r>
              <a:rPr lang="en-US" dirty="0"/>
              <a:t>You have a number of different ways to organize your data using different schema names, table prefixes, and multiple warehouses.  I prefer to avoid table prefixes and instead use different schemas to separate my fact and dimension tables, although I will often call these schemas data and lookup rather than fact and dim to be more easily understood by my analysts.  And because Fabric fully supports cross-warehouse querying using a three-part naming convention, I will usually separate out my integration tables into different staging warehouses to keep them separate from the conformed and verified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792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your data to find what data types and ranges can be expected will pay off with performance benefits as well.  Try to use the smallest data type that </a:t>
            </a:r>
            <a:r>
              <a:rPr lang="en-US" dirty="0" err="1"/>
              <a:t>accomodates</a:t>
            </a:r>
            <a:r>
              <a:rPr lang="en-US" dirty="0"/>
              <a:t> your values, such as an INT instead of a BIGINT for a year number column.  You should specify the precision and scale of all decimals, use varchar instead of char for strings, and declare columns as NOT NULL wherever possible.  Also, if your table has been created by a tool rather than a CREATE TABLE script, for example using Pipelines, you'll want to double-check that appropriate data types were created.  Let's run a quick demo of this...</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636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3.emf"/><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7/17/2025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7/17/2025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87" name="Title 1">
            <a:extLst>
              <a:ext uri="{FF2B5EF4-FFF2-40B4-BE49-F238E27FC236}">
                <a16:creationId xmlns:a16="http://schemas.microsoft.com/office/drawing/2014/main" id="{FC782319-62B5-4043-BE69-E3C948611E6F}"/>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accent2"/>
                </a:solidFill>
                <a:latin typeface="IBM Plex Sans" panose="020B0503050203000203" pitchFamily="34" charset="77"/>
              </a:defRPr>
            </a:lvl1pPr>
          </a:lstStyle>
          <a:p>
            <a:r>
              <a:rPr lang="en-GB"/>
              <a:t>Session Title goes here</a:t>
            </a:r>
            <a:endParaRPr lang="en-US"/>
          </a:p>
        </p:txBody>
      </p:sp>
      <p:sp>
        <p:nvSpPr>
          <p:cNvPr id="88" name="Content Placeholder 2">
            <a:extLst>
              <a:ext uri="{FF2B5EF4-FFF2-40B4-BE49-F238E27FC236}">
                <a16:creationId xmlns:a16="http://schemas.microsoft.com/office/drawing/2014/main" id="{838990EC-8DDE-4B70-A3EA-D7056E7C001C}"/>
              </a:ext>
            </a:extLst>
          </p:cNvPr>
          <p:cNvSpPr>
            <a:spLocks noGrp="1"/>
          </p:cNvSpPr>
          <p:nvPr>
            <p:ph idx="11" hasCustomPrompt="1"/>
          </p:nvPr>
        </p:nvSpPr>
        <p:spPr>
          <a:xfrm>
            <a:off x="424541" y="4712654"/>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89" name="Content Placeholder 2">
            <a:extLst>
              <a:ext uri="{FF2B5EF4-FFF2-40B4-BE49-F238E27FC236}">
                <a16:creationId xmlns:a16="http://schemas.microsoft.com/office/drawing/2014/main" id="{2A91A654-E83E-4D78-B5DB-6EC9802206AC}"/>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90" name="Content Placeholder 2">
            <a:extLst>
              <a:ext uri="{FF2B5EF4-FFF2-40B4-BE49-F238E27FC236}">
                <a16:creationId xmlns:a16="http://schemas.microsoft.com/office/drawing/2014/main" id="{E7384EC0-4A3C-4EDA-9D06-896D1BF8BC15}"/>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499" y="4381629"/>
            <a:ext cx="4412959" cy="2034463"/>
          </a:xfrm>
          <a:prstGeom prst="rect">
            <a:avLst/>
          </a:prstGeom>
        </p:spPr>
      </p:pic>
      <p:pic>
        <p:nvPicPr>
          <p:cNvPr id="92" name="Picture 91">
            <a:extLst>
              <a:ext uri="{FF2B5EF4-FFF2-40B4-BE49-F238E27FC236}">
                <a16:creationId xmlns:a16="http://schemas.microsoft.com/office/drawing/2014/main" id="{82963F38-1105-4812-92EE-3180170B8D9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4541" y="310289"/>
            <a:ext cx="7645971" cy="1063486"/>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4"/>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34135608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ponsor Slide - Always Includ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92D38D8-ED88-4C89-BC7A-C5D9E7F2C1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6296" y="128181"/>
            <a:ext cx="1875708" cy="864739"/>
          </a:xfrm>
          <a:prstGeom prst="rect">
            <a:avLst/>
          </a:prstGeom>
        </p:spPr>
      </p:pic>
      <p:pic>
        <p:nvPicPr>
          <p:cNvPr id="13" name="Picture 12">
            <a:extLst>
              <a:ext uri="{FF2B5EF4-FFF2-40B4-BE49-F238E27FC236}">
                <a16:creationId xmlns:a16="http://schemas.microsoft.com/office/drawing/2014/main" id="{503F2A8B-40F2-45D9-812D-E7E3A7DF8D62}"/>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14" name="TextBox 13">
            <a:extLst>
              <a:ext uri="{FF2B5EF4-FFF2-40B4-BE49-F238E27FC236}">
                <a16:creationId xmlns:a16="http://schemas.microsoft.com/office/drawing/2014/main" id="{592DB329-810F-4F59-B70D-E045D2C6C5FC}"/>
              </a:ext>
            </a:extLst>
          </p:cNvPr>
          <p:cNvSpPr txBox="1"/>
          <p:nvPr userDrawn="1"/>
        </p:nvSpPr>
        <p:spPr>
          <a:xfrm>
            <a:off x="35509" y="730693"/>
            <a:ext cx="10073899" cy="461665"/>
          </a:xfrm>
          <a:prstGeom prst="rect">
            <a:avLst/>
          </a:prstGeom>
          <a:noFill/>
        </p:spPr>
        <p:txBody>
          <a:bodyPr wrap="square">
            <a:spAutoFit/>
          </a:bodyPr>
          <a:lstStyle/>
          <a:p>
            <a:r>
              <a:rPr lang="en-US" sz="2400" b="0" i="0" u="none" dirty="0">
                <a:latin typeface="Gotham" panose="02000504050000020004" pitchFamily="2" charset="0"/>
              </a:rPr>
              <a:t>Thank you to ALL of our sponsors! - Be sure to stop by all tables!</a:t>
            </a:r>
          </a:p>
        </p:txBody>
      </p:sp>
      <p:sp>
        <p:nvSpPr>
          <p:cNvPr id="18" name="TextBox 17">
            <a:extLst>
              <a:ext uri="{FF2B5EF4-FFF2-40B4-BE49-F238E27FC236}">
                <a16:creationId xmlns:a16="http://schemas.microsoft.com/office/drawing/2014/main" id="{86A4D34E-D493-4B03-A56E-BAFC141F2F93}"/>
              </a:ext>
            </a:extLst>
          </p:cNvPr>
          <p:cNvSpPr txBox="1"/>
          <p:nvPr userDrawn="1"/>
        </p:nvSpPr>
        <p:spPr>
          <a:xfrm>
            <a:off x="46073" y="5286068"/>
            <a:ext cx="1323172" cy="461665"/>
          </a:xfrm>
          <a:prstGeom prst="rect">
            <a:avLst/>
          </a:prstGeom>
          <a:noFill/>
        </p:spPr>
        <p:txBody>
          <a:bodyPr wrap="square">
            <a:spAutoFit/>
          </a:bodyPr>
          <a:lstStyle/>
          <a:p>
            <a:r>
              <a:rPr lang="en-US" sz="2400" b="0" i="0" u="none" dirty="0">
                <a:solidFill>
                  <a:srgbClr val="CC6633"/>
                </a:solidFill>
                <a:latin typeface="Gotham" panose="02000504050000020004" pitchFamily="2" charset="0"/>
              </a:rPr>
              <a:t>In-Kind</a:t>
            </a:r>
          </a:p>
        </p:txBody>
      </p:sp>
      <p:pic>
        <p:nvPicPr>
          <p:cNvPr id="41" name="Picture 40">
            <a:extLst>
              <a:ext uri="{FF2B5EF4-FFF2-40B4-BE49-F238E27FC236}">
                <a16:creationId xmlns:a16="http://schemas.microsoft.com/office/drawing/2014/main" id="{B25B006C-A891-446E-B5CC-7291B0F16EB0}"/>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44" name="Picture 43">
            <a:extLst>
              <a:ext uri="{FF2B5EF4-FFF2-40B4-BE49-F238E27FC236}">
                <a16:creationId xmlns:a16="http://schemas.microsoft.com/office/drawing/2014/main" id="{584B8908-E4F2-44DB-ABE1-A17625A2634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5760" y="5840197"/>
            <a:ext cx="1934747" cy="350673"/>
          </a:xfrm>
          <a:prstGeom prst="rect">
            <a:avLst/>
          </a:prstGeom>
        </p:spPr>
      </p:pic>
      <p:sp>
        <p:nvSpPr>
          <p:cNvPr id="46" name="Rectangle 45">
            <a:extLst>
              <a:ext uri="{FF2B5EF4-FFF2-40B4-BE49-F238E27FC236}">
                <a16:creationId xmlns:a16="http://schemas.microsoft.com/office/drawing/2014/main" id="{6A1D68F3-7CD2-4387-81DE-94AB14045170}"/>
              </a:ext>
            </a:extLst>
          </p:cNvPr>
          <p:cNvSpPr/>
          <p:nvPr userDrawn="1"/>
        </p:nvSpPr>
        <p:spPr>
          <a:xfrm>
            <a:off x="6182412" y="2831583"/>
            <a:ext cx="5963515" cy="3898236"/>
          </a:xfrm>
          <a:custGeom>
            <a:avLst/>
            <a:gdLst>
              <a:gd name="connsiteX0" fmla="*/ 0 w 5963515"/>
              <a:gd name="connsiteY0" fmla="*/ 0 h 3898236"/>
              <a:gd name="connsiteX1" fmla="*/ 536716 w 5963515"/>
              <a:gd name="connsiteY1" fmla="*/ 0 h 3898236"/>
              <a:gd name="connsiteX2" fmla="*/ 954162 w 5963515"/>
              <a:gd name="connsiteY2" fmla="*/ 0 h 3898236"/>
              <a:gd name="connsiteX3" fmla="*/ 1669784 w 5963515"/>
              <a:gd name="connsiteY3" fmla="*/ 0 h 3898236"/>
              <a:gd name="connsiteX4" fmla="*/ 2206501 w 5963515"/>
              <a:gd name="connsiteY4" fmla="*/ 0 h 3898236"/>
              <a:gd name="connsiteX5" fmla="*/ 2743217 w 5963515"/>
              <a:gd name="connsiteY5" fmla="*/ 0 h 3898236"/>
              <a:gd name="connsiteX6" fmla="*/ 3458839 w 5963515"/>
              <a:gd name="connsiteY6" fmla="*/ 0 h 3898236"/>
              <a:gd name="connsiteX7" fmla="*/ 3935920 w 5963515"/>
              <a:gd name="connsiteY7" fmla="*/ 0 h 3898236"/>
              <a:gd name="connsiteX8" fmla="*/ 4651542 w 5963515"/>
              <a:gd name="connsiteY8" fmla="*/ 0 h 3898236"/>
              <a:gd name="connsiteX9" fmla="*/ 5367164 w 5963515"/>
              <a:gd name="connsiteY9" fmla="*/ 0 h 3898236"/>
              <a:gd name="connsiteX10" fmla="*/ 5963515 w 5963515"/>
              <a:gd name="connsiteY10" fmla="*/ 0 h 3898236"/>
              <a:gd name="connsiteX11" fmla="*/ 5963515 w 5963515"/>
              <a:gd name="connsiteY11" fmla="*/ 634856 h 3898236"/>
              <a:gd name="connsiteX12" fmla="*/ 5963515 w 5963515"/>
              <a:gd name="connsiteY12" fmla="*/ 1230729 h 3898236"/>
              <a:gd name="connsiteX13" fmla="*/ 5963515 w 5963515"/>
              <a:gd name="connsiteY13" fmla="*/ 1670673 h 3898236"/>
              <a:gd name="connsiteX14" fmla="*/ 5963515 w 5963515"/>
              <a:gd name="connsiteY14" fmla="*/ 2227563 h 3898236"/>
              <a:gd name="connsiteX15" fmla="*/ 5963515 w 5963515"/>
              <a:gd name="connsiteY15" fmla="*/ 2784454 h 3898236"/>
              <a:gd name="connsiteX16" fmla="*/ 5963515 w 5963515"/>
              <a:gd name="connsiteY16" fmla="*/ 3341345 h 3898236"/>
              <a:gd name="connsiteX17" fmla="*/ 5963515 w 5963515"/>
              <a:gd name="connsiteY17" fmla="*/ 3898236 h 3898236"/>
              <a:gd name="connsiteX18" fmla="*/ 5307528 w 5963515"/>
              <a:gd name="connsiteY18" fmla="*/ 3898236 h 3898236"/>
              <a:gd name="connsiteX19" fmla="*/ 4890082 w 5963515"/>
              <a:gd name="connsiteY19" fmla="*/ 3898236 h 3898236"/>
              <a:gd name="connsiteX20" fmla="*/ 4413001 w 5963515"/>
              <a:gd name="connsiteY20" fmla="*/ 3898236 h 3898236"/>
              <a:gd name="connsiteX21" fmla="*/ 3697379 w 5963515"/>
              <a:gd name="connsiteY21" fmla="*/ 3898236 h 3898236"/>
              <a:gd name="connsiteX22" fmla="*/ 3101028 w 5963515"/>
              <a:gd name="connsiteY22" fmla="*/ 3898236 h 3898236"/>
              <a:gd name="connsiteX23" fmla="*/ 2623947 w 5963515"/>
              <a:gd name="connsiteY23" fmla="*/ 3898236 h 3898236"/>
              <a:gd name="connsiteX24" fmla="*/ 2027595 w 5963515"/>
              <a:gd name="connsiteY24" fmla="*/ 3898236 h 3898236"/>
              <a:gd name="connsiteX25" fmla="*/ 1610149 w 5963515"/>
              <a:gd name="connsiteY25" fmla="*/ 3898236 h 3898236"/>
              <a:gd name="connsiteX26" fmla="*/ 1192703 w 5963515"/>
              <a:gd name="connsiteY26" fmla="*/ 3898236 h 3898236"/>
              <a:gd name="connsiteX27" fmla="*/ 596351 w 5963515"/>
              <a:gd name="connsiteY27" fmla="*/ 3898236 h 3898236"/>
              <a:gd name="connsiteX28" fmla="*/ 0 w 5963515"/>
              <a:gd name="connsiteY28" fmla="*/ 3898236 h 3898236"/>
              <a:gd name="connsiteX29" fmla="*/ 0 w 5963515"/>
              <a:gd name="connsiteY29" fmla="*/ 3302363 h 3898236"/>
              <a:gd name="connsiteX30" fmla="*/ 0 w 5963515"/>
              <a:gd name="connsiteY30" fmla="*/ 2784454 h 3898236"/>
              <a:gd name="connsiteX31" fmla="*/ 0 w 5963515"/>
              <a:gd name="connsiteY31" fmla="*/ 2344511 h 3898236"/>
              <a:gd name="connsiteX32" fmla="*/ 0 w 5963515"/>
              <a:gd name="connsiteY32" fmla="*/ 1748637 h 3898236"/>
              <a:gd name="connsiteX33" fmla="*/ 0 w 5963515"/>
              <a:gd name="connsiteY33" fmla="*/ 1269711 h 3898236"/>
              <a:gd name="connsiteX34" fmla="*/ 0 w 5963515"/>
              <a:gd name="connsiteY34" fmla="*/ 673838 h 3898236"/>
              <a:gd name="connsiteX35" fmla="*/ 0 w 5963515"/>
              <a:gd name="connsiteY35" fmla="*/ 0 h 389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63515" h="3898236" extrusionOk="0">
                <a:moveTo>
                  <a:pt x="0" y="0"/>
                </a:moveTo>
                <a:cubicBezTo>
                  <a:pt x="144554" y="-19548"/>
                  <a:pt x="405580" y="17578"/>
                  <a:pt x="536716" y="0"/>
                </a:cubicBezTo>
                <a:cubicBezTo>
                  <a:pt x="667852" y="-17578"/>
                  <a:pt x="857964" y="39767"/>
                  <a:pt x="954162" y="0"/>
                </a:cubicBezTo>
                <a:cubicBezTo>
                  <a:pt x="1050360" y="-39767"/>
                  <a:pt x="1519473" y="78278"/>
                  <a:pt x="1669784" y="0"/>
                </a:cubicBezTo>
                <a:cubicBezTo>
                  <a:pt x="1820095" y="-78278"/>
                  <a:pt x="2001596" y="62816"/>
                  <a:pt x="2206501" y="0"/>
                </a:cubicBezTo>
                <a:cubicBezTo>
                  <a:pt x="2411406" y="-62816"/>
                  <a:pt x="2529160" y="42197"/>
                  <a:pt x="2743217" y="0"/>
                </a:cubicBezTo>
                <a:cubicBezTo>
                  <a:pt x="2957274" y="-42197"/>
                  <a:pt x="3243636" y="2839"/>
                  <a:pt x="3458839" y="0"/>
                </a:cubicBezTo>
                <a:cubicBezTo>
                  <a:pt x="3674042" y="-2839"/>
                  <a:pt x="3819535" y="45395"/>
                  <a:pt x="3935920" y="0"/>
                </a:cubicBezTo>
                <a:cubicBezTo>
                  <a:pt x="4052305" y="-45395"/>
                  <a:pt x="4363605" y="8637"/>
                  <a:pt x="4651542" y="0"/>
                </a:cubicBezTo>
                <a:cubicBezTo>
                  <a:pt x="4939479" y="-8637"/>
                  <a:pt x="5163973" y="38039"/>
                  <a:pt x="5367164" y="0"/>
                </a:cubicBezTo>
                <a:cubicBezTo>
                  <a:pt x="5570355" y="-38039"/>
                  <a:pt x="5677470" y="47623"/>
                  <a:pt x="5963515" y="0"/>
                </a:cubicBezTo>
                <a:cubicBezTo>
                  <a:pt x="6038839" y="171341"/>
                  <a:pt x="5961755" y="482885"/>
                  <a:pt x="5963515" y="634856"/>
                </a:cubicBezTo>
                <a:cubicBezTo>
                  <a:pt x="5965275" y="786827"/>
                  <a:pt x="5957932" y="985707"/>
                  <a:pt x="5963515" y="1230729"/>
                </a:cubicBezTo>
                <a:cubicBezTo>
                  <a:pt x="5969098" y="1475751"/>
                  <a:pt x="5946266" y="1490194"/>
                  <a:pt x="5963515" y="1670673"/>
                </a:cubicBezTo>
                <a:cubicBezTo>
                  <a:pt x="5980764" y="1851152"/>
                  <a:pt x="5918696" y="1969958"/>
                  <a:pt x="5963515" y="2227563"/>
                </a:cubicBezTo>
                <a:cubicBezTo>
                  <a:pt x="6008334" y="2485168"/>
                  <a:pt x="5951268" y="2563129"/>
                  <a:pt x="5963515" y="2784454"/>
                </a:cubicBezTo>
                <a:cubicBezTo>
                  <a:pt x="5975762" y="3005779"/>
                  <a:pt x="5953848" y="3092029"/>
                  <a:pt x="5963515" y="3341345"/>
                </a:cubicBezTo>
                <a:cubicBezTo>
                  <a:pt x="5973182" y="3590661"/>
                  <a:pt x="5957327" y="3644247"/>
                  <a:pt x="5963515" y="3898236"/>
                </a:cubicBezTo>
                <a:cubicBezTo>
                  <a:pt x="5748301" y="3942273"/>
                  <a:pt x="5612096" y="3849992"/>
                  <a:pt x="5307528" y="3898236"/>
                </a:cubicBezTo>
                <a:cubicBezTo>
                  <a:pt x="5002960" y="3946480"/>
                  <a:pt x="5016934" y="3887409"/>
                  <a:pt x="4890082" y="3898236"/>
                </a:cubicBezTo>
                <a:cubicBezTo>
                  <a:pt x="4763230" y="3909063"/>
                  <a:pt x="4537390" y="3859034"/>
                  <a:pt x="4413001" y="3898236"/>
                </a:cubicBezTo>
                <a:cubicBezTo>
                  <a:pt x="4288612" y="3937438"/>
                  <a:pt x="3903731" y="3866502"/>
                  <a:pt x="3697379" y="3898236"/>
                </a:cubicBezTo>
                <a:cubicBezTo>
                  <a:pt x="3491027" y="3929970"/>
                  <a:pt x="3261022" y="3879330"/>
                  <a:pt x="3101028" y="3898236"/>
                </a:cubicBezTo>
                <a:cubicBezTo>
                  <a:pt x="2941034" y="3917142"/>
                  <a:pt x="2737043" y="3870151"/>
                  <a:pt x="2623947" y="3898236"/>
                </a:cubicBezTo>
                <a:cubicBezTo>
                  <a:pt x="2510851" y="3926321"/>
                  <a:pt x="2210542" y="3872974"/>
                  <a:pt x="2027595" y="3898236"/>
                </a:cubicBezTo>
                <a:cubicBezTo>
                  <a:pt x="1844648" y="3923498"/>
                  <a:pt x="1817037" y="3851881"/>
                  <a:pt x="1610149" y="3898236"/>
                </a:cubicBezTo>
                <a:cubicBezTo>
                  <a:pt x="1403261" y="3944591"/>
                  <a:pt x="1280853" y="3881219"/>
                  <a:pt x="1192703" y="3898236"/>
                </a:cubicBezTo>
                <a:cubicBezTo>
                  <a:pt x="1104553" y="3915253"/>
                  <a:pt x="805409" y="3844669"/>
                  <a:pt x="596351" y="3898236"/>
                </a:cubicBezTo>
                <a:cubicBezTo>
                  <a:pt x="387293" y="3951803"/>
                  <a:pt x="142140" y="3889775"/>
                  <a:pt x="0" y="3898236"/>
                </a:cubicBezTo>
                <a:cubicBezTo>
                  <a:pt x="-28578" y="3654604"/>
                  <a:pt x="28873" y="3537643"/>
                  <a:pt x="0" y="3302363"/>
                </a:cubicBezTo>
                <a:cubicBezTo>
                  <a:pt x="-28873" y="3067083"/>
                  <a:pt x="6125" y="3005907"/>
                  <a:pt x="0" y="2784454"/>
                </a:cubicBezTo>
                <a:cubicBezTo>
                  <a:pt x="-6125" y="2563001"/>
                  <a:pt x="6374" y="2473839"/>
                  <a:pt x="0" y="2344511"/>
                </a:cubicBezTo>
                <a:cubicBezTo>
                  <a:pt x="-6374" y="2215183"/>
                  <a:pt x="47666" y="1968032"/>
                  <a:pt x="0" y="1748637"/>
                </a:cubicBezTo>
                <a:cubicBezTo>
                  <a:pt x="-47666" y="1529242"/>
                  <a:pt x="34129" y="1376452"/>
                  <a:pt x="0" y="1269711"/>
                </a:cubicBezTo>
                <a:cubicBezTo>
                  <a:pt x="-34129" y="1162970"/>
                  <a:pt x="16841" y="880092"/>
                  <a:pt x="0" y="673838"/>
                </a:cubicBezTo>
                <a:cubicBezTo>
                  <a:pt x="-16841" y="467584"/>
                  <a:pt x="76620" y="196766"/>
                  <a:pt x="0" y="0"/>
                </a:cubicBezTo>
                <a:close/>
              </a:path>
            </a:pathLst>
          </a:custGeom>
          <a:noFill/>
          <a:ln cap="flat" cmpd="sng">
            <a:solidFill>
              <a:srgbClr val="C0C0C0"/>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48" name="Rectangle 47">
            <a:extLst>
              <a:ext uri="{FF2B5EF4-FFF2-40B4-BE49-F238E27FC236}">
                <a16:creationId xmlns:a16="http://schemas.microsoft.com/office/drawing/2014/main" id="{842A3693-7B0F-4200-BC62-7C3C7D13D5E5}"/>
              </a:ext>
            </a:extLst>
          </p:cNvPr>
          <p:cNvSpPr/>
          <p:nvPr userDrawn="1"/>
        </p:nvSpPr>
        <p:spPr>
          <a:xfrm>
            <a:off x="80088" y="5351408"/>
            <a:ext cx="5863426" cy="1218487"/>
          </a:xfrm>
          <a:custGeom>
            <a:avLst/>
            <a:gdLst>
              <a:gd name="connsiteX0" fmla="*/ 0 w 5863426"/>
              <a:gd name="connsiteY0" fmla="*/ 0 h 1218487"/>
              <a:gd name="connsiteX1" fmla="*/ 527708 w 5863426"/>
              <a:gd name="connsiteY1" fmla="*/ 0 h 1218487"/>
              <a:gd name="connsiteX2" fmla="*/ 938148 w 5863426"/>
              <a:gd name="connsiteY2" fmla="*/ 0 h 1218487"/>
              <a:gd name="connsiteX3" fmla="*/ 1641759 w 5863426"/>
              <a:gd name="connsiteY3" fmla="*/ 0 h 1218487"/>
              <a:gd name="connsiteX4" fmla="*/ 2169468 w 5863426"/>
              <a:gd name="connsiteY4" fmla="*/ 0 h 1218487"/>
              <a:gd name="connsiteX5" fmla="*/ 2697176 w 5863426"/>
              <a:gd name="connsiteY5" fmla="*/ 0 h 1218487"/>
              <a:gd name="connsiteX6" fmla="*/ 3400787 w 5863426"/>
              <a:gd name="connsiteY6" fmla="*/ 0 h 1218487"/>
              <a:gd name="connsiteX7" fmla="*/ 3869861 w 5863426"/>
              <a:gd name="connsiteY7" fmla="*/ 0 h 1218487"/>
              <a:gd name="connsiteX8" fmla="*/ 4573472 w 5863426"/>
              <a:gd name="connsiteY8" fmla="*/ 0 h 1218487"/>
              <a:gd name="connsiteX9" fmla="*/ 5277083 w 5863426"/>
              <a:gd name="connsiteY9" fmla="*/ 0 h 1218487"/>
              <a:gd name="connsiteX10" fmla="*/ 5863426 w 5863426"/>
              <a:gd name="connsiteY10" fmla="*/ 0 h 1218487"/>
              <a:gd name="connsiteX11" fmla="*/ 5863426 w 5863426"/>
              <a:gd name="connsiteY11" fmla="*/ 430532 h 1218487"/>
              <a:gd name="connsiteX12" fmla="*/ 5863426 w 5863426"/>
              <a:gd name="connsiteY12" fmla="*/ 848879 h 1218487"/>
              <a:gd name="connsiteX13" fmla="*/ 5863426 w 5863426"/>
              <a:gd name="connsiteY13" fmla="*/ 1218487 h 1218487"/>
              <a:gd name="connsiteX14" fmla="*/ 5277083 w 5863426"/>
              <a:gd name="connsiteY14" fmla="*/ 1218487 h 1218487"/>
              <a:gd name="connsiteX15" fmla="*/ 4808009 w 5863426"/>
              <a:gd name="connsiteY15" fmla="*/ 1218487 h 1218487"/>
              <a:gd name="connsiteX16" fmla="*/ 4221667 w 5863426"/>
              <a:gd name="connsiteY16" fmla="*/ 1218487 h 1218487"/>
              <a:gd name="connsiteX17" fmla="*/ 3518056 w 5863426"/>
              <a:gd name="connsiteY17" fmla="*/ 1218487 h 1218487"/>
              <a:gd name="connsiteX18" fmla="*/ 2931713 w 5863426"/>
              <a:gd name="connsiteY18" fmla="*/ 1218487 h 1218487"/>
              <a:gd name="connsiteX19" fmla="*/ 2521273 w 5863426"/>
              <a:gd name="connsiteY19" fmla="*/ 1218487 h 1218487"/>
              <a:gd name="connsiteX20" fmla="*/ 2052199 w 5863426"/>
              <a:gd name="connsiteY20" fmla="*/ 1218487 h 1218487"/>
              <a:gd name="connsiteX21" fmla="*/ 1348588 w 5863426"/>
              <a:gd name="connsiteY21" fmla="*/ 1218487 h 1218487"/>
              <a:gd name="connsiteX22" fmla="*/ 762245 w 5863426"/>
              <a:gd name="connsiteY22" fmla="*/ 1218487 h 1218487"/>
              <a:gd name="connsiteX23" fmla="*/ 0 w 5863426"/>
              <a:gd name="connsiteY23" fmla="*/ 1218487 h 1218487"/>
              <a:gd name="connsiteX24" fmla="*/ 0 w 5863426"/>
              <a:gd name="connsiteY24" fmla="*/ 812325 h 1218487"/>
              <a:gd name="connsiteX25" fmla="*/ 0 w 5863426"/>
              <a:gd name="connsiteY25" fmla="*/ 442717 h 1218487"/>
              <a:gd name="connsiteX26" fmla="*/ 0 w 5863426"/>
              <a:gd name="connsiteY26" fmla="*/ 0 h 121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63426" h="1218487" extrusionOk="0">
                <a:moveTo>
                  <a:pt x="0" y="0"/>
                </a:moveTo>
                <a:cubicBezTo>
                  <a:pt x="186281" y="-21929"/>
                  <a:pt x="330291" y="6142"/>
                  <a:pt x="527708" y="0"/>
                </a:cubicBezTo>
                <a:cubicBezTo>
                  <a:pt x="725125" y="-6142"/>
                  <a:pt x="754136" y="2091"/>
                  <a:pt x="938148" y="0"/>
                </a:cubicBezTo>
                <a:cubicBezTo>
                  <a:pt x="1122160" y="-2091"/>
                  <a:pt x="1433094" y="65490"/>
                  <a:pt x="1641759" y="0"/>
                </a:cubicBezTo>
                <a:cubicBezTo>
                  <a:pt x="1850424" y="-65490"/>
                  <a:pt x="1999983" y="51200"/>
                  <a:pt x="2169468" y="0"/>
                </a:cubicBezTo>
                <a:cubicBezTo>
                  <a:pt x="2338953" y="-51200"/>
                  <a:pt x="2531099" y="4092"/>
                  <a:pt x="2697176" y="0"/>
                </a:cubicBezTo>
                <a:cubicBezTo>
                  <a:pt x="2863253" y="-4092"/>
                  <a:pt x="3242908" y="83120"/>
                  <a:pt x="3400787" y="0"/>
                </a:cubicBezTo>
                <a:cubicBezTo>
                  <a:pt x="3558666" y="-83120"/>
                  <a:pt x="3690587" y="26215"/>
                  <a:pt x="3869861" y="0"/>
                </a:cubicBezTo>
                <a:cubicBezTo>
                  <a:pt x="4049135" y="-26215"/>
                  <a:pt x="4368339" y="43137"/>
                  <a:pt x="4573472" y="0"/>
                </a:cubicBezTo>
                <a:cubicBezTo>
                  <a:pt x="4778605" y="-43137"/>
                  <a:pt x="4993465" y="8910"/>
                  <a:pt x="5277083" y="0"/>
                </a:cubicBezTo>
                <a:cubicBezTo>
                  <a:pt x="5560701" y="-8910"/>
                  <a:pt x="5607980" y="43037"/>
                  <a:pt x="5863426" y="0"/>
                </a:cubicBezTo>
                <a:cubicBezTo>
                  <a:pt x="5865297" y="95378"/>
                  <a:pt x="5847016" y="263758"/>
                  <a:pt x="5863426" y="430532"/>
                </a:cubicBezTo>
                <a:cubicBezTo>
                  <a:pt x="5879836" y="597306"/>
                  <a:pt x="5851466" y="755116"/>
                  <a:pt x="5863426" y="848879"/>
                </a:cubicBezTo>
                <a:cubicBezTo>
                  <a:pt x="5875386" y="942642"/>
                  <a:pt x="5861335" y="1085478"/>
                  <a:pt x="5863426" y="1218487"/>
                </a:cubicBezTo>
                <a:cubicBezTo>
                  <a:pt x="5608805" y="1251579"/>
                  <a:pt x="5403703" y="1210324"/>
                  <a:pt x="5277083" y="1218487"/>
                </a:cubicBezTo>
                <a:cubicBezTo>
                  <a:pt x="5150463" y="1226650"/>
                  <a:pt x="5004786" y="1214831"/>
                  <a:pt x="4808009" y="1218487"/>
                </a:cubicBezTo>
                <a:cubicBezTo>
                  <a:pt x="4611232" y="1222143"/>
                  <a:pt x="4396301" y="1210136"/>
                  <a:pt x="4221667" y="1218487"/>
                </a:cubicBezTo>
                <a:cubicBezTo>
                  <a:pt x="4047033" y="1226838"/>
                  <a:pt x="3742191" y="1181985"/>
                  <a:pt x="3518056" y="1218487"/>
                </a:cubicBezTo>
                <a:cubicBezTo>
                  <a:pt x="3293921" y="1254989"/>
                  <a:pt x="3224420" y="1156314"/>
                  <a:pt x="2931713" y="1218487"/>
                </a:cubicBezTo>
                <a:cubicBezTo>
                  <a:pt x="2639006" y="1280660"/>
                  <a:pt x="2672343" y="1209319"/>
                  <a:pt x="2521273" y="1218487"/>
                </a:cubicBezTo>
                <a:cubicBezTo>
                  <a:pt x="2370203" y="1227655"/>
                  <a:pt x="2214639" y="1183195"/>
                  <a:pt x="2052199" y="1218487"/>
                </a:cubicBezTo>
                <a:cubicBezTo>
                  <a:pt x="1889759" y="1253779"/>
                  <a:pt x="1529098" y="1215856"/>
                  <a:pt x="1348588" y="1218487"/>
                </a:cubicBezTo>
                <a:cubicBezTo>
                  <a:pt x="1168078" y="1221118"/>
                  <a:pt x="1011867" y="1208175"/>
                  <a:pt x="762245" y="1218487"/>
                </a:cubicBezTo>
                <a:cubicBezTo>
                  <a:pt x="512623" y="1228799"/>
                  <a:pt x="297946" y="1190056"/>
                  <a:pt x="0" y="1218487"/>
                </a:cubicBezTo>
                <a:cubicBezTo>
                  <a:pt x="-15736" y="1116803"/>
                  <a:pt x="46490" y="989589"/>
                  <a:pt x="0" y="812325"/>
                </a:cubicBezTo>
                <a:cubicBezTo>
                  <a:pt x="-46490" y="635061"/>
                  <a:pt x="5243" y="614579"/>
                  <a:pt x="0" y="442717"/>
                </a:cubicBezTo>
                <a:cubicBezTo>
                  <a:pt x="-5243" y="270855"/>
                  <a:pt x="19866" y="153218"/>
                  <a:pt x="0" y="0"/>
                </a:cubicBezTo>
                <a:close/>
              </a:path>
            </a:pathLst>
          </a:custGeom>
          <a:noFill/>
          <a:ln cap="flat" cmpd="sng">
            <a:solidFill>
              <a:srgbClr val="CC6633"/>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pic>
        <p:nvPicPr>
          <p:cNvPr id="57" name="Picture 56" descr="A black background with blue text&#10;&#10;Description automatically generated">
            <a:extLst>
              <a:ext uri="{FF2B5EF4-FFF2-40B4-BE49-F238E27FC236}">
                <a16:creationId xmlns:a16="http://schemas.microsoft.com/office/drawing/2014/main" id="{B994BF58-DDD9-EE7D-F209-EB9987813EC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4472" y="1168628"/>
            <a:ext cx="3842731" cy="1508903"/>
          </a:xfrm>
          <a:prstGeom prst="rect">
            <a:avLst/>
          </a:prstGeom>
        </p:spPr>
      </p:pic>
      <p:sp>
        <p:nvSpPr>
          <p:cNvPr id="16" name="TextBox 15">
            <a:extLst>
              <a:ext uri="{FF2B5EF4-FFF2-40B4-BE49-F238E27FC236}">
                <a16:creationId xmlns:a16="http://schemas.microsoft.com/office/drawing/2014/main" id="{B983FF6E-139D-4093-BF93-E25CDA2B9D4E}"/>
              </a:ext>
            </a:extLst>
          </p:cNvPr>
          <p:cNvSpPr txBox="1"/>
          <p:nvPr userDrawn="1"/>
        </p:nvSpPr>
        <p:spPr>
          <a:xfrm>
            <a:off x="4953558" y="2757496"/>
            <a:ext cx="989956" cy="461665"/>
          </a:xfrm>
          <a:prstGeom prst="rect">
            <a:avLst/>
          </a:prstGeom>
          <a:noFill/>
        </p:spPr>
        <p:txBody>
          <a:bodyPr wrap="square">
            <a:spAutoFit/>
          </a:bodyPr>
          <a:lstStyle/>
          <a:p>
            <a:pPr algn="ctr"/>
            <a:r>
              <a:rPr lang="en-US" sz="2400" b="0" i="0" u="none" dirty="0">
                <a:solidFill>
                  <a:srgbClr val="FFD700"/>
                </a:solidFill>
                <a:latin typeface="Gotham" panose="02000504050000020004" pitchFamily="2" charset="0"/>
              </a:rPr>
              <a:t>Gold</a:t>
            </a:r>
          </a:p>
        </p:txBody>
      </p:sp>
      <p:sp>
        <p:nvSpPr>
          <p:cNvPr id="45" name="Rectangle 44">
            <a:extLst>
              <a:ext uri="{FF2B5EF4-FFF2-40B4-BE49-F238E27FC236}">
                <a16:creationId xmlns:a16="http://schemas.microsoft.com/office/drawing/2014/main" id="{F82B2208-958A-46F7-860B-8AE33ECBE0CD}"/>
              </a:ext>
            </a:extLst>
          </p:cNvPr>
          <p:cNvSpPr/>
          <p:nvPr userDrawn="1"/>
        </p:nvSpPr>
        <p:spPr>
          <a:xfrm>
            <a:off x="93403" y="2796477"/>
            <a:ext cx="5781977" cy="2187201"/>
          </a:xfrm>
          <a:custGeom>
            <a:avLst/>
            <a:gdLst>
              <a:gd name="connsiteX0" fmla="*/ 0 w 5781977"/>
              <a:gd name="connsiteY0" fmla="*/ 0 h 2187201"/>
              <a:gd name="connsiteX1" fmla="*/ 520378 w 5781977"/>
              <a:gd name="connsiteY1" fmla="*/ 0 h 2187201"/>
              <a:gd name="connsiteX2" fmla="*/ 925116 w 5781977"/>
              <a:gd name="connsiteY2" fmla="*/ 0 h 2187201"/>
              <a:gd name="connsiteX3" fmla="*/ 1618954 w 5781977"/>
              <a:gd name="connsiteY3" fmla="*/ 0 h 2187201"/>
              <a:gd name="connsiteX4" fmla="*/ 2139331 w 5781977"/>
              <a:gd name="connsiteY4" fmla="*/ 0 h 2187201"/>
              <a:gd name="connsiteX5" fmla="*/ 2659709 w 5781977"/>
              <a:gd name="connsiteY5" fmla="*/ 0 h 2187201"/>
              <a:gd name="connsiteX6" fmla="*/ 3353547 w 5781977"/>
              <a:gd name="connsiteY6" fmla="*/ 0 h 2187201"/>
              <a:gd name="connsiteX7" fmla="*/ 3816105 w 5781977"/>
              <a:gd name="connsiteY7" fmla="*/ 0 h 2187201"/>
              <a:gd name="connsiteX8" fmla="*/ 4509942 w 5781977"/>
              <a:gd name="connsiteY8" fmla="*/ 0 h 2187201"/>
              <a:gd name="connsiteX9" fmla="*/ 5203779 w 5781977"/>
              <a:gd name="connsiteY9" fmla="*/ 0 h 2187201"/>
              <a:gd name="connsiteX10" fmla="*/ 5781977 w 5781977"/>
              <a:gd name="connsiteY10" fmla="*/ 0 h 2187201"/>
              <a:gd name="connsiteX11" fmla="*/ 5781977 w 5781977"/>
              <a:gd name="connsiteY11" fmla="*/ 590544 h 2187201"/>
              <a:gd name="connsiteX12" fmla="*/ 5781977 w 5781977"/>
              <a:gd name="connsiteY12" fmla="*/ 1159217 h 2187201"/>
              <a:gd name="connsiteX13" fmla="*/ 5781977 w 5781977"/>
              <a:gd name="connsiteY13" fmla="*/ 1640401 h 2187201"/>
              <a:gd name="connsiteX14" fmla="*/ 5781977 w 5781977"/>
              <a:gd name="connsiteY14" fmla="*/ 2187201 h 2187201"/>
              <a:gd name="connsiteX15" fmla="*/ 5203779 w 5781977"/>
              <a:gd name="connsiteY15" fmla="*/ 2187201 h 2187201"/>
              <a:gd name="connsiteX16" fmla="*/ 4625582 w 5781977"/>
              <a:gd name="connsiteY16" fmla="*/ 2187201 h 2187201"/>
              <a:gd name="connsiteX17" fmla="*/ 3931744 w 5781977"/>
              <a:gd name="connsiteY17" fmla="*/ 2187201 h 2187201"/>
              <a:gd name="connsiteX18" fmla="*/ 3353547 w 5781977"/>
              <a:gd name="connsiteY18" fmla="*/ 2187201 h 2187201"/>
              <a:gd name="connsiteX19" fmla="*/ 2948808 w 5781977"/>
              <a:gd name="connsiteY19" fmla="*/ 2187201 h 2187201"/>
              <a:gd name="connsiteX20" fmla="*/ 2486250 w 5781977"/>
              <a:gd name="connsiteY20" fmla="*/ 2187201 h 2187201"/>
              <a:gd name="connsiteX21" fmla="*/ 1792413 w 5781977"/>
              <a:gd name="connsiteY21" fmla="*/ 2187201 h 2187201"/>
              <a:gd name="connsiteX22" fmla="*/ 1214215 w 5781977"/>
              <a:gd name="connsiteY22" fmla="*/ 2187201 h 2187201"/>
              <a:gd name="connsiteX23" fmla="*/ 751657 w 5781977"/>
              <a:gd name="connsiteY23" fmla="*/ 2187201 h 2187201"/>
              <a:gd name="connsiteX24" fmla="*/ 0 w 5781977"/>
              <a:gd name="connsiteY24" fmla="*/ 2187201 h 2187201"/>
              <a:gd name="connsiteX25" fmla="*/ 0 w 5781977"/>
              <a:gd name="connsiteY25" fmla="*/ 1706017 h 2187201"/>
              <a:gd name="connsiteX26" fmla="*/ 0 w 5781977"/>
              <a:gd name="connsiteY26" fmla="*/ 1224833 h 2187201"/>
              <a:gd name="connsiteX27" fmla="*/ 0 w 5781977"/>
              <a:gd name="connsiteY27" fmla="*/ 656160 h 2187201"/>
              <a:gd name="connsiteX28" fmla="*/ 0 w 5781977"/>
              <a:gd name="connsiteY28" fmla="*/ 0 h 218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781977" h="2187201" extrusionOk="0">
                <a:moveTo>
                  <a:pt x="0" y="0"/>
                </a:moveTo>
                <a:cubicBezTo>
                  <a:pt x="186436" y="-24274"/>
                  <a:pt x="324331" y="19517"/>
                  <a:pt x="520378" y="0"/>
                </a:cubicBezTo>
                <a:cubicBezTo>
                  <a:pt x="716425" y="-19517"/>
                  <a:pt x="770404" y="13830"/>
                  <a:pt x="925116" y="0"/>
                </a:cubicBezTo>
                <a:cubicBezTo>
                  <a:pt x="1079828" y="-13830"/>
                  <a:pt x="1442838" y="11087"/>
                  <a:pt x="1618954" y="0"/>
                </a:cubicBezTo>
                <a:cubicBezTo>
                  <a:pt x="1795070" y="-11087"/>
                  <a:pt x="1936880" y="11677"/>
                  <a:pt x="2139331" y="0"/>
                </a:cubicBezTo>
                <a:cubicBezTo>
                  <a:pt x="2341782" y="-11677"/>
                  <a:pt x="2476635" y="35915"/>
                  <a:pt x="2659709" y="0"/>
                </a:cubicBezTo>
                <a:cubicBezTo>
                  <a:pt x="2842783" y="-35915"/>
                  <a:pt x="3182794" y="30641"/>
                  <a:pt x="3353547" y="0"/>
                </a:cubicBezTo>
                <a:cubicBezTo>
                  <a:pt x="3524300" y="-30641"/>
                  <a:pt x="3651470" y="8674"/>
                  <a:pt x="3816105" y="0"/>
                </a:cubicBezTo>
                <a:cubicBezTo>
                  <a:pt x="3980740" y="-8674"/>
                  <a:pt x="4339599" y="60814"/>
                  <a:pt x="4509942" y="0"/>
                </a:cubicBezTo>
                <a:cubicBezTo>
                  <a:pt x="4680285" y="-60814"/>
                  <a:pt x="4881133" y="38982"/>
                  <a:pt x="5203779" y="0"/>
                </a:cubicBezTo>
                <a:cubicBezTo>
                  <a:pt x="5526425" y="-38982"/>
                  <a:pt x="5658398" y="33359"/>
                  <a:pt x="5781977" y="0"/>
                </a:cubicBezTo>
                <a:cubicBezTo>
                  <a:pt x="5799668" y="136504"/>
                  <a:pt x="5781044" y="416642"/>
                  <a:pt x="5781977" y="590544"/>
                </a:cubicBezTo>
                <a:cubicBezTo>
                  <a:pt x="5782910" y="764446"/>
                  <a:pt x="5757644" y="888420"/>
                  <a:pt x="5781977" y="1159217"/>
                </a:cubicBezTo>
                <a:cubicBezTo>
                  <a:pt x="5806310" y="1430014"/>
                  <a:pt x="5740076" y="1451497"/>
                  <a:pt x="5781977" y="1640401"/>
                </a:cubicBezTo>
                <a:cubicBezTo>
                  <a:pt x="5823878" y="1829305"/>
                  <a:pt x="5768514" y="2029058"/>
                  <a:pt x="5781977" y="2187201"/>
                </a:cubicBezTo>
                <a:cubicBezTo>
                  <a:pt x="5586873" y="2242547"/>
                  <a:pt x="5407397" y="2152855"/>
                  <a:pt x="5203779" y="2187201"/>
                </a:cubicBezTo>
                <a:cubicBezTo>
                  <a:pt x="5000161" y="2221547"/>
                  <a:pt x="4848796" y="2121797"/>
                  <a:pt x="4625582" y="2187201"/>
                </a:cubicBezTo>
                <a:cubicBezTo>
                  <a:pt x="4402368" y="2252605"/>
                  <a:pt x="4237962" y="2107254"/>
                  <a:pt x="3931744" y="2187201"/>
                </a:cubicBezTo>
                <a:cubicBezTo>
                  <a:pt x="3625526" y="2267148"/>
                  <a:pt x="3494891" y="2153823"/>
                  <a:pt x="3353547" y="2187201"/>
                </a:cubicBezTo>
                <a:cubicBezTo>
                  <a:pt x="3212203" y="2220579"/>
                  <a:pt x="3128397" y="2147554"/>
                  <a:pt x="2948808" y="2187201"/>
                </a:cubicBezTo>
                <a:cubicBezTo>
                  <a:pt x="2769219" y="2226848"/>
                  <a:pt x="2594658" y="2181149"/>
                  <a:pt x="2486250" y="2187201"/>
                </a:cubicBezTo>
                <a:cubicBezTo>
                  <a:pt x="2377842" y="2193253"/>
                  <a:pt x="2110826" y="2156182"/>
                  <a:pt x="1792413" y="2187201"/>
                </a:cubicBezTo>
                <a:cubicBezTo>
                  <a:pt x="1474000" y="2218220"/>
                  <a:pt x="1483665" y="2176900"/>
                  <a:pt x="1214215" y="2187201"/>
                </a:cubicBezTo>
                <a:cubicBezTo>
                  <a:pt x="944765" y="2197502"/>
                  <a:pt x="974272" y="2135354"/>
                  <a:pt x="751657" y="2187201"/>
                </a:cubicBezTo>
                <a:cubicBezTo>
                  <a:pt x="529042" y="2239048"/>
                  <a:pt x="333853" y="2177976"/>
                  <a:pt x="0" y="2187201"/>
                </a:cubicBezTo>
                <a:cubicBezTo>
                  <a:pt x="-52413" y="2053870"/>
                  <a:pt x="1564" y="1805127"/>
                  <a:pt x="0" y="1706017"/>
                </a:cubicBezTo>
                <a:cubicBezTo>
                  <a:pt x="-1564" y="1606907"/>
                  <a:pt x="53167" y="1353767"/>
                  <a:pt x="0" y="1224833"/>
                </a:cubicBezTo>
                <a:cubicBezTo>
                  <a:pt x="-53167" y="1095899"/>
                  <a:pt x="56545" y="801403"/>
                  <a:pt x="0" y="656160"/>
                </a:cubicBezTo>
                <a:cubicBezTo>
                  <a:pt x="-56545" y="510917"/>
                  <a:pt x="2527" y="209179"/>
                  <a:pt x="0" y="0"/>
                </a:cubicBezTo>
                <a:close/>
              </a:path>
            </a:pathLst>
          </a:custGeom>
          <a:noFill/>
          <a:ln>
            <a:solidFill>
              <a:srgbClr val="FFD7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47" name="Rectangle 46">
            <a:extLst>
              <a:ext uri="{FF2B5EF4-FFF2-40B4-BE49-F238E27FC236}">
                <a16:creationId xmlns:a16="http://schemas.microsoft.com/office/drawing/2014/main" id="{B17A536F-4596-4DC9-83E8-7AB189E135AD}"/>
              </a:ext>
            </a:extLst>
          </p:cNvPr>
          <p:cNvSpPr/>
          <p:nvPr userDrawn="1"/>
        </p:nvSpPr>
        <p:spPr>
          <a:xfrm>
            <a:off x="68143" y="1151389"/>
            <a:ext cx="12039810" cy="1551430"/>
          </a:xfrm>
          <a:custGeom>
            <a:avLst/>
            <a:gdLst>
              <a:gd name="connsiteX0" fmla="*/ 0 w 12039810"/>
              <a:gd name="connsiteY0" fmla="*/ 0 h 1551430"/>
              <a:gd name="connsiteX1" fmla="*/ 452926 w 12039810"/>
              <a:gd name="connsiteY1" fmla="*/ 0 h 1551430"/>
              <a:gd name="connsiteX2" fmla="*/ 665056 w 12039810"/>
              <a:gd name="connsiteY2" fmla="*/ 0 h 1551430"/>
              <a:gd name="connsiteX3" fmla="*/ 1479177 w 12039810"/>
              <a:gd name="connsiteY3" fmla="*/ 0 h 1551430"/>
              <a:gd name="connsiteX4" fmla="*/ 1932103 w 12039810"/>
              <a:gd name="connsiteY4" fmla="*/ 0 h 1551430"/>
              <a:gd name="connsiteX5" fmla="*/ 2385029 w 12039810"/>
              <a:gd name="connsiteY5" fmla="*/ 0 h 1551430"/>
              <a:gd name="connsiteX6" fmla="*/ 3199150 w 12039810"/>
              <a:gd name="connsiteY6" fmla="*/ 0 h 1551430"/>
              <a:gd name="connsiteX7" fmla="*/ 3531678 w 12039810"/>
              <a:gd name="connsiteY7" fmla="*/ 0 h 1551430"/>
              <a:gd name="connsiteX8" fmla="*/ 4345798 w 12039810"/>
              <a:gd name="connsiteY8" fmla="*/ 0 h 1551430"/>
              <a:gd name="connsiteX9" fmla="*/ 5159919 w 12039810"/>
              <a:gd name="connsiteY9" fmla="*/ 0 h 1551430"/>
              <a:gd name="connsiteX10" fmla="*/ 5733243 w 12039810"/>
              <a:gd name="connsiteY10" fmla="*/ 0 h 1551430"/>
              <a:gd name="connsiteX11" fmla="*/ 6547363 w 12039810"/>
              <a:gd name="connsiteY11" fmla="*/ 0 h 1551430"/>
              <a:gd name="connsiteX12" fmla="*/ 7000290 w 12039810"/>
              <a:gd name="connsiteY12" fmla="*/ 0 h 1551430"/>
              <a:gd name="connsiteX13" fmla="*/ 7453216 w 12039810"/>
              <a:gd name="connsiteY13" fmla="*/ 0 h 1551430"/>
              <a:gd name="connsiteX14" fmla="*/ 8146938 w 12039810"/>
              <a:gd name="connsiteY14" fmla="*/ 0 h 1551430"/>
              <a:gd name="connsiteX15" fmla="*/ 8599864 w 12039810"/>
              <a:gd name="connsiteY15" fmla="*/ 0 h 1551430"/>
              <a:gd name="connsiteX16" fmla="*/ 9413985 w 12039810"/>
              <a:gd name="connsiteY16" fmla="*/ 0 h 1551430"/>
              <a:gd name="connsiteX17" fmla="*/ 10228105 w 12039810"/>
              <a:gd name="connsiteY17" fmla="*/ 0 h 1551430"/>
              <a:gd name="connsiteX18" fmla="*/ 10801430 w 12039810"/>
              <a:gd name="connsiteY18" fmla="*/ 0 h 1551430"/>
              <a:gd name="connsiteX19" fmla="*/ 11254356 w 12039810"/>
              <a:gd name="connsiteY19" fmla="*/ 0 h 1551430"/>
              <a:gd name="connsiteX20" fmla="*/ 11466486 w 12039810"/>
              <a:gd name="connsiteY20" fmla="*/ 0 h 1551430"/>
              <a:gd name="connsiteX21" fmla="*/ 12039810 w 12039810"/>
              <a:gd name="connsiteY21" fmla="*/ 0 h 1551430"/>
              <a:gd name="connsiteX22" fmla="*/ 12039810 w 12039810"/>
              <a:gd name="connsiteY22" fmla="*/ 486115 h 1551430"/>
              <a:gd name="connsiteX23" fmla="*/ 12039810 w 12039810"/>
              <a:gd name="connsiteY23" fmla="*/ 987744 h 1551430"/>
              <a:gd name="connsiteX24" fmla="*/ 12039810 w 12039810"/>
              <a:gd name="connsiteY24" fmla="*/ 1551430 h 1551430"/>
              <a:gd name="connsiteX25" fmla="*/ 11346088 w 12039810"/>
              <a:gd name="connsiteY25" fmla="*/ 1551430 h 1551430"/>
              <a:gd name="connsiteX26" fmla="*/ 11133958 w 12039810"/>
              <a:gd name="connsiteY26" fmla="*/ 1551430 h 1551430"/>
              <a:gd name="connsiteX27" fmla="*/ 10560633 w 12039810"/>
              <a:gd name="connsiteY27" fmla="*/ 1551430 h 1551430"/>
              <a:gd name="connsiteX28" fmla="*/ 10228105 w 12039810"/>
              <a:gd name="connsiteY28" fmla="*/ 1551430 h 1551430"/>
              <a:gd name="connsiteX29" fmla="*/ 9534383 w 12039810"/>
              <a:gd name="connsiteY29" fmla="*/ 1551430 h 1551430"/>
              <a:gd name="connsiteX30" fmla="*/ 9201855 w 12039810"/>
              <a:gd name="connsiteY30" fmla="*/ 1551430 h 1551430"/>
              <a:gd name="connsiteX31" fmla="*/ 8508132 w 12039810"/>
              <a:gd name="connsiteY31" fmla="*/ 1551430 h 1551430"/>
              <a:gd name="connsiteX32" fmla="*/ 8296002 w 12039810"/>
              <a:gd name="connsiteY32" fmla="*/ 1551430 h 1551430"/>
              <a:gd name="connsiteX33" fmla="*/ 7602280 w 12039810"/>
              <a:gd name="connsiteY33" fmla="*/ 1551430 h 1551430"/>
              <a:gd name="connsiteX34" fmla="*/ 7269752 w 12039810"/>
              <a:gd name="connsiteY34" fmla="*/ 1551430 h 1551430"/>
              <a:gd name="connsiteX35" fmla="*/ 7057622 w 12039810"/>
              <a:gd name="connsiteY35" fmla="*/ 1551430 h 1551430"/>
              <a:gd name="connsiteX36" fmla="*/ 6725094 w 12039810"/>
              <a:gd name="connsiteY36" fmla="*/ 1551430 h 1551430"/>
              <a:gd name="connsiteX37" fmla="*/ 6031371 w 12039810"/>
              <a:gd name="connsiteY37" fmla="*/ 1551430 h 1551430"/>
              <a:gd name="connsiteX38" fmla="*/ 5698843 w 12039810"/>
              <a:gd name="connsiteY38" fmla="*/ 1551430 h 1551430"/>
              <a:gd name="connsiteX39" fmla="*/ 5486713 w 12039810"/>
              <a:gd name="connsiteY39" fmla="*/ 1551430 h 1551430"/>
              <a:gd name="connsiteX40" fmla="*/ 5154185 w 12039810"/>
              <a:gd name="connsiteY40" fmla="*/ 1551430 h 1551430"/>
              <a:gd name="connsiteX41" fmla="*/ 4701259 w 12039810"/>
              <a:gd name="connsiteY41" fmla="*/ 1551430 h 1551430"/>
              <a:gd name="connsiteX42" fmla="*/ 4127935 w 12039810"/>
              <a:gd name="connsiteY42" fmla="*/ 1551430 h 1551430"/>
              <a:gd name="connsiteX43" fmla="*/ 3795407 w 12039810"/>
              <a:gd name="connsiteY43" fmla="*/ 1551430 h 1551430"/>
              <a:gd name="connsiteX44" fmla="*/ 2981286 w 12039810"/>
              <a:gd name="connsiteY44" fmla="*/ 1551430 h 1551430"/>
              <a:gd name="connsiteX45" fmla="*/ 2407962 w 12039810"/>
              <a:gd name="connsiteY45" fmla="*/ 1551430 h 1551430"/>
              <a:gd name="connsiteX46" fmla="*/ 1593842 w 12039810"/>
              <a:gd name="connsiteY46" fmla="*/ 1551430 h 1551430"/>
              <a:gd name="connsiteX47" fmla="*/ 900119 w 12039810"/>
              <a:gd name="connsiteY47" fmla="*/ 1551430 h 1551430"/>
              <a:gd name="connsiteX48" fmla="*/ 0 w 12039810"/>
              <a:gd name="connsiteY48" fmla="*/ 1551430 h 1551430"/>
              <a:gd name="connsiteX49" fmla="*/ 0 w 12039810"/>
              <a:gd name="connsiteY49" fmla="*/ 1018772 h 1551430"/>
              <a:gd name="connsiteX50" fmla="*/ 0 w 12039810"/>
              <a:gd name="connsiteY50" fmla="*/ 486115 h 1551430"/>
              <a:gd name="connsiteX51" fmla="*/ 0 w 12039810"/>
              <a:gd name="connsiteY51" fmla="*/ 0 h 15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039810" h="1551430" extrusionOk="0">
                <a:moveTo>
                  <a:pt x="0" y="0"/>
                </a:moveTo>
                <a:cubicBezTo>
                  <a:pt x="200089" y="-24788"/>
                  <a:pt x="255967" y="27102"/>
                  <a:pt x="452926" y="0"/>
                </a:cubicBezTo>
                <a:cubicBezTo>
                  <a:pt x="649885" y="-27102"/>
                  <a:pt x="585094" y="2842"/>
                  <a:pt x="665056" y="0"/>
                </a:cubicBezTo>
                <a:cubicBezTo>
                  <a:pt x="745018" y="-2842"/>
                  <a:pt x="1152357" y="75851"/>
                  <a:pt x="1479177" y="0"/>
                </a:cubicBezTo>
                <a:cubicBezTo>
                  <a:pt x="1805997" y="-75851"/>
                  <a:pt x="1829119" y="36993"/>
                  <a:pt x="1932103" y="0"/>
                </a:cubicBezTo>
                <a:cubicBezTo>
                  <a:pt x="2035087" y="-36993"/>
                  <a:pt x="2271025" y="2031"/>
                  <a:pt x="2385029" y="0"/>
                </a:cubicBezTo>
                <a:cubicBezTo>
                  <a:pt x="2499033" y="-2031"/>
                  <a:pt x="2995576" y="41205"/>
                  <a:pt x="3199150" y="0"/>
                </a:cubicBezTo>
                <a:cubicBezTo>
                  <a:pt x="3402724" y="-41205"/>
                  <a:pt x="3440533" y="3665"/>
                  <a:pt x="3531678" y="0"/>
                </a:cubicBezTo>
                <a:cubicBezTo>
                  <a:pt x="3622823" y="-3665"/>
                  <a:pt x="3943922" y="56665"/>
                  <a:pt x="4345798" y="0"/>
                </a:cubicBezTo>
                <a:cubicBezTo>
                  <a:pt x="4747674" y="-56665"/>
                  <a:pt x="4836306" y="46493"/>
                  <a:pt x="5159919" y="0"/>
                </a:cubicBezTo>
                <a:cubicBezTo>
                  <a:pt x="5483532" y="-46493"/>
                  <a:pt x="5585112" y="38222"/>
                  <a:pt x="5733243" y="0"/>
                </a:cubicBezTo>
                <a:cubicBezTo>
                  <a:pt x="5881374" y="-38222"/>
                  <a:pt x="6356051" y="35215"/>
                  <a:pt x="6547363" y="0"/>
                </a:cubicBezTo>
                <a:cubicBezTo>
                  <a:pt x="6738675" y="-35215"/>
                  <a:pt x="6907338" y="4244"/>
                  <a:pt x="7000290" y="0"/>
                </a:cubicBezTo>
                <a:cubicBezTo>
                  <a:pt x="7093242" y="-4244"/>
                  <a:pt x="7315555" y="29567"/>
                  <a:pt x="7453216" y="0"/>
                </a:cubicBezTo>
                <a:cubicBezTo>
                  <a:pt x="7590877" y="-29567"/>
                  <a:pt x="7874896" y="410"/>
                  <a:pt x="8146938" y="0"/>
                </a:cubicBezTo>
                <a:cubicBezTo>
                  <a:pt x="8418980" y="-410"/>
                  <a:pt x="8392285" y="18024"/>
                  <a:pt x="8599864" y="0"/>
                </a:cubicBezTo>
                <a:cubicBezTo>
                  <a:pt x="8807443" y="-18024"/>
                  <a:pt x="9184387" y="33399"/>
                  <a:pt x="9413985" y="0"/>
                </a:cubicBezTo>
                <a:cubicBezTo>
                  <a:pt x="9643583" y="-33399"/>
                  <a:pt x="10018157" y="37734"/>
                  <a:pt x="10228105" y="0"/>
                </a:cubicBezTo>
                <a:cubicBezTo>
                  <a:pt x="10438053" y="-37734"/>
                  <a:pt x="10555318" y="65698"/>
                  <a:pt x="10801430" y="0"/>
                </a:cubicBezTo>
                <a:cubicBezTo>
                  <a:pt x="11047543" y="-65698"/>
                  <a:pt x="11079054" y="27384"/>
                  <a:pt x="11254356" y="0"/>
                </a:cubicBezTo>
                <a:cubicBezTo>
                  <a:pt x="11429658" y="-27384"/>
                  <a:pt x="11373665" y="18216"/>
                  <a:pt x="11466486" y="0"/>
                </a:cubicBezTo>
                <a:cubicBezTo>
                  <a:pt x="11559307" y="-18216"/>
                  <a:pt x="11923928" y="23773"/>
                  <a:pt x="12039810" y="0"/>
                </a:cubicBezTo>
                <a:cubicBezTo>
                  <a:pt x="12092712" y="110475"/>
                  <a:pt x="11987878" y="348230"/>
                  <a:pt x="12039810" y="486115"/>
                </a:cubicBezTo>
                <a:cubicBezTo>
                  <a:pt x="12091742" y="624001"/>
                  <a:pt x="11988043" y="866563"/>
                  <a:pt x="12039810" y="987744"/>
                </a:cubicBezTo>
                <a:cubicBezTo>
                  <a:pt x="12091577" y="1108925"/>
                  <a:pt x="11977617" y="1313254"/>
                  <a:pt x="12039810" y="1551430"/>
                </a:cubicBezTo>
                <a:cubicBezTo>
                  <a:pt x="11719899" y="1622397"/>
                  <a:pt x="11589408" y="1505343"/>
                  <a:pt x="11346088" y="1551430"/>
                </a:cubicBezTo>
                <a:cubicBezTo>
                  <a:pt x="11102768" y="1597517"/>
                  <a:pt x="11223974" y="1526285"/>
                  <a:pt x="11133958" y="1551430"/>
                </a:cubicBezTo>
                <a:cubicBezTo>
                  <a:pt x="11043942" y="1576575"/>
                  <a:pt x="10703268" y="1519653"/>
                  <a:pt x="10560633" y="1551430"/>
                </a:cubicBezTo>
                <a:cubicBezTo>
                  <a:pt x="10417999" y="1583207"/>
                  <a:pt x="10313842" y="1540306"/>
                  <a:pt x="10228105" y="1551430"/>
                </a:cubicBezTo>
                <a:cubicBezTo>
                  <a:pt x="10142368" y="1562554"/>
                  <a:pt x="9850002" y="1468958"/>
                  <a:pt x="9534383" y="1551430"/>
                </a:cubicBezTo>
                <a:cubicBezTo>
                  <a:pt x="9218764" y="1633902"/>
                  <a:pt x="9327086" y="1519591"/>
                  <a:pt x="9201855" y="1551430"/>
                </a:cubicBezTo>
                <a:cubicBezTo>
                  <a:pt x="9076624" y="1583269"/>
                  <a:pt x="8805122" y="1477231"/>
                  <a:pt x="8508132" y="1551430"/>
                </a:cubicBezTo>
                <a:cubicBezTo>
                  <a:pt x="8211142" y="1625629"/>
                  <a:pt x="8338766" y="1539214"/>
                  <a:pt x="8296002" y="1551430"/>
                </a:cubicBezTo>
                <a:cubicBezTo>
                  <a:pt x="8253238" y="1563646"/>
                  <a:pt x="7919588" y="1507515"/>
                  <a:pt x="7602280" y="1551430"/>
                </a:cubicBezTo>
                <a:cubicBezTo>
                  <a:pt x="7284972" y="1595345"/>
                  <a:pt x="7380482" y="1529017"/>
                  <a:pt x="7269752" y="1551430"/>
                </a:cubicBezTo>
                <a:cubicBezTo>
                  <a:pt x="7159022" y="1573843"/>
                  <a:pt x="7158218" y="1530421"/>
                  <a:pt x="7057622" y="1551430"/>
                </a:cubicBezTo>
                <a:cubicBezTo>
                  <a:pt x="6957026" y="1572439"/>
                  <a:pt x="6794594" y="1514021"/>
                  <a:pt x="6725094" y="1551430"/>
                </a:cubicBezTo>
                <a:cubicBezTo>
                  <a:pt x="6655594" y="1588839"/>
                  <a:pt x="6202515" y="1535846"/>
                  <a:pt x="6031371" y="1551430"/>
                </a:cubicBezTo>
                <a:cubicBezTo>
                  <a:pt x="5860227" y="1567014"/>
                  <a:pt x="5809066" y="1529514"/>
                  <a:pt x="5698843" y="1551430"/>
                </a:cubicBezTo>
                <a:cubicBezTo>
                  <a:pt x="5588620" y="1573346"/>
                  <a:pt x="5537541" y="1529476"/>
                  <a:pt x="5486713" y="1551430"/>
                </a:cubicBezTo>
                <a:cubicBezTo>
                  <a:pt x="5435885" y="1573384"/>
                  <a:pt x="5236743" y="1517236"/>
                  <a:pt x="5154185" y="1551430"/>
                </a:cubicBezTo>
                <a:cubicBezTo>
                  <a:pt x="5071627" y="1585624"/>
                  <a:pt x="4899937" y="1545934"/>
                  <a:pt x="4701259" y="1551430"/>
                </a:cubicBezTo>
                <a:cubicBezTo>
                  <a:pt x="4502581" y="1556926"/>
                  <a:pt x="4275501" y="1497091"/>
                  <a:pt x="4127935" y="1551430"/>
                </a:cubicBezTo>
                <a:cubicBezTo>
                  <a:pt x="3980369" y="1605769"/>
                  <a:pt x="3920489" y="1517763"/>
                  <a:pt x="3795407" y="1551430"/>
                </a:cubicBezTo>
                <a:cubicBezTo>
                  <a:pt x="3670325" y="1585097"/>
                  <a:pt x="3150583" y="1483564"/>
                  <a:pt x="2981286" y="1551430"/>
                </a:cubicBezTo>
                <a:cubicBezTo>
                  <a:pt x="2811989" y="1619296"/>
                  <a:pt x="2600847" y="1498282"/>
                  <a:pt x="2407962" y="1551430"/>
                </a:cubicBezTo>
                <a:cubicBezTo>
                  <a:pt x="2215077" y="1604578"/>
                  <a:pt x="1924478" y="1522339"/>
                  <a:pt x="1593842" y="1551430"/>
                </a:cubicBezTo>
                <a:cubicBezTo>
                  <a:pt x="1263206" y="1580521"/>
                  <a:pt x="1202752" y="1497420"/>
                  <a:pt x="900119" y="1551430"/>
                </a:cubicBezTo>
                <a:cubicBezTo>
                  <a:pt x="597486" y="1605440"/>
                  <a:pt x="345044" y="1456623"/>
                  <a:pt x="0" y="1551430"/>
                </a:cubicBezTo>
                <a:cubicBezTo>
                  <a:pt x="-21632" y="1354320"/>
                  <a:pt x="15483" y="1252190"/>
                  <a:pt x="0" y="1018772"/>
                </a:cubicBezTo>
                <a:cubicBezTo>
                  <a:pt x="-15483" y="785354"/>
                  <a:pt x="12345" y="690587"/>
                  <a:pt x="0" y="486115"/>
                </a:cubicBezTo>
                <a:cubicBezTo>
                  <a:pt x="-12345" y="281643"/>
                  <a:pt x="40904" y="233831"/>
                  <a:pt x="0" y="0"/>
                </a:cubicBezTo>
                <a:close/>
              </a:path>
            </a:pathLst>
          </a:custGeom>
          <a:noFill/>
          <a:ln cap="flat" cmpd="sng">
            <a:solidFill>
              <a:srgbClr val="E5E4E2"/>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15" name="TextBox 14">
            <a:extLst>
              <a:ext uri="{FF2B5EF4-FFF2-40B4-BE49-F238E27FC236}">
                <a16:creationId xmlns:a16="http://schemas.microsoft.com/office/drawing/2014/main" id="{222B4632-0054-4743-800E-AD4E07026600}"/>
              </a:ext>
            </a:extLst>
          </p:cNvPr>
          <p:cNvSpPr txBox="1"/>
          <p:nvPr userDrawn="1"/>
        </p:nvSpPr>
        <p:spPr>
          <a:xfrm>
            <a:off x="10612555" y="1123590"/>
            <a:ext cx="1556289"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Platinum</a:t>
            </a:r>
          </a:p>
        </p:txBody>
      </p:sp>
      <p:pic>
        <p:nvPicPr>
          <p:cNvPr id="6" name="Picture 5">
            <a:extLst>
              <a:ext uri="{FF2B5EF4-FFF2-40B4-BE49-F238E27FC236}">
                <a16:creationId xmlns:a16="http://schemas.microsoft.com/office/drawing/2014/main" id="{9811C9A3-E6C7-F2D4-053B-72191941AD9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4501871" y="1667731"/>
            <a:ext cx="7465855" cy="784498"/>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A2FD8B19-E11C-7E3E-6448-56423AF99B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58171" y="2651465"/>
            <a:ext cx="6470000" cy="1607795"/>
          </a:xfrm>
          <a:prstGeom prst="rect">
            <a:avLst/>
          </a:prstGeom>
        </p:spPr>
      </p:pic>
      <p:pic>
        <p:nvPicPr>
          <p:cNvPr id="11" name="Picture 10" descr="A black background with orange letters&#10;&#10;AI-generated content may be incorrect.">
            <a:extLst>
              <a:ext uri="{FF2B5EF4-FFF2-40B4-BE49-F238E27FC236}">
                <a16:creationId xmlns:a16="http://schemas.microsoft.com/office/drawing/2014/main" id="{550DA947-DCC2-F8F7-B033-116852C3F43D}"/>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75760" y="3775516"/>
            <a:ext cx="5676275" cy="1136072"/>
          </a:xfrm>
          <a:prstGeom prst="rect">
            <a:avLst/>
          </a:prstGeom>
        </p:spPr>
      </p:pic>
      <p:pic>
        <p:nvPicPr>
          <p:cNvPr id="20" name="Picture 19" descr="A logo with a hexagon and a red and white logo&#10;&#10;AI-generated content may be incorrect.">
            <a:extLst>
              <a:ext uri="{FF2B5EF4-FFF2-40B4-BE49-F238E27FC236}">
                <a16:creationId xmlns:a16="http://schemas.microsoft.com/office/drawing/2014/main" id="{12FCC626-759A-3485-67FC-098840DF3A74}"/>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980516" y="2953392"/>
            <a:ext cx="3123198" cy="3123198"/>
          </a:xfrm>
          <a:prstGeom prst="rect">
            <a:avLst/>
          </a:prstGeom>
        </p:spPr>
      </p:pic>
      <p:pic>
        <p:nvPicPr>
          <p:cNvPr id="23" name="Picture 22">
            <a:extLst>
              <a:ext uri="{FF2B5EF4-FFF2-40B4-BE49-F238E27FC236}">
                <a16:creationId xmlns:a16="http://schemas.microsoft.com/office/drawing/2014/main" id="{C754E451-039C-E767-7933-67FDE4C38A06}"/>
              </a:ext>
            </a:extLst>
          </p:cNvPr>
          <p:cNvPicPr>
            <a:picLocks noChangeAspect="1"/>
          </p:cNvPicPr>
          <p:nvPr userDrawn="1"/>
        </p:nvPicPr>
        <p:blipFill>
          <a:blip r:embed="rId11" cstate="print">
            <a:extLst>
              <a:ext uri="{28A0092B-C50C-407E-A947-70E740481C1C}">
                <a14:useLocalDpi xmlns:a14="http://schemas.microsoft.com/office/drawing/2010/main" val="0"/>
              </a:ext>
            </a:extLst>
          </a:blip>
          <a:srcRect/>
          <a:stretch/>
        </p:blipFill>
        <p:spPr>
          <a:xfrm>
            <a:off x="6250546" y="4911588"/>
            <a:ext cx="3800151" cy="1746802"/>
          </a:xfrm>
          <a:prstGeom prst="rect">
            <a:avLst/>
          </a:prstGeom>
        </p:spPr>
      </p:pic>
      <p:pic>
        <p:nvPicPr>
          <p:cNvPr id="22" name="Picture 21" descr="A logo with pink bull and yellow sun&#10;&#10;AI-generated content may be incorrect.">
            <a:extLst>
              <a:ext uri="{FF2B5EF4-FFF2-40B4-BE49-F238E27FC236}">
                <a16:creationId xmlns:a16="http://schemas.microsoft.com/office/drawing/2014/main" id="{9F39D8E0-4636-BD64-6154-673F58E5FE98}"/>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283847" y="5528357"/>
            <a:ext cx="1591533" cy="895237"/>
          </a:xfrm>
          <a:prstGeom prst="rect">
            <a:avLst/>
          </a:prstGeom>
        </p:spPr>
      </p:pic>
      <p:pic>
        <p:nvPicPr>
          <p:cNvPr id="26" name="Picture 25" descr="A logo with a white circle in the middle&#10;&#10;AI-generated content may be incorrect.">
            <a:extLst>
              <a:ext uri="{FF2B5EF4-FFF2-40B4-BE49-F238E27FC236}">
                <a16:creationId xmlns:a16="http://schemas.microsoft.com/office/drawing/2014/main" id="{A3CB3577-6B4E-896C-D293-3FE46E0BF6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239425" y="5456546"/>
            <a:ext cx="1831700" cy="1051114"/>
          </a:xfrm>
          <a:prstGeom prst="rect">
            <a:avLst/>
          </a:prstGeom>
        </p:spPr>
      </p:pic>
      <p:pic>
        <p:nvPicPr>
          <p:cNvPr id="65" name="Picture 64" descr="A blue and black text&#10;&#10;Description automatically generated">
            <a:extLst>
              <a:ext uri="{FF2B5EF4-FFF2-40B4-BE49-F238E27FC236}">
                <a16:creationId xmlns:a16="http://schemas.microsoft.com/office/drawing/2014/main" id="{007D74F5-3275-3316-DAA3-98F7483EA30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226954" y="3029756"/>
            <a:ext cx="3548575" cy="814371"/>
          </a:xfrm>
          <a:prstGeom prst="rect">
            <a:avLst/>
          </a:prstGeom>
        </p:spPr>
      </p:pic>
      <p:pic>
        <p:nvPicPr>
          <p:cNvPr id="55" name="Picture 54">
            <a:extLst>
              <a:ext uri="{FF2B5EF4-FFF2-40B4-BE49-F238E27FC236}">
                <a16:creationId xmlns:a16="http://schemas.microsoft.com/office/drawing/2014/main" id="{C7A430C6-E222-1A40-D551-D936EEA96D41}"/>
              </a:ext>
            </a:extLst>
          </p:cNvPr>
          <p:cNvPicPr>
            <a:picLocks noChangeAspect="1"/>
          </p:cNvPicPr>
          <p:nvPr userDrawn="1"/>
        </p:nvPicPr>
        <p:blipFill>
          <a:blip r:embed="rId15" cstate="print">
            <a:extLst>
              <a:ext uri="{28A0092B-C50C-407E-A947-70E740481C1C}">
                <a14:useLocalDpi xmlns:a14="http://schemas.microsoft.com/office/drawing/2010/main" val="0"/>
              </a:ext>
            </a:extLst>
          </a:blip>
          <a:srcRect/>
          <a:stretch/>
        </p:blipFill>
        <p:spPr>
          <a:xfrm>
            <a:off x="6250546" y="4006157"/>
            <a:ext cx="3354117" cy="864935"/>
          </a:xfrm>
          <a:prstGeom prst="rect">
            <a:avLst/>
          </a:prstGeom>
        </p:spPr>
      </p:pic>
      <p:sp>
        <p:nvSpPr>
          <p:cNvPr id="17" name="TextBox 16">
            <a:extLst>
              <a:ext uri="{FF2B5EF4-FFF2-40B4-BE49-F238E27FC236}">
                <a16:creationId xmlns:a16="http://schemas.microsoft.com/office/drawing/2014/main" id="{5B7D2FA3-2116-4386-A581-63986415A76B}"/>
              </a:ext>
            </a:extLst>
          </p:cNvPr>
          <p:cNvSpPr txBox="1"/>
          <p:nvPr userDrawn="1"/>
        </p:nvSpPr>
        <p:spPr>
          <a:xfrm>
            <a:off x="11071984" y="2766139"/>
            <a:ext cx="1120030"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Silver</a:t>
            </a:r>
          </a:p>
        </p:txBody>
      </p:sp>
    </p:spTree>
    <p:extLst>
      <p:ext uri="{BB962C8B-B14F-4D97-AF65-F5344CB8AC3E}">
        <p14:creationId xmlns:p14="http://schemas.microsoft.com/office/powerpoint/2010/main" val="304871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75613" y="245534"/>
            <a:ext cx="8040774" cy="3706959"/>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
        <p:nvSpPr>
          <p:cNvPr id="2" name="TextBox 1">
            <a:extLst>
              <a:ext uri="{FF2B5EF4-FFF2-40B4-BE49-F238E27FC236}">
                <a16:creationId xmlns:a16="http://schemas.microsoft.com/office/drawing/2014/main" id="{BFA0C982-A950-4468-94DF-C6BDC5E6E7D2}"/>
              </a:ext>
            </a:extLst>
          </p:cNvPr>
          <p:cNvSpPr txBox="1"/>
          <p:nvPr userDrawn="1"/>
        </p:nvSpPr>
        <p:spPr>
          <a:xfrm>
            <a:off x="1257299" y="4216248"/>
            <a:ext cx="9897036" cy="2123658"/>
          </a:xfrm>
          <a:prstGeom prst="rect">
            <a:avLst/>
          </a:prstGeom>
          <a:noFill/>
        </p:spPr>
        <p:txBody>
          <a:bodyPr wrap="square" rtlCol="0">
            <a:spAutoFit/>
          </a:bodyPr>
          <a:lstStyle/>
          <a:p>
            <a:pPr algn="ctr"/>
            <a:r>
              <a:rPr lang="en-GB" sz="4400" dirty="0"/>
              <a:t>Monthly Meetings</a:t>
            </a:r>
            <a:br>
              <a:rPr lang="en-GB" sz="4400" dirty="0"/>
            </a:br>
            <a:r>
              <a:rPr lang="en-GB" sz="4400" dirty="0"/>
              <a:t>3rd Wednesday of each month </a:t>
            </a:r>
            <a:br>
              <a:rPr lang="en-GB" sz="4400" dirty="0"/>
            </a:br>
            <a:r>
              <a:rPr lang="en-GB" sz="4400" dirty="0"/>
              <a:t>jssug.org</a:t>
            </a:r>
            <a:endParaRPr lang="en-US" sz="4400" b="0" i="0" dirty="0" err="1">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36265275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Add icons">
    <p:bg>
      <p:bgPr>
        <a:solidFill>
          <a:schemeClr val="bg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C022148E-A118-4C81-BD07-C2FDB656F5C0}"/>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accent2"/>
                </a:solidFill>
                <a:latin typeface="IBM Plex Sans" panose="020B0503050203000203" pitchFamily="34" charset="77"/>
              </a:defRPr>
            </a:lvl1pPr>
          </a:lstStyle>
          <a:p>
            <a:r>
              <a:rPr lang="en-GB"/>
              <a:t>Session Title goes here</a:t>
            </a:r>
            <a:endParaRPr lang="en-US"/>
          </a:p>
        </p:txBody>
      </p:sp>
      <p:sp>
        <p:nvSpPr>
          <p:cNvPr id="33" name="Content Placeholder 2">
            <a:extLst>
              <a:ext uri="{FF2B5EF4-FFF2-40B4-BE49-F238E27FC236}">
                <a16:creationId xmlns:a16="http://schemas.microsoft.com/office/drawing/2014/main" id="{69C0475C-10A6-4832-A8CB-FD4A54DE3068}"/>
              </a:ext>
            </a:extLst>
          </p:cNvPr>
          <p:cNvSpPr>
            <a:spLocks noGrp="1"/>
          </p:cNvSpPr>
          <p:nvPr>
            <p:ph idx="11" hasCustomPrompt="1"/>
          </p:nvPr>
        </p:nvSpPr>
        <p:spPr>
          <a:xfrm>
            <a:off x="424541" y="4712654"/>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34" name="Content Placeholder 2">
            <a:extLst>
              <a:ext uri="{FF2B5EF4-FFF2-40B4-BE49-F238E27FC236}">
                <a16:creationId xmlns:a16="http://schemas.microsoft.com/office/drawing/2014/main" id="{A2D07DB7-7A1F-4BA3-832B-AD0119F2AC20}"/>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35" name="Content Placeholder 2">
            <a:extLst>
              <a:ext uri="{FF2B5EF4-FFF2-40B4-BE49-F238E27FC236}">
                <a16:creationId xmlns:a16="http://schemas.microsoft.com/office/drawing/2014/main" id="{9E95EA5C-DB1A-4340-9A9B-6FBA15131DCC}"/>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pic>
        <p:nvPicPr>
          <p:cNvPr id="36" name="Picture 35">
            <a:extLst>
              <a:ext uri="{FF2B5EF4-FFF2-40B4-BE49-F238E27FC236}">
                <a16:creationId xmlns:a16="http://schemas.microsoft.com/office/drawing/2014/main" id="{4F739FB1-E9E4-486C-9F12-3B357C6B62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499" y="4381629"/>
            <a:ext cx="4412959" cy="2034463"/>
          </a:xfrm>
          <a:prstGeom prst="rect">
            <a:avLst/>
          </a:prstGeom>
        </p:spPr>
      </p:pic>
      <p:pic>
        <p:nvPicPr>
          <p:cNvPr id="37" name="Picture 36">
            <a:extLst>
              <a:ext uri="{FF2B5EF4-FFF2-40B4-BE49-F238E27FC236}">
                <a16:creationId xmlns:a16="http://schemas.microsoft.com/office/drawing/2014/main" id="{3FBD7D9D-79E9-4C49-A6A9-18BA276C101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68441" y="310289"/>
            <a:ext cx="7558170" cy="1063486"/>
          </a:xfrm>
          <a:prstGeom prst="rect">
            <a:avLst/>
          </a:prstGeom>
        </p:spPr>
      </p:pic>
      <p:pic>
        <p:nvPicPr>
          <p:cNvPr id="39" name="Picture 38">
            <a:extLst>
              <a:ext uri="{FF2B5EF4-FFF2-40B4-BE49-F238E27FC236}">
                <a16:creationId xmlns:a16="http://schemas.microsoft.com/office/drawing/2014/main" id="{D3634AEE-798E-45DB-BA4A-87DC9C08E1C5}"/>
              </a:ext>
            </a:extLst>
          </p:cNvPr>
          <p:cNvPicPr>
            <a:picLocks noChangeAspect="1"/>
          </p:cNvPicPr>
          <p:nvPr userDrawn="1"/>
        </p:nvPicPr>
        <p:blipFill>
          <a:blip r:embed="rId4"/>
          <a:stretch>
            <a:fillRect/>
          </a:stretch>
        </p:blipFill>
        <p:spPr>
          <a:xfrm>
            <a:off x="0" y="6791325"/>
            <a:ext cx="12192000" cy="66675"/>
          </a:xfrm>
          <a:prstGeom prst="rect">
            <a:avLst/>
          </a:prstGeom>
        </p:spPr>
      </p:pic>
      <p:sp>
        <p:nvSpPr>
          <p:cNvPr id="40" name="TextBox 39">
            <a:extLst>
              <a:ext uri="{FF2B5EF4-FFF2-40B4-BE49-F238E27FC236}">
                <a16:creationId xmlns:a16="http://schemas.microsoft.com/office/drawing/2014/main" id="{D17DE9BB-E60E-4883-8AF9-ADD27D8F133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55608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 bio">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D74CC3F-A43F-7247-8851-E564DEF82EFC}"/>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16" name="Title 1">
            <a:extLst>
              <a:ext uri="{FF2B5EF4-FFF2-40B4-BE49-F238E27FC236}">
                <a16:creationId xmlns:a16="http://schemas.microsoft.com/office/drawing/2014/main" id="{011C7A70-1A27-8C46-B788-29D87A2F4A48}"/>
              </a:ext>
            </a:extLst>
          </p:cNvPr>
          <p:cNvSpPr>
            <a:spLocks noGrp="1"/>
          </p:cNvSpPr>
          <p:nvPr>
            <p:ph type="title" hasCustomPrompt="1"/>
          </p:nvPr>
        </p:nvSpPr>
        <p:spPr>
          <a:xfrm>
            <a:off x="424541" y="451274"/>
            <a:ext cx="6137623" cy="711882"/>
          </a:xfrm>
        </p:spPr>
        <p:txBody>
          <a:bodyPr>
            <a:noAutofit/>
          </a:bodyPr>
          <a:lstStyle>
            <a:lvl1pPr marL="0" marR="0" indent="0" algn="l" defTabSz="914400" rtl="0" eaLnBrk="1" fontAlgn="base" latinLnBrk="0" hangingPunct="1">
              <a:lnSpc>
                <a:spcPct val="90000"/>
              </a:lnSpc>
              <a:spcBef>
                <a:spcPct val="0"/>
              </a:spcBef>
              <a:spcAft>
                <a:spcPct val="0"/>
              </a:spcAft>
              <a:buClrTx/>
              <a:buSzTx/>
              <a:buFontTx/>
              <a:buNone/>
              <a:tabLst/>
              <a:defRPr sz="6000" b="1" i="0">
                <a:solidFill>
                  <a:schemeClr val="accent2"/>
                </a:solidFill>
                <a:latin typeface="IBM Plex Sans" panose="020B0503050203000203" pitchFamily="34" charset="77"/>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GB"/>
              <a:t>FirstName</a:t>
            </a:r>
            <a:endParaRPr lang="en-US"/>
          </a:p>
        </p:txBody>
      </p:sp>
      <p:sp>
        <p:nvSpPr>
          <p:cNvPr id="18" name="Content Placeholder 2">
            <a:extLst>
              <a:ext uri="{FF2B5EF4-FFF2-40B4-BE49-F238E27FC236}">
                <a16:creationId xmlns:a16="http://schemas.microsoft.com/office/drawing/2014/main" id="{66227045-61B0-9544-AEC3-12180B09CBA3}"/>
              </a:ext>
            </a:extLst>
          </p:cNvPr>
          <p:cNvSpPr>
            <a:spLocks noGrp="1"/>
          </p:cNvSpPr>
          <p:nvPr>
            <p:ph idx="1" hasCustomPrompt="1"/>
          </p:nvPr>
        </p:nvSpPr>
        <p:spPr>
          <a:xfrm>
            <a:off x="424542" y="2560817"/>
            <a:ext cx="6035252" cy="647786"/>
          </a:xfrm>
        </p:spPr>
        <p:txBody>
          <a:bodyPr anchor="t">
            <a:noAutofit/>
          </a:bodyPr>
          <a:lstStyle>
            <a:lvl1pPr marL="0" indent="0">
              <a:lnSpc>
                <a:spcPct val="100000"/>
              </a:lnSpc>
              <a:buNone/>
              <a:defRPr sz="36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3" name="Picture Placeholder 2">
            <a:extLst>
              <a:ext uri="{FF2B5EF4-FFF2-40B4-BE49-F238E27FC236}">
                <a16:creationId xmlns:a16="http://schemas.microsoft.com/office/drawing/2014/main" id="{088977B7-700C-C149-8536-47AB7A78B9E3}"/>
              </a:ext>
            </a:extLst>
          </p:cNvPr>
          <p:cNvSpPr>
            <a:spLocks noGrp="1"/>
          </p:cNvSpPr>
          <p:nvPr>
            <p:ph type="pic" sz="quarter" idx="15"/>
          </p:nvPr>
        </p:nvSpPr>
        <p:spPr>
          <a:xfrm>
            <a:off x="6702439" y="378547"/>
            <a:ext cx="1685405" cy="1685405"/>
          </a:xfrm>
          <a:prstGeom prst="ellipse">
            <a:avLst/>
          </a:prstGeom>
          <a:solidFill>
            <a:schemeClr val="bg1">
              <a:lumMod val="95000"/>
            </a:schemeClr>
          </a:solidFill>
        </p:spPr>
        <p:txBody>
          <a:bodyPr/>
          <a:lstStyle/>
          <a:p>
            <a:endParaRPr lang="en-US"/>
          </a:p>
        </p:txBody>
      </p:sp>
      <p:sp>
        <p:nvSpPr>
          <p:cNvPr id="22" name="Content Placeholder 2">
            <a:extLst>
              <a:ext uri="{FF2B5EF4-FFF2-40B4-BE49-F238E27FC236}">
                <a16:creationId xmlns:a16="http://schemas.microsoft.com/office/drawing/2014/main" id="{61A01EAC-4EF5-AE4F-970E-2C5157FA52A4}"/>
              </a:ext>
            </a:extLst>
          </p:cNvPr>
          <p:cNvSpPr>
            <a:spLocks noGrp="1"/>
          </p:cNvSpPr>
          <p:nvPr>
            <p:ph idx="12" hasCustomPrompt="1"/>
          </p:nvPr>
        </p:nvSpPr>
        <p:spPr>
          <a:xfrm>
            <a:off x="858416" y="4673325"/>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23" name="Content Placeholder 2">
            <a:extLst>
              <a:ext uri="{FF2B5EF4-FFF2-40B4-BE49-F238E27FC236}">
                <a16:creationId xmlns:a16="http://schemas.microsoft.com/office/drawing/2014/main" id="{8FB3DAF8-2F81-FC4D-8CB0-8C0CB1AA4D40}"/>
              </a:ext>
            </a:extLst>
          </p:cNvPr>
          <p:cNvSpPr>
            <a:spLocks noGrp="1"/>
          </p:cNvSpPr>
          <p:nvPr>
            <p:ph idx="13" hasCustomPrompt="1"/>
          </p:nvPr>
        </p:nvSpPr>
        <p:spPr>
          <a:xfrm>
            <a:off x="858416" y="5244387"/>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24" name="Content Placeholder 2">
            <a:extLst>
              <a:ext uri="{FF2B5EF4-FFF2-40B4-BE49-F238E27FC236}">
                <a16:creationId xmlns:a16="http://schemas.microsoft.com/office/drawing/2014/main" id="{85B937D2-7E45-D541-81A8-ABE79A9EE496}"/>
              </a:ext>
            </a:extLst>
          </p:cNvPr>
          <p:cNvSpPr>
            <a:spLocks noGrp="1"/>
          </p:cNvSpPr>
          <p:nvPr>
            <p:ph idx="14" hasCustomPrompt="1"/>
          </p:nvPr>
        </p:nvSpPr>
        <p:spPr>
          <a:xfrm>
            <a:off x="858416" y="5815450"/>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31" name="Content Placeholder 2">
            <a:extLst>
              <a:ext uri="{FF2B5EF4-FFF2-40B4-BE49-F238E27FC236}">
                <a16:creationId xmlns:a16="http://schemas.microsoft.com/office/drawing/2014/main" id="{540AA7F0-2E50-214E-9056-0901887064EF}"/>
              </a:ext>
            </a:extLst>
          </p:cNvPr>
          <p:cNvSpPr>
            <a:spLocks noGrp="1"/>
          </p:cNvSpPr>
          <p:nvPr>
            <p:ph idx="17" hasCustomPrompt="1"/>
          </p:nvPr>
        </p:nvSpPr>
        <p:spPr>
          <a:xfrm>
            <a:off x="424542" y="3219579"/>
            <a:ext cx="6035252" cy="647786"/>
          </a:xfrm>
        </p:spPr>
        <p:txBody>
          <a:bodyPr anchor="t">
            <a:normAutofit/>
          </a:bodyPr>
          <a:lstStyle>
            <a:lvl1pPr marL="0" indent="0">
              <a:lnSpc>
                <a:spcPct val="100000"/>
              </a:lnSpc>
              <a:buNone/>
              <a:defRPr sz="3600" b="0"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sp>
        <p:nvSpPr>
          <p:cNvPr id="33" name="Content Placeholder 2">
            <a:extLst>
              <a:ext uri="{FF2B5EF4-FFF2-40B4-BE49-F238E27FC236}">
                <a16:creationId xmlns:a16="http://schemas.microsoft.com/office/drawing/2014/main" id="{9FA89709-76ED-224C-B4CF-D07271807FC5}"/>
              </a:ext>
            </a:extLst>
          </p:cNvPr>
          <p:cNvSpPr>
            <a:spLocks noGrp="1"/>
          </p:cNvSpPr>
          <p:nvPr>
            <p:ph idx="18" hasCustomPrompt="1"/>
          </p:nvPr>
        </p:nvSpPr>
        <p:spPr>
          <a:xfrm>
            <a:off x="6702439" y="2560817"/>
            <a:ext cx="5065019" cy="3400712"/>
          </a:xfrm>
        </p:spPr>
        <p:txBody>
          <a:bodyPr anchor="t">
            <a:normAutofit/>
          </a:bodyPr>
          <a:lstStyle>
            <a:lvl1pPr marL="342900" indent="-342900">
              <a:lnSpc>
                <a:spcPct val="114000"/>
              </a:lnSpc>
              <a:buFont typeface="Arial" panose="020B0604020202020204" pitchFamily="34" charset="0"/>
              <a:buChar char="•"/>
              <a:defRPr sz="2400" b="0"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About you</a:t>
            </a:r>
          </a:p>
        </p:txBody>
      </p:sp>
      <p:sp>
        <p:nvSpPr>
          <p:cNvPr id="42" name="Text Placeholder 41">
            <a:extLst>
              <a:ext uri="{FF2B5EF4-FFF2-40B4-BE49-F238E27FC236}">
                <a16:creationId xmlns:a16="http://schemas.microsoft.com/office/drawing/2014/main" id="{0D2292A1-4831-8743-BC26-539A0B82004C}"/>
              </a:ext>
            </a:extLst>
          </p:cNvPr>
          <p:cNvSpPr>
            <a:spLocks noGrp="1"/>
          </p:cNvSpPr>
          <p:nvPr>
            <p:ph type="body" sz="quarter" idx="20" hasCustomPrompt="1"/>
          </p:nvPr>
        </p:nvSpPr>
        <p:spPr>
          <a:xfrm>
            <a:off x="424541" y="1168024"/>
            <a:ext cx="6137624" cy="711882"/>
          </a:xfrm>
        </p:spPr>
        <p:txBody>
          <a:bodyPr anchor="t">
            <a:noAutofit/>
          </a:bodyPr>
          <a:lstStyle>
            <a:lvl1pPr marL="0" indent="0">
              <a:lnSpc>
                <a:spcPct val="90000"/>
              </a:lnSpc>
              <a:buNone/>
              <a:defRPr sz="6000" b="1" i="0">
                <a:latin typeface="IBM Plex Sans" panose="020B0503050203000203" pitchFamily="34" charset="77"/>
              </a:defRPr>
            </a:lvl1pPr>
          </a:lstStyle>
          <a:p>
            <a:pPr lvl="0"/>
            <a:r>
              <a:rPr lang="en-US" err="1"/>
              <a:t>SecondName</a:t>
            </a:r>
            <a:endParaRPr lang="en-US"/>
          </a:p>
        </p:txBody>
      </p:sp>
      <p:pic>
        <p:nvPicPr>
          <p:cNvPr id="14" name="Picture 13">
            <a:extLst>
              <a:ext uri="{FF2B5EF4-FFF2-40B4-BE49-F238E27FC236}">
                <a16:creationId xmlns:a16="http://schemas.microsoft.com/office/drawing/2014/main" id="{0A208F2E-40B5-4B3B-AAF2-A84D05C9245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509584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valuation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9583057" cy="1015663"/>
          </a:xfrm>
          <a:prstGeom prst="rect">
            <a:avLst/>
          </a:prstGeom>
          <a:noFill/>
        </p:spPr>
        <p:txBody>
          <a:bodyPr wrap="square" rtlCol="0">
            <a:spAutoFit/>
          </a:bodyPr>
          <a:lstStyle/>
          <a:p>
            <a:pPr algn="l"/>
            <a:r>
              <a:rPr lang="en-US" sz="6000" b="1" i="0">
                <a:solidFill>
                  <a:schemeClr val="tx1"/>
                </a:solidFill>
                <a:latin typeface="IBM Plex Sans" panose="020B0503050203000203" pitchFamily="34" charset="77"/>
                <a:ea typeface="Roboto" panose="02000000000000000000" pitchFamily="2" charset="0"/>
              </a:rPr>
              <a:t>Session evaluation</a:t>
            </a:r>
          </a:p>
        </p:txBody>
      </p:sp>
      <p:sp>
        <p:nvSpPr>
          <p:cNvPr id="26" name="TextBox 25">
            <a:extLst>
              <a:ext uri="{FF2B5EF4-FFF2-40B4-BE49-F238E27FC236}">
                <a16:creationId xmlns:a16="http://schemas.microsoft.com/office/drawing/2014/main" id="{FEDC7C0B-1DAB-8544-9AAC-01B9C9A7782C}"/>
              </a:ext>
            </a:extLst>
          </p:cNvPr>
          <p:cNvSpPr txBox="1"/>
          <p:nvPr userDrawn="1"/>
        </p:nvSpPr>
        <p:spPr>
          <a:xfrm>
            <a:off x="424542" y="1415901"/>
            <a:ext cx="9583057" cy="769441"/>
          </a:xfrm>
          <a:prstGeom prst="rect">
            <a:avLst/>
          </a:prstGeom>
          <a:noFill/>
        </p:spPr>
        <p:txBody>
          <a:bodyPr wrap="square" rtlCol="0">
            <a:spAutoFit/>
          </a:bodyPr>
          <a:lstStyle/>
          <a:p>
            <a:pPr algn="l"/>
            <a:r>
              <a:rPr lang="en-GB" sz="4400" b="0" i="0" dirty="0">
                <a:solidFill>
                  <a:schemeClr val="tx1"/>
                </a:solidFill>
                <a:latin typeface="IBM Plex Sans" panose="020B0503050203000203" pitchFamily="34" charset="77"/>
              </a:rPr>
              <a:t>Your feedback is important to us</a:t>
            </a:r>
            <a:endParaRPr lang="en-US" sz="4400" b="0" i="0" dirty="0">
              <a:solidFill>
                <a:schemeClr val="tx1"/>
              </a:solidFill>
              <a:latin typeface="IBM Plex Sans" panose="020B0503050203000203" pitchFamily="34" charset="77"/>
              <a:ea typeface="Roboto" panose="02000000000000000000" pitchFamily="2" charset="0"/>
            </a:endParaRPr>
          </a:p>
        </p:txBody>
      </p:sp>
      <p:sp>
        <p:nvSpPr>
          <p:cNvPr id="27" name="TextBox 26">
            <a:extLst>
              <a:ext uri="{FF2B5EF4-FFF2-40B4-BE49-F238E27FC236}">
                <a16:creationId xmlns:a16="http://schemas.microsoft.com/office/drawing/2014/main" id="{5AF22D7A-4ABB-6245-8502-18EF607330AF}"/>
              </a:ext>
            </a:extLst>
          </p:cNvPr>
          <p:cNvSpPr txBox="1"/>
          <p:nvPr userDrawn="1"/>
        </p:nvSpPr>
        <p:spPr>
          <a:xfrm>
            <a:off x="424541" y="3361753"/>
            <a:ext cx="9583057" cy="1200329"/>
          </a:xfrm>
          <a:prstGeom prst="rect">
            <a:avLst/>
          </a:prstGeom>
          <a:noFill/>
        </p:spPr>
        <p:txBody>
          <a:bodyPr wrap="square" rtlCol="0">
            <a:spAutoFit/>
          </a:bodyPr>
          <a:lstStyle/>
          <a:p>
            <a:pPr algn="l"/>
            <a:r>
              <a:rPr lang="en-GB" sz="3600" b="1" i="0" dirty="0">
                <a:solidFill>
                  <a:schemeClr val="tx1"/>
                </a:solidFill>
                <a:latin typeface="IBM Plex Sans" panose="020B0503050203000203" pitchFamily="34" charset="77"/>
              </a:rPr>
              <a:t>Please fill out your session evaluation and hand to speaker!</a:t>
            </a:r>
            <a:endParaRPr lang="en-US" sz="3600" b="1" i="0" dirty="0">
              <a:solidFill>
                <a:schemeClr val="tx1"/>
              </a:solidFill>
              <a:latin typeface="IBM Plex Sans" panose="020B0503050203000203" pitchFamily="34" charset="77"/>
              <a:ea typeface="Roboto" panose="02000000000000000000" pitchFamily="2" charset="0"/>
            </a:endParaRPr>
          </a:p>
        </p:txBody>
      </p:sp>
      <p:pic>
        <p:nvPicPr>
          <p:cNvPr id="14" name="Picture 13">
            <a:extLst>
              <a:ext uri="{FF2B5EF4-FFF2-40B4-BE49-F238E27FC236}">
                <a16:creationId xmlns:a16="http://schemas.microsoft.com/office/drawing/2014/main" id="{9B4CEF79-C672-4D27-A074-87AF6BBA257E}"/>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15" name="TextBox 14">
            <a:extLst>
              <a:ext uri="{FF2B5EF4-FFF2-40B4-BE49-F238E27FC236}">
                <a16:creationId xmlns:a16="http://schemas.microsoft.com/office/drawing/2014/main" id="{61F7F81A-D121-4B34-A867-E38733B2F70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CC10A771-D7B9-2CEE-FCF7-C3C32B29B6E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6364730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6159500" cy="1015663"/>
          </a:xfrm>
          <a:prstGeom prst="rect">
            <a:avLst/>
          </a:prstGeom>
          <a:noFill/>
        </p:spPr>
        <p:txBody>
          <a:bodyPr wrap="square" rtlCol="0">
            <a:spAutoFit/>
          </a:bodyPr>
          <a:lstStyle/>
          <a:p>
            <a:pPr algn="l"/>
            <a:r>
              <a:rPr lang="en-US" sz="6000" b="1" i="0">
                <a:solidFill>
                  <a:schemeClr val="tx1"/>
                </a:solidFill>
                <a:latin typeface="IBM Plex Sans" panose="020B0503050203000203" pitchFamily="34" charset="77"/>
                <a:ea typeface="Roboto" panose="02000000000000000000" pitchFamily="2" charset="0"/>
              </a:rPr>
              <a:t>Thank you</a:t>
            </a:r>
          </a:p>
        </p:txBody>
      </p:sp>
      <p:sp>
        <p:nvSpPr>
          <p:cNvPr id="13" name="Title 1">
            <a:extLst>
              <a:ext uri="{FF2B5EF4-FFF2-40B4-BE49-F238E27FC236}">
                <a16:creationId xmlns:a16="http://schemas.microsoft.com/office/drawing/2014/main" id="{6646216E-29A2-A247-99CE-007D67912A79}"/>
              </a:ext>
            </a:extLst>
          </p:cNvPr>
          <p:cNvSpPr>
            <a:spLocks noGrp="1"/>
          </p:cNvSpPr>
          <p:nvPr>
            <p:ph type="title"/>
          </p:nvPr>
        </p:nvSpPr>
        <p:spPr>
          <a:xfrm>
            <a:off x="424542" y="1492289"/>
            <a:ext cx="9383009" cy="1935532"/>
          </a:xfrm>
        </p:spPr>
        <p:txBody>
          <a:bodyPr anchor="t">
            <a:noAutofit/>
          </a:bodyPr>
          <a:lstStyle>
            <a:lvl1pPr>
              <a:defRPr sz="4400" b="0" i="0">
                <a:solidFill>
                  <a:schemeClr val="tx1"/>
                </a:solidFill>
                <a:latin typeface="IBM Plex Sans" panose="020B0503050203000203" pitchFamily="34" charset="77"/>
              </a:defRPr>
            </a:lvl1pPr>
          </a:lstStyle>
          <a:p>
            <a:r>
              <a:rPr lang="en-GB"/>
              <a:t>Click to edit Master title style</a:t>
            </a:r>
            <a:endParaRPr lang="en-US"/>
          </a:p>
        </p:txBody>
      </p:sp>
      <p:sp>
        <p:nvSpPr>
          <p:cNvPr id="15" name="Content Placeholder 2">
            <a:extLst>
              <a:ext uri="{FF2B5EF4-FFF2-40B4-BE49-F238E27FC236}">
                <a16:creationId xmlns:a16="http://schemas.microsoft.com/office/drawing/2014/main" id="{9DAEEB18-91E1-3F42-8D9D-5E0430A0A876}"/>
              </a:ext>
            </a:extLst>
          </p:cNvPr>
          <p:cNvSpPr>
            <a:spLocks noGrp="1"/>
          </p:cNvSpPr>
          <p:nvPr>
            <p:ph idx="11" hasCustomPrompt="1"/>
          </p:nvPr>
        </p:nvSpPr>
        <p:spPr>
          <a:xfrm>
            <a:off x="424542" y="4141591"/>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16" name="Content Placeholder 2">
            <a:extLst>
              <a:ext uri="{FF2B5EF4-FFF2-40B4-BE49-F238E27FC236}">
                <a16:creationId xmlns:a16="http://schemas.microsoft.com/office/drawing/2014/main" id="{607DC7BE-7B26-414F-BD9B-3EC87D60A020}"/>
              </a:ext>
            </a:extLst>
          </p:cNvPr>
          <p:cNvSpPr>
            <a:spLocks noGrp="1"/>
          </p:cNvSpPr>
          <p:nvPr>
            <p:ph idx="12" hasCustomPrompt="1"/>
          </p:nvPr>
        </p:nvSpPr>
        <p:spPr>
          <a:xfrm>
            <a:off x="424542" y="4712653"/>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17" name="Content Placeholder 2">
            <a:extLst>
              <a:ext uri="{FF2B5EF4-FFF2-40B4-BE49-F238E27FC236}">
                <a16:creationId xmlns:a16="http://schemas.microsoft.com/office/drawing/2014/main" id="{F2E4D425-6254-6148-803B-C779BD3C6F75}"/>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18" name="Content Placeholder 2">
            <a:extLst>
              <a:ext uri="{FF2B5EF4-FFF2-40B4-BE49-F238E27FC236}">
                <a16:creationId xmlns:a16="http://schemas.microsoft.com/office/drawing/2014/main" id="{A96E52DF-C0F3-FF4F-92BC-DEBBB26F991B}"/>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pic>
        <p:nvPicPr>
          <p:cNvPr id="24" name="Picture 23">
            <a:extLst>
              <a:ext uri="{FF2B5EF4-FFF2-40B4-BE49-F238E27FC236}">
                <a16:creationId xmlns:a16="http://schemas.microsoft.com/office/drawing/2014/main" id="{E55E8CCA-0838-4267-BADD-8B4834708AF0}"/>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25" name="TextBox 24">
            <a:extLst>
              <a:ext uri="{FF2B5EF4-FFF2-40B4-BE49-F238E27FC236}">
                <a16:creationId xmlns:a16="http://schemas.microsoft.com/office/drawing/2014/main" id="{F1A475E2-8093-4F80-9FB9-4DB0B77719AC}"/>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713F7414-EE94-C1A2-CE70-D3094513C03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8042271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a:p>
            <a:pPr lvl="1"/>
            <a:r>
              <a:rPr lang="en-GB"/>
              <a:t>Second level</a:t>
            </a:r>
          </a:p>
          <a:p>
            <a:pPr lvl="2"/>
            <a:r>
              <a:rPr lang="en-GB"/>
              <a:t>Third level</a:t>
            </a:r>
          </a:p>
        </p:txBody>
      </p:sp>
      <p:sp>
        <p:nvSpPr>
          <p:cNvPr id="15" name="TextBox 14">
            <a:extLst>
              <a:ext uri="{FF2B5EF4-FFF2-40B4-BE49-F238E27FC236}">
                <a16:creationId xmlns:a16="http://schemas.microsoft.com/office/drawing/2014/main" id="{BC9F1BC0-0EB0-E844-8085-78C9D9C9E52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
        <p:nvSpPr>
          <p:cNvPr id="8" name="Title Placeholder 1">
            <a:extLst>
              <a:ext uri="{FF2B5EF4-FFF2-40B4-BE49-F238E27FC236}">
                <a16:creationId xmlns:a16="http://schemas.microsoft.com/office/drawing/2014/main" id="{C85B63D6-D71F-A240-AA5E-4A1411037530}"/>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pic>
        <p:nvPicPr>
          <p:cNvPr id="5" name="Graphic 4">
            <a:extLst>
              <a:ext uri="{FF2B5EF4-FFF2-40B4-BE49-F238E27FC236}">
                <a16:creationId xmlns:a16="http://schemas.microsoft.com/office/drawing/2014/main" id="{D6A499BE-5785-8240-9D7C-DA5C98449F0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pic>
        <p:nvPicPr>
          <p:cNvPr id="6" name="Picture 5">
            <a:extLst>
              <a:ext uri="{FF2B5EF4-FFF2-40B4-BE49-F238E27FC236}">
                <a16:creationId xmlns:a16="http://schemas.microsoft.com/office/drawing/2014/main" id="{1864FFAC-0A41-C060-A5DB-677B1967031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535645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with cuve">
    <p:bg>
      <p:bgPr>
        <a:solidFill>
          <a:schemeClr val="bg1"/>
        </a:soli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5DB589BE-A367-2047-95EA-84FEE887D3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2" name="Text Placeholder 2">
            <a:extLst>
              <a:ext uri="{FF2B5EF4-FFF2-40B4-BE49-F238E27FC236}">
                <a16:creationId xmlns:a16="http://schemas.microsoft.com/office/drawing/2014/main" id="{688C8A19-1FB7-1C42-8E4E-03FB1EF94022}"/>
              </a:ext>
            </a:extLst>
          </p:cNvPr>
          <p:cNvSpPr>
            <a:spLocks noGrp="1"/>
          </p:cNvSpPr>
          <p:nvPr>
            <p:ph idx="1"/>
          </p:nvPr>
        </p:nvSpPr>
        <p:spPr bwMode="auto">
          <a:xfrm>
            <a:off x="369047" y="1825625"/>
            <a:ext cx="8165353"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p:txBody>
      </p:sp>
      <p:sp>
        <p:nvSpPr>
          <p:cNvPr id="17" name="Title Placeholder 1">
            <a:extLst>
              <a:ext uri="{FF2B5EF4-FFF2-40B4-BE49-F238E27FC236}">
                <a16:creationId xmlns:a16="http://schemas.microsoft.com/office/drawing/2014/main" id="{9B51CA4F-FDD7-FD40-A833-669B9D88A65E}"/>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8" name="TextBox 7">
            <a:extLst>
              <a:ext uri="{FF2B5EF4-FFF2-40B4-BE49-F238E27FC236}">
                <a16:creationId xmlns:a16="http://schemas.microsoft.com/office/drawing/2014/main" id="{F8166752-8BA2-4DBA-B412-3AECBBF87C74}"/>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EA290477-8672-46E3-ACC1-A958509D96B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28980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ith image">
    <p:bg>
      <p:bgPr>
        <a:solidFill>
          <a:schemeClr val="bg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C90C9966-75CA-7E49-8F85-51BA761C902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1" name="Title Placeholder 1">
            <a:extLst>
              <a:ext uri="{FF2B5EF4-FFF2-40B4-BE49-F238E27FC236}">
                <a16:creationId xmlns:a16="http://schemas.microsoft.com/office/drawing/2014/main" id="{F5A1E762-B7D5-9F4E-825E-929E1BE50C57}"/>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12" name="Content Placeholder 2">
            <a:extLst>
              <a:ext uri="{FF2B5EF4-FFF2-40B4-BE49-F238E27FC236}">
                <a16:creationId xmlns:a16="http://schemas.microsoft.com/office/drawing/2014/main" id="{CDAD3BA8-4C2E-494A-A7C7-1F34325CE661}"/>
              </a:ext>
            </a:extLst>
          </p:cNvPr>
          <p:cNvSpPr>
            <a:spLocks noGrp="1"/>
          </p:cNvSpPr>
          <p:nvPr>
            <p:ph idx="1"/>
          </p:nvPr>
        </p:nvSpPr>
        <p:spPr>
          <a:xfrm>
            <a:off x="369046" y="1825625"/>
            <a:ext cx="7418101" cy="4351338"/>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a:p>
            <a:pPr lvl="1"/>
            <a:r>
              <a:rPr lang="en-GB"/>
              <a:t>Second level</a:t>
            </a:r>
          </a:p>
          <a:p>
            <a:pPr lvl="2"/>
            <a:r>
              <a:rPr lang="en-GB"/>
              <a:t>Third level</a:t>
            </a:r>
          </a:p>
        </p:txBody>
      </p:sp>
      <p:sp>
        <p:nvSpPr>
          <p:cNvPr id="10" name="TextBox 9">
            <a:extLst>
              <a:ext uri="{FF2B5EF4-FFF2-40B4-BE49-F238E27FC236}">
                <a16:creationId xmlns:a16="http://schemas.microsoft.com/office/drawing/2014/main" id="{800746DE-7FCD-43C8-8262-DC2EE6C74CB4}"/>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1216F078-04AE-37B4-084E-D57C2969638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282908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p:bg>
      <p:bgPr>
        <a:solidFill>
          <a:schemeClr val="bg1"/>
        </a:solidFill>
        <a:effectLst/>
      </p:bgPr>
    </p:bg>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7F35519F-A138-7348-B1E9-EE8C0C7B1FD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8" name="Title Placeholder 1">
            <a:extLst>
              <a:ext uri="{FF2B5EF4-FFF2-40B4-BE49-F238E27FC236}">
                <a16:creationId xmlns:a16="http://schemas.microsoft.com/office/drawing/2014/main" id="{08758882-B747-8C4C-B1E8-6F0E169CB6CF}"/>
              </a:ext>
            </a:extLst>
          </p:cNvPr>
          <p:cNvSpPr>
            <a:spLocks noGrp="1"/>
          </p:cNvSpPr>
          <p:nvPr>
            <p:ph type="title"/>
          </p:nvPr>
        </p:nvSpPr>
        <p:spPr bwMode="auto">
          <a:xfrm>
            <a:off x="369048" y="492942"/>
            <a:ext cx="4389766"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6" name="TextBox 5">
            <a:extLst>
              <a:ext uri="{FF2B5EF4-FFF2-40B4-BE49-F238E27FC236}">
                <a16:creationId xmlns:a16="http://schemas.microsoft.com/office/drawing/2014/main" id="{7E9764F7-4DD9-414D-AB2A-D2D233BEDFC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607D0182-DDE1-3C93-CB3E-2DF817C02F7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003641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urve">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25E5042-9E74-7B4F-ABCD-A2C862194C0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8" name="Title Placeholder 1">
            <a:extLst>
              <a:ext uri="{FF2B5EF4-FFF2-40B4-BE49-F238E27FC236}">
                <a16:creationId xmlns:a16="http://schemas.microsoft.com/office/drawing/2014/main" id="{08758882-B747-8C4C-B1E8-6F0E169CB6CF}"/>
              </a:ext>
            </a:extLst>
          </p:cNvPr>
          <p:cNvSpPr>
            <a:spLocks noGrp="1"/>
          </p:cNvSpPr>
          <p:nvPr>
            <p:ph type="title"/>
          </p:nvPr>
        </p:nvSpPr>
        <p:spPr bwMode="auto">
          <a:xfrm>
            <a:off x="369048" y="492942"/>
            <a:ext cx="4389766"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7" name="TextBox 6">
            <a:extLst>
              <a:ext uri="{FF2B5EF4-FFF2-40B4-BE49-F238E27FC236}">
                <a16:creationId xmlns:a16="http://schemas.microsoft.com/office/drawing/2014/main" id="{6DD69B93-1509-4816-8C12-EFE4EB0F6AB6}"/>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D5E5569B-0480-14AB-A4CB-22FF9622345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21441282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page">
    <p:bg>
      <p:bgPr>
        <a:solidFill>
          <a:schemeClr val="bg2"/>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424543" y="439583"/>
            <a:ext cx="9753600" cy="4965699"/>
          </a:xfrm>
        </p:spPr>
        <p:txBody>
          <a:bodyPr anchor="t"/>
          <a:lstStyle>
            <a:lvl1pPr algn="l">
              <a:lnSpc>
                <a:spcPct val="120000"/>
              </a:lnSpc>
              <a:defRPr sz="6000" b="1" i="0">
                <a:solidFill>
                  <a:schemeClr val="tx1"/>
                </a:solidFill>
                <a:latin typeface="IBM Plex Sans" panose="020B0503050203000203" pitchFamily="34" charset="77"/>
              </a:defRPr>
            </a:lvl1pPr>
          </a:lstStyle>
          <a:p>
            <a:r>
              <a:rPr lang="en-US" dirty="0"/>
              <a:t>This is a breaker page, it can be used to split topics or highlight something</a:t>
            </a:r>
          </a:p>
        </p:txBody>
      </p:sp>
      <p:pic>
        <p:nvPicPr>
          <p:cNvPr id="10" name="Graphic 9">
            <a:extLst>
              <a:ext uri="{FF2B5EF4-FFF2-40B4-BE49-F238E27FC236}">
                <a16:creationId xmlns:a16="http://schemas.microsoft.com/office/drawing/2014/main" id="{10D76F5F-7485-2C49-990E-2AAEF04139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9" name="TextBox 8">
            <a:extLst>
              <a:ext uri="{FF2B5EF4-FFF2-40B4-BE49-F238E27FC236}">
                <a16:creationId xmlns:a16="http://schemas.microsoft.com/office/drawing/2014/main" id="{FBE7CC69-EB7C-4814-B961-BDCB2564A875}"/>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E9EEBA8D-5F8E-350C-6438-6B04D9F1B5B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3280079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reaker page - subtl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4200" y="3417082"/>
            <a:ext cx="10020300" cy="1325563"/>
          </a:xfrm>
        </p:spPr>
        <p:txBody>
          <a:bodyPr>
            <a:normAutofit/>
          </a:bodyPr>
          <a:lstStyle>
            <a:lvl1pPr>
              <a:defRPr sz="4800" b="1" i="0">
                <a:solidFill>
                  <a:schemeClr val="accent2"/>
                </a:solidFill>
                <a:latin typeface="IBM Plex Sans" panose="020B0503050203000203" pitchFamily="34" charset="77"/>
              </a:defRPr>
            </a:lvl1pPr>
          </a:lstStyle>
          <a:p>
            <a:r>
              <a:rPr lang="en-GB"/>
              <a:t>Click to edit Master title style</a:t>
            </a:r>
            <a:endParaRPr lang="en-US"/>
          </a:p>
        </p:txBody>
      </p:sp>
      <p:sp>
        <p:nvSpPr>
          <p:cNvPr id="3" name="Content Placeholder 2"/>
          <p:cNvSpPr>
            <a:spLocks noGrp="1"/>
          </p:cNvSpPr>
          <p:nvPr>
            <p:ph idx="1"/>
          </p:nvPr>
        </p:nvSpPr>
        <p:spPr>
          <a:xfrm>
            <a:off x="584200" y="4735079"/>
            <a:ext cx="10515600" cy="1214458"/>
          </a:xfrm>
        </p:spPr>
        <p:txBody>
          <a:bodyPr>
            <a:normAutofit/>
          </a:bodyPr>
          <a:lstStyle>
            <a:lvl1pPr marL="0" indent="0">
              <a:buNone/>
              <a:defRPr>
                <a:solidFill>
                  <a:schemeClr val="tx1"/>
                </a:solidFill>
              </a:defRPr>
            </a:lvl1pPr>
            <a:lvl2pPr marL="457200" indent="0">
              <a:buNone/>
              <a:defRPr>
                <a:solidFill>
                  <a:schemeClr val="tx1"/>
                </a:solidFill>
              </a:defRPr>
            </a:lvl2pPr>
            <a:lvl3pPr marL="914400" indent="0">
              <a:buNone/>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p:txBody>
      </p:sp>
      <p:pic>
        <p:nvPicPr>
          <p:cNvPr id="6" name="Graphic 5">
            <a:extLst>
              <a:ext uri="{FF2B5EF4-FFF2-40B4-BE49-F238E27FC236}">
                <a16:creationId xmlns:a16="http://schemas.microsoft.com/office/drawing/2014/main" id="{6CA45083-DB22-304F-B57E-1B684738C2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555DC7F2-31CE-42F1-9A1E-4A9DF638372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5" name="Picture 4">
            <a:extLst>
              <a:ext uri="{FF2B5EF4-FFF2-40B4-BE49-F238E27FC236}">
                <a16:creationId xmlns:a16="http://schemas.microsoft.com/office/drawing/2014/main" id="{EE8C000E-6882-FE61-EE31-806641BD1BD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8532905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hings">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AF1E5A0-D425-C347-B9BD-EB00F8D14F08}"/>
              </a:ext>
            </a:extLst>
          </p:cNvPr>
          <p:cNvSpPr>
            <a:spLocks noGrp="1"/>
          </p:cNvSpPr>
          <p:nvPr>
            <p:ph idx="1" hasCustomPrompt="1"/>
          </p:nvPr>
        </p:nvSpPr>
        <p:spPr>
          <a:xfrm>
            <a:off x="394658" y="4911408"/>
            <a:ext cx="2774963" cy="940593"/>
          </a:xfrm>
        </p:spPr>
        <p:txBody>
          <a:bodyPr>
            <a:normAutofit/>
          </a:bodyPr>
          <a:lstStyle>
            <a:lvl1pPr marL="0" indent="0" algn="ctr">
              <a:buNone/>
              <a:defRPr sz="2200"/>
            </a:lvl1pPr>
          </a:lstStyle>
          <a:p>
            <a:r>
              <a:rPr lang="en-US"/>
              <a:t>Something goes here</a:t>
            </a:r>
          </a:p>
        </p:txBody>
      </p:sp>
      <p:sp>
        <p:nvSpPr>
          <p:cNvPr id="6" name="Title 1">
            <a:extLst>
              <a:ext uri="{FF2B5EF4-FFF2-40B4-BE49-F238E27FC236}">
                <a16:creationId xmlns:a16="http://schemas.microsoft.com/office/drawing/2014/main" id="{3010A372-B547-3F47-9A9A-95AEDE5ECC3F}"/>
              </a:ext>
            </a:extLst>
          </p:cNvPr>
          <p:cNvSpPr txBox="1">
            <a:spLocks/>
          </p:cNvSpPr>
          <p:nvPr/>
        </p:nvSpPr>
        <p:spPr bwMode="auto">
          <a:xfrm>
            <a:off x="394657"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4" name="Content Placeholder 2">
            <a:extLst>
              <a:ext uri="{FF2B5EF4-FFF2-40B4-BE49-F238E27FC236}">
                <a16:creationId xmlns:a16="http://schemas.microsoft.com/office/drawing/2014/main" id="{7A6DBC66-16A3-B04D-A8D8-8142C635BA44}"/>
              </a:ext>
            </a:extLst>
          </p:cNvPr>
          <p:cNvSpPr>
            <a:spLocks noGrp="1"/>
          </p:cNvSpPr>
          <p:nvPr>
            <p:ph idx="10" hasCustomPrompt="1"/>
          </p:nvPr>
        </p:nvSpPr>
        <p:spPr>
          <a:xfrm>
            <a:off x="9069901" y="4911408"/>
            <a:ext cx="2774963" cy="940593"/>
          </a:xfrm>
        </p:spPr>
        <p:txBody>
          <a:bodyPr>
            <a:normAutofit/>
          </a:bodyPr>
          <a:lstStyle>
            <a:lvl1pPr marL="0" indent="0" algn="ctr">
              <a:buNone/>
              <a:defRPr sz="2200"/>
            </a:lvl1pPr>
          </a:lstStyle>
          <a:p>
            <a:r>
              <a:rPr lang="en-US"/>
              <a:t>Something goes here</a:t>
            </a:r>
          </a:p>
        </p:txBody>
      </p:sp>
      <p:sp>
        <p:nvSpPr>
          <p:cNvPr id="15" name="Content Placeholder 2">
            <a:extLst>
              <a:ext uri="{FF2B5EF4-FFF2-40B4-BE49-F238E27FC236}">
                <a16:creationId xmlns:a16="http://schemas.microsoft.com/office/drawing/2014/main" id="{661176B2-2101-B04E-8F1B-08B5EA78EEEB}"/>
              </a:ext>
            </a:extLst>
          </p:cNvPr>
          <p:cNvSpPr>
            <a:spLocks noGrp="1"/>
          </p:cNvSpPr>
          <p:nvPr>
            <p:ph idx="11" hasCustomPrompt="1"/>
          </p:nvPr>
        </p:nvSpPr>
        <p:spPr>
          <a:xfrm>
            <a:off x="6178154" y="4911408"/>
            <a:ext cx="2774963" cy="940593"/>
          </a:xfrm>
        </p:spPr>
        <p:txBody>
          <a:bodyPr>
            <a:normAutofit/>
          </a:bodyPr>
          <a:lstStyle>
            <a:lvl1pPr marL="0" indent="0" algn="ctr">
              <a:buNone/>
              <a:defRPr sz="2200"/>
            </a:lvl1pPr>
          </a:lstStyle>
          <a:p>
            <a:r>
              <a:rPr lang="en-US"/>
              <a:t>Something goes here</a:t>
            </a:r>
          </a:p>
        </p:txBody>
      </p:sp>
      <p:sp>
        <p:nvSpPr>
          <p:cNvPr id="16" name="Content Placeholder 2">
            <a:extLst>
              <a:ext uri="{FF2B5EF4-FFF2-40B4-BE49-F238E27FC236}">
                <a16:creationId xmlns:a16="http://schemas.microsoft.com/office/drawing/2014/main" id="{D2AB31DB-FBDF-F643-B30C-8D0EE6AB2F7C}"/>
              </a:ext>
            </a:extLst>
          </p:cNvPr>
          <p:cNvSpPr>
            <a:spLocks noGrp="1"/>
          </p:cNvSpPr>
          <p:nvPr>
            <p:ph idx="12" hasCustomPrompt="1"/>
          </p:nvPr>
        </p:nvSpPr>
        <p:spPr>
          <a:xfrm>
            <a:off x="3286406" y="4911408"/>
            <a:ext cx="2774963" cy="940593"/>
          </a:xfrm>
        </p:spPr>
        <p:txBody>
          <a:bodyPr>
            <a:normAutofit/>
          </a:bodyPr>
          <a:lstStyle>
            <a:lvl1pPr marL="0" indent="0" algn="ctr">
              <a:buNone/>
              <a:defRPr sz="2200"/>
            </a:lvl1pPr>
          </a:lstStyle>
          <a:p>
            <a:r>
              <a:rPr lang="en-US"/>
              <a:t>Something goes here</a:t>
            </a:r>
          </a:p>
        </p:txBody>
      </p:sp>
      <p:sp>
        <p:nvSpPr>
          <p:cNvPr id="17" name="Title 1">
            <a:extLst>
              <a:ext uri="{FF2B5EF4-FFF2-40B4-BE49-F238E27FC236}">
                <a16:creationId xmlns:a16="http://schemas.microsoft.com/office/drawing/2014/main" id="{8E1C2EAD-E3AA-7144-B320-33AFFD6595A1}"/>
              </a:ext>
            </a:extLst>
          </p:cNvPr>
          <p:cNvSpPr txBox="1">
            <a:spLocks/>
          </p:cNvSpPr>
          <p:nvPr/>
        </p:nvSpPr>
        <p:spPr bwMode="auto">
          <a:xfrm>
            <a:off x="3280361"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8" name="Title 1">
            <a:extLst>
              <a:ext uri="{FF2B5EF4-FFF2-40B4-BE49-F238E27FC236}">
                <a16:creationId xmlns:a16="http://schemas.microsoft.com/office/drawing/2014/main" id="{55AB90CE-616C-7C4C-900C-3BE762A110BA}"/>
              </a:ext>
            </a:extLst>
          </p:cNvPr>
          <p:cNvSpPr txBox="1">
            <a:spLocks/>
          </p:cNvSpPr>
          <p:nvPr/>
        </p:nvSpPr>
        <p:spPr bwMode="auto">
          <a:xfrm>
            <a:off x="6177940"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9" name="Title 1">
            <a:extLst>
              <a:ext uri="{FF2B5EF4-FFF2-40B4-BE49-F238E27FC236}">
                <a16:creationId xmlns:a16="http://schemas.microsoft.com/office/drawing/2014/main" id="{6B738E19-AF36-9F47-84D4-6CA113150CC4}"/>
              </a:ext>
            </a:extLst>
          </p:cNvPr>
          <p:cNvSpPr txBox="1">
            <a:spLocks/>
          </p:cNvSpPr>
          <p:nvPr/>
        </p:nvSpPr>
        <p:spPr bwMode="auto">
          <a:xfrm>
            <a:off x="9051768"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3" name="Title Placeholder 1">
            <a:extLst>
              <a:ext uri="{FF2B5EF4-FFF2-40B4-BE49-F238E27FC236}">
                <a16:creationId xmlns:a16="http://schemas.microsoft.com/office/drawing/2014/main" id="{E87A4911-24D9-CD4C-852E-BF15D54A095A}"/>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pic>
        <p:nvPicPr>
          <p:cNvPr id="20" name="Graphic 19">
            <a:extLst>
              <a:ext uri="{FF2B5EF4-FFF2-40B4-BE49-F238E27FC236}">
                <a16:creationId xmlns:a16="http://schemas.microsoft.com/office/drawing/2014/main" id="{714047B5-1622-6C4C-978F-CDE8D659357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23" name="TextBox 22">
            <a:extLst>
              <a:ext uri="{FF2B5EF4-FFF2-40B4-BE49-F238E27FC236}">
                <a16:creationId xmlns:a16="http://schemas.microsoft.com/office/drawing/2014/main" id="{56361032-8F61-40CD-9A74-6FDD63C094E5}"/>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70E1FD60-1FCB-D5DF-4583-A1EE441CC0F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507886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rtual background dark">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424DA5F-1115-3841-8BB1-49B5CF7735B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D9B2E2E9-7892-4A0C-8710-4A554490BE4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7" name="Picture 6">
            <a:extLst>
              <a:ext uri="{FF2B5EF4-FFF2-40B4-BE49-F238E27FC236}">
                <a16:creationId xmlns:a16="http://schemas.microsoft.com/office/drawing/2014/main" id="{DE04CE1D-DB63-7DA5-AC34-813857F00C5D}"/>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2" name="Picture 1">
            <a:extLst>
              <a:ext uri="{FF2B5EF4-FFF2-40B4-BE49-F238E27FC236}">
                <a16:creationId xmlns:a16="http://schemas.microsoft.com/office/drawing/2014/main" id="{F45F70C5-1DDA-0F9D-2C9B-7CD1586FA9B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3197867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irtual background light">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F055F6D-BBE6-8946-8BD5-E61D1C0660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C41C1E91-397A-4D53-8EB8-83B1E77B353A}"/>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4" name="Picture 3">
            <a:extLst>
              <a:ext uri="{FF2B5EF4-FFF2-40B4-BE49-F238E27FC236}">
                <a16:creationId xmlns:a16="http://schemas.microsoft.com/office/drawing/2014/main" id="{3BC2E1AF-7D56-7DBC-847D-E70E169A7D13}"/>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3" name="Picture 2">
            <a:extLst>
              <a:ext uri="{FF2B5EF4-FFF2-40B4-BE49-F238E27FC236}">
                <a16:creationId xmlns:a16="http://schemas.microsoft.com/office/drawing/2014/main" id="{75C21CF3-766C-63E8-81A7-3BC4F0C9690D}"/>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700221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ogo slide ">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19D0FFD-3045-FA47-8FE7-D7635B9CF1B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pic>
        <p:nvPicPr>
          <p:cNvPr id="5" name="Picture 4">
            <a:extLst>
              <a:ext uri="{FF2B5EF4-FFF2-40B4-BE49-F238E27FC236}">
                <a16:creationId xmlns:a16="http://schemas.microsoft.com/office/drawing/2014/main" id="{522AB194-6E8D-4BE4-8BE3-2399A21B028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909418" y="2839919"/>
            <a:ext cx="8373162" cy="1178161"/>
          </a:xfrm>
          <a:prstGeom prst="rect">
            <a:avLst/>
          </a:prstGeom>
        </p:spPr>
      </p:pic>
      <p:sp>
        <p:nvSpPr>
          <p:cNvPr id="9" name="TextBox 8">
            <a:extLst>
              <a:ext uri="{FF2B5EF4-FFF2-40B4-BE49-F238E27FC236}">
                <a16:creationId xmlns:a16="http://schemas.microsoft.com/office/drawing/2014/main" id="{3EF89DA8-09FE-44ED-BAF4-26B0F24AF0C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2557852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arge quot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CA8969-55EF-5C4F-B489-FE161DB9B338}"/>
              </a:ext>
            </a:extLst>
          </p:cNvPr>
          <p:cNvSpPr>
            <a:spLocks noGrp="1"/>
          </p:cNvSpPr>
          <p:nvPr>
            <p:ph type="ctrTitle" idx="4294967295" hasCustomPrompt="1"/>
          </p:nvPr>
        </p:nvSpPr>
        <p:spPr>
          <a:xfrm>
            <a:off x="1374775" y="1227052"/>
            <a:ext cx="9442450" cy="3703637"/>
          </a:xfrm>
        </p:spPr>
        <p:txBody>
          <a:bodyPr anchor="ctr">
            <a:normAutofit/>
          </a:bodyPr>
          <a:lstStyle>
            <a:lvl1pPr algn="ctr">
              <a:lnSpc>
                <a:spcPct val="120000"/>
              </a:lnSpc>
              <a:defRPr sz="4000" b="1" i="0" baseline="0">
                <a:solidFill>
                  <a:schemeClr val="tx1"/>
                </a:solidFill>
                <a:latin typeface="IBM Plex Sans" panose="020B0503050203000203" pitchFamily="34" charset="77"/>
                <a:cs typeface="IBM Plex Sans" panose="020B0503050203000203" pitchFamily="34" charset="77"/>
              </a:defRPr>
            </a:lvl1pPr>
          </a:lstStyle>
          <a:p>
            <a:r>
              <a:rPr lang="en-US" sz="4800"/>
              <a:t>“A very wise and interesting quote from someone great can go in this text box.”</a:t>
            </a:r>
          </a:p>
        </p:txBody>
      </p:sp>
      <p:sp>
        <p:nvSpPr>
          <p:cNvPr id="9" name="Subtitle 2">
            <a:extLst>
              <a:ext uri="{FF2B5EF4-FFF2-40B4-BE49-F238E27FC236}">
                <a16:creationId xmlns:a16="http://schemas.microsoft.com/office/drawing/2014/main" id="{50CE5376-92BC-A148-80C1-38A04D9566FD}"/>
              </a:ext>
            </a:extLst>
          </p:cNvPr>
          <p:cNvSpPr>
            <a:spLocks noGrp="1"/>
          </p:cNvSpPr>
          <p:nvPr>
            <p:ph type="subTitle" idx="4294967295" hasCustomPrompt="1"/>
          </p:nvPr>
        </p:nvSpPr>
        <p:spPr>
          <a:xfrm>
            <a:off x="1374775" y="4930689"/>
            <a:ext cx="9442450" cy="881063"/>
          </a:xfrm>
        </p:spPr>
        <p:txBody>
          <a:bodyPr/>
          <a:lstStyle>
            <a:lvl1pPr marL="0" indent="0" algn="ctr">
              <a:buNone/>
              <a:defRPr sz="3200" b="0" i="0" baseline="0">
                <a:solidFill>
                  <a:schemeClr val="tx1"/>
                </a:solidFill>
                <a:latin typeface="IBM Plex Sans" panose="020B0503050203000203" pitchFamily="34" charset="77"/>
                <a:cs typeface="IBM Plex Sans" panose="020B050305020300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solidFill>
              </a:rPr>
              <a:t>Person or Company Logo</a:t>
            </a:r>
          </a:p>
        </p:txBody>
      </p:sp>
      <p:pic>
        <p:nvPicPr>
          <p:cNvPr id="6" name="Graphic 5">
            <a:extLst>
              <a:ext uri="{FF2B5EF4-FFF2-40B4-BE49-F238E27FC236}">
                <a16:creationId xmlns:a16="http://schemas.microsoft.com/office/drawing/2014/main" id="{6D96807E-1668-734B-8931-7473D81D5A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1" name="TextBox 10">
            <a:extLst>
              <a:ext uri="{FF2B5EF4-FFF2-40B4-BE49-F238E27FC236}">
                <a16:creationId xmlns:a16="http://schemas.microsoft.com/office/drawing/2014/main" id="{4A4D11FB-B593-49C6-AAAE-52ECEE63B06B}"/>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5FF987D8-59D9-74C7-B303-93CF4DE211C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395487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6082" name="Title Placeholder 1"/>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46083" name="Text Placeholder 2"/>
          <p:cNvSpPr>
            <a:spLocks noGrp="1"/>
          </p:cNvSpPr>
          <p:nvPr>
            <p:ph type="body" idx="1"/>
          </p:nvPr>
        </p:nvSpPr>
        <p:spPr bwMode="auto">
          <a:xfrm>
            <a:off x="369047" y="1825625"/>
            <a:ext cx="10515600"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p:txBody>
      </p:sp>
    </p:spTree>
    <p:extLst>
      <p:ext uri="{BB962C8B-B14F-4D97-AF65-F5344CB8AC3E}">
        <p14:creationId xmlns:p14="http://schemas.microsoft.com/office/powerpoint/2010/main" val="2165008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rtl="0" eaLnBrk="1" fontAlgn="base" hangingPunct="1">
        <a:lnSpc>
          <a:spcPct val="90000"/>
        </a:lnSpc>
        <a:spcBef>
          <a:spcPct val="0"/>
        </a:spcBef>
        <a:spcAft>
          <a:spcPct val="0"/>
        </a:spcAft>
        <a:defRPr sz="4000" b="1" i="0" kern="1200">
          <a:solidFill>
            <a:schemeClr val="accent2"/>
          </a:solidFill>
          <a:latin typeface="IBM Plex Sans" panose="020B0503050203000203" pitchFamily="34" charset="77"/>
          <a:ea typeface="+mj-ea"/>
          <a:cs typeface="IBM Plex Sans" panose="020B0503050203000203" pitchFamily="34"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457200" indent="-457200" algn="l" rtl="0" eaLnBrk="1" fontAlgn="base" hangingPunct="1">
        <a:lnSpc>
          <a:spcPct val="130000"/>
        </a:lnSpc>
        <a:spcBef>
          <a:spcPts val="1000"/>
        </a:spcBef>
        <a:spcAft>
          <a:spcPct val="0"/>
        </a:spcAft>
        <a:buClr>
          <a:srgbClr val="CC0000"/>
        </a:buClr>
        <a:buSzPct val="100000"/>
        <a:buFont typeface="Arial"/>
        <a:buChar char="•"/>
        <a:defRPr sz="3400" b="0" i="0" kern="1200">
          <a:solidFill>
            <a:schemeClr val="tx1"/>
          </a:solidFill>
          <a:latin typeface="IBM Plex Sans" panose="020B0503050203000203" pitchFamily="34" charset="77"/>
          <a:ea typeface="+mn-ea"/>
          <a:cs typeface="IBM Plex Sans" panose="020B0503050203000203" pitchFamily="34" charset="77"/>
        </a:defRPr>
      </a:lvl1pPr>
      <a:lvl2pPr marL="914400" indent="-457200" algn="l" rtl="0" eaLnBrk="1" fontAlgn="base" hangingPunct="1">
        <a:lnSpc>
          <a:spcPct val="130000"/>
        </a:lnSpc>
        <a:spcBef>
          <a:spcPts val="500"/>
        </a:spcBef>
        <a:spcAft>
          <a:spcPct val="0"/>
        </a:spcAft>
        <a:buClr>
          <a:srgbClr val="CC0000"/>
        </a:buClr>
        <a:buSzPct val="100000"/>
        <a:buFont typeface="Arial"/>
        <a:buChar char="•"/>
        <a:defRPr sz="2800" b="0" i="0" kern="1200">
          <a:solidFill>
            <a:schemeClr val="tx1"/>
          </a:solidFill>
          <a:latin typeface="IBM Plex Sans" panose="020B0503050203000203" pitchFamily="34" charset="77"/>
          <a:ea typeface="+mn-ea"/>
          <a:cs typeface="IBM Plex Sans" panose="020B0503050203000203" pitchFamily="34" charset="77"/>
        </a:defRPr>
      </a:lvl2pPr>
      <a:lvl3pPr marL="1257300" indent="-342900" algn="l" rtl="0" eaLnBrk="1" fontAlgn="base" hangingPunct="1">
        <a:lnSpc>
          <a:spcPct val="130000"/>
        </a:lnSpc>
        <a:spcBef>
          <a:spcPts val="500"/>
        </a:spcBef>
        <a:spcAft>
          <a:spcPct val="0"/>
        </a:spcAft>
        <a:buClr>
          <a:srgbClr val="CC0000"/>
        </a:buClr>
        <a:buSzPct val="100000"/>
        <a:buFont typeface="Arial"/>
        <a:buChar char="•"/>
        <a:defRPr sz="2400" b="0" i="0" kern="1200">
          <a:solidFill>
            <a:schemeClr val="tx1"/>
          </a:solidFill>
          <a:latin typeface="IBM Plex Sans" panose="020B0503050203000203" pitchFamily="34" charset="77"/>
          <a:ea typeface="+mn-ea"/>
          <a:cs typeface="IBM Plex Sans" panose="020B0503050203000203" pitchFamily="34" charset="77"/>
        </a:defRPr>
      </a:lvl3pPr>
      <a:lvl4pPr marL="1600200" indent="-228600" algn="l" rtl="0" eaLnBrk="1" fontAlgn="base" hangingPunct="1">
        <a:lnSpc>
          <a:spcPct val="120000"/>
        </a:lnSpc>
        <a:spcBef>
          <a:spcPts val="500"/>
        </a:spcBef>
        <a:spcAft>
          <a:spcPct val="0"/>
        </a:spcAft>
        <a:buFont typeface="Arial" panose="020B0604020202020204" pitchFamily="34" charset="0"/>
        <a:buChar char="•"/>
        <a:defRPr b="0" i="0" kern="1200">
          <a:solidFill>
            <a:srgbClr val="191919"/>
          </a:solidFill>
          <a:latin typeface="Roboto Regular"/>
          <a:ea typeface="+mn-ea"/>
          <a:cs typeface="Roboto Regular"/>
        </a:defRPr>
      </a:lvl4pPr>
      <a:lvl5pPr marL="2057400" indent="-228600" algn="l" rtl="0" eaLnBrk="1" fontAlgn="base" hangingPunct="1">
        <a:lnSpc>
          <a:spcPct val="120000"/>
        </a:lnSpc>
        <a:spcBef>
          <a:spcPts val="500"/>
        </a:spcBef>
        <a:spcAft>
          <a:spcPct val="0"/>
        </a:spcAft>
        <a:buFont typeface="Arial" panose="020B0604020202020204" pitchFamily="34" charset="0"/>
        <a:buChar char="•"/>
        <a:defRPr b="0" i="0" kern="1200">
          <a:solidFill>
            <a:srgbClr val="191919"/>
          </a:solidFill>
          <a:latin typeface="Roboto Regular"/>
          <a:ea typeface="+mn-ea"/>
          <a:cs typeface="Roboto Regular"/>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845389" y="2404534"/>
            <a:ext cx="9187131" cy="1646302"/>
          </a:xfrm>
        </p:spPr>
        <p:txBody>
          <a:bodyPr/>
          <a:lstStyle/>
          <a:p>
            <a:pPr algn="ctr"/>
            <a:r>
              <a:rPr lang="en-US" sz="4800" dirty="0">
                <a:solidFill>
                  <a:schemeClr val="accent2"/>
                </a:solidFill>
              </a:rPr>
              <a:t>Tips and Tricks for Microsoft</a:t>
            </a:r>
            <a:br>
              <a:rPr lang="en-US" sz="4800" dirty="0">
                <a:solidFill>
                  <a:schemeClr val="accent2"/>
                </a:solidFill>
              </a:rPr>
            </a:br>
            <a:r>
              <a:rPr lang="en-US" sz="4800" dirty="0">
                <a:solidFill>
                  <a:schemeClr val="accent2"/>
                </a:solidFill>
              </a:rPr>
              <a:t>Fabric Data Warehouse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4050833"/>
            <a:ext cx="7766936" cy="1646302"/>
          </a:xfrm>
        </p:spPr>
        <p:txBody>
          <a:bodyPr>
            <a:normAutofit/>
          </a:bodyPr>
          <a:lstStyle/>
          <a:p>
            <a:pPr algn="ctr"/>
            <a:endParaRPr lang="en-US" sz="2800" dirty="0"/>
          </a:p>
          <a:p>
            <a:pPr algn="ctr"/>
            <a:r>
              <a:rPr lang="en-US" sz="2800" dirty="0"/>
              <a:t>Nashville Power BI User Group</a:t>
            </a:r>
          </a:p>
          <a:p>
            <a:pPr algn="ctr"/>
            <a:r>
              <a:rPr lang="en-US" sz="2800" dirty="0"/>
              <a:t>July 17</a:t>
            </a:r>
            <a:r>
              <a:rPr lang="en-US" sz="2800" baseline="30000" dirty="0"/>
              <a:t>th</a:t>
            </a:r>
            <a:r>
              <a:rPr lang="en-US" sz="2800" dirty="0"/>
              <a:t>, 2025</a:t>
            </a:r>
          </a:p>
        </p:txBody>
      </p:sp>
    </p:spTree>
    <p:extLst>
      <p:ext uri="{BB962C8B-B14F-4D97-AF65-F5344CB8AC3E}">
        <p14:creationId xmlns:p14="http://schemas.microsoft.com/office/powerpoint/2010/main" val="3341122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3">
            <a:extLst>
              <a:ext uri="{FF2B5EF4-FFF2-40B4-BE49-F238E27FC236}">
                <a16:creationId xmlns:a16="http://schemas.microsoft.com/office/drawing/2014/main" id="{650E806A-B659-CFFE-A625-116D91E31518}"/>
              </a:ext>
            </a:extLst>
          </p:cNvPr>
          <p:cNvSpPr txBox="1">
            <a:spLocks/>
          </p:cNvSpPr>
          <p:nvPr/>
        </p:nvSpPr>
        <p:spPr>
          <a:xfrm>
            <a:off x="1217137" y="3956323"/>
            <a:ext cx="3248526" cy="470928"/>
          </a:xfrm>
          <a:prstGeom prst="rect">
            <a:avLst/>
          </a:prstGeom>
        </p:spPr>
        <p:txBody>
          <a:bodyPr vert="horz" lIns="91440" tIns="45720" rIns="91440" bIns="45720" rtlCol="0" anchor="b">
            <a:noAutofit/>
          </a:bodyPr>
          <a:lstStyle>
            <a:lvl1pPr marL="0" marR="0" indent="0" algn="ctr" defTabSz="457200" rtl="0" eaLnBrk="1" fontAlgn="auto" latinLnBrk="0" hangingPunct="1">
              <a:lnSpc>
                <a:spcPts val="3500"/>
              </a:lnSpc>
              <a:spcBef>
                <a:spcPct val="0"/>
              </a:spcBef>
              <a:spcAft>
                <a:spcPts val="0"/>
              </a:spcAft>
              <a:buClrTx/>
              <a:buSzTx/>
              <a:buFontTx/>
              <a:buNone/>
              <a:tabLst/>
              <a:defRPr kumimoji="0" lang="en-US" sz="3200" b="0" i="0" u="none" strike="noStrike" kern="1200" cap="none" spc="0" normalizeH="0" baseline="0">
                <a:ln>
                  <a:noFill/>
                </a:ln>
                <a:solidFill>
                  <a:schemeClr val="tx2"/>
                </a:solidFill>
                <a:effectLst/>
                <a:uLnTx/>
                <a:uFillTx/>
                <a:latin typeface="Segoe UI Light" charset="0"/>
                <a:ea typeface="Segoe UI Light" charset="0"/>
                <a:cs typeface="Segoe UI Light" charset="0"/>
              </a:defRPr>
            </a:lvl1pPr>
          </a:lstStyle>
          <a:p>
            <a:pPr marL="0" marR="0" lvl="0" indent="0" algn="ctr" defTabSz="457200" rtl="0" eaLnBrk="1" fontAlgn="auto" latinLnBrk="0" hangingPunct="1">
              <a:lnSpc>
                <a:spcPts val="3500"/>
              </a:lnSpc>
              <a:spcBef>
                <a:spcPct val="0"/>
              </a:spcBef>
              <a:spcAft>
                <a:spcPts val="0"/>
              </a:spcAft>
              <a:buClrTx/>
              <a:buSzTx/>
              <a:buFontTx/>
              <a:buNone/>
              <a:tabLst/>
              <a:defRPr/>
            </a:pPr>
            <a:r>
              <a:rPr kumimoji="0" lang="en-US" sz="3200" b="0" i="0" u="none" strike="noStrike" kern="1200" cap="none" spc="0" normalizeH="0" baseline="0" noProof="0">
                <a:ln>
                  <a:noFill/>
                </a:ln>
                <a:solidFill>
                  <a:srgbClr val="414954"/>
                </a:solidFill>
                <a:effectLst/>
                <a:uLnTx/>
                <a:uFillTx/>
                <a:latin typeface="Segoe UI Light" charset="0"/>
                <a:cs typeface="Segoe UI Light" charset="0"/>
              </a:rPr>
              <a:t>Chris Hyde</a:t>
            </a:r>
            <a:endParaRPr kumimoji="0" lang="en-US" sz="3200" b="0" i="0" u="none" strike="noStrike" kern="1200" cap="none" spc="0" normalizeH="0" baseline="0" noProof="0" dirty="0">
              <a:ln>
                <a:noFill/>
              </a:ln>
              <a:solidFill>
                <a:srgbClr val="414954"/>
              </a:solidFill>
              <a:effectLst/>
              <a:uLnTx/>
              <a:uFillTx/>
              <a:latin typeface="Segoe UI Light" charset="0"/>
              <a:cs typeface="Segoe UI Light" charset="0"/>
            </a:endParaRPr>
          </a:p>
        </p:txBody>
      </p:sp>
      <p:sp>
        <p:nvSpPr>
          <p:cNvPr id="5" name="Text Placeholder 44">
            <a:extLst>
              <a:ext uri="{FF2B5EF4-FFF2-40B4-BE49-F238E27FC236}">
                <a16:creationId xmlns:a16="http://schemas.microsoft.com/office/drawing/2014/main" id="{BDA512D8-0FBA-9BE8-8A82-B12631B2BF76}"/>
              </a:ext>
            </a:extLst>
          </p:cNvPr>
          <p:cNvSpPr txBox="1">
            <a:spLocks/>
          </p:cNvSpPr>
          <p:nvPr/>
        </p:nvSpPr>
        <p:spPr>
          <a:xfrm>
            <a:off x="866436" y="4420326"/>
            <a:ext cx="3904735" cy="405685"/>
          </a:xfrm>
          <a:prstGeom prst="rect">
            <a:avLst/>
          </a:prstGeom>
        </p:spPr>
        <p:txBody>
          <a:bodyPr vert="horz" lIns="91440" tIns="45720" rIns="91440" bIns="45720" rtlCol="0">
            <a:noAutofit/>
          </a:bodyPr>
          <a:lstStyle>
            <a:lvl1pPr marL="0" marR="0" indent="0" algn="ctr" defTabSz="457200" rtl="0" eaLnBrk="1" fontAlgn="auto" latinLnBrk="0" hangingPunct="1">
              <a:lnSpc>
                <a:spcPct val="100000"/>
              </a:lnSpc>
              <a:spcBef>
                <a:spcPct val="0"/>
              </a:spcBef>
              <a:spcAft>
                <a:spcPts val="0"/>
              </a:spcAft>
              <a:buClrTx/>
              <a:buSzTx/>
              <a:buFontTx/>
              <a:buNone/>
              <a:tabLst/>
              <a:defRPr kumimoji="0" lang="en-US" sz="2000" b="0" i="0" u="none" strike="noStrike" kern="1200" cap="none" spc="0" normalizeH="0" baseline="0" dirty="0">
                <a:ln>
                  <a:noFill/>
                </a:ln>
                <a:solidFill>
                  <a:schemeClr val="accent3"/>
                </a:solidFill>
                <a:effectLst/>
                <a:uLnTx/>
                <a:uFillTx/>
                <a:latin typeface="+mn-lt"/>
                <a:ea typeface="Segoe UI Light" charset="0"/>
                <a:cs typeface="Segoe UI Light" charset="0"/>
              </a:defRPr>
            </a:lvl1pPr>
            <a:lvl2pPr marL="342900" indent="-342900" algn="l" defTabSz="914400" rtl="0" eaLnBrk="1" latinLnBrk="0" hangingPunct="1">
              <a:spcBef>
                <a:spcPct val="20000"/>
              </a:spcBef>
              <a:buClr>
                <a:schemeClr val="accent3"/>
              </a:buClr>
              <a:buFont typeface="Arial"/>
              <a:buChar char="•"/>
              <a:defRPr lang="en-US" sz="2000" kern="1200" dirty="0" smtClean="0">
                <a:solidFill>
                  <a:schemeClr val="tx1"/>
                </a:solidFill>
                <a:latin typeface="+mn-lt"/>
                <a:ea typeface="+mn-ea"/>
                <a:cs typeface="Segoe UI"/>
              </a:defRPr>
            </a:lvl2pPr>
            <a:lvl3pPr marL="638175"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3pPr>
            <a:lvl4pPr marL="922338"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4pPr>
            <a:lvl5pPr marL="1189038" indent="-342900" algn="l" defTabSz="914400" rtl="0" eaLnBrk="1" latinLnBrk="0" hangingPunct="1">
              <a:spcBef>
                <a:spcPct val="20000"/>
              </a:spcBef>
              <a:buClr>
                <a:schemeClr val="accent3"/>
              </a:buClr>
              <a:buFont typeface="Arial"/>
              <a:buChar char="•"/>
              <a:defRPr lang="en-US" sz="1800" kern="1200" dirty="0">
                <a:solidFill>
                  <a:schemeClr val="tx1"/>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2CCCD3"/>
                </a:solidFill>
                <a:effectLst/>
                <a:uLnTx/>
                <a:uFillTx/>
                <a:latin typeface="Segoe UI"/>
                <a:cs typeface="Segoe UI Light" charset="0"/>
              </a:rPr>
              <a:t>Owner and Principal Consultant</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2CCCD3"/>
                </a:solidFill>
                <a:effectLst/>
                <a:uLnTx/>
                <a:uFillTx/>
                <a:latin typeface="Segoe UI"/>
                <a:cs typeface="Segoe UI Light" charset="0"/>
              </a:rPr>
              <a:t>Hydrate Consulting, LLC</a:t>
            </a:r>
            <a:endParaRPr kumimoji="0" lang="en-US" sz="2000" b="0" i="0" u="none" strike="noStrike" kern="1200" cap="none" spc="0" normalizeH="0" baseline="0" noProof="0" dirty="0">
              <a:ln>
                <a:noFill/>
              </a:ln>
              <a:solidFill>
                <a:srgbClr val="2CCCD3"/>
              </a:solidFill>
              <a:effectLst/>
              <a:uLnTx/>
              <a:uFillTx/>
              <a:latin typeface="Segoe UI"/>
              <a:cs typeface="Segoe UI Light" charset="0"/>
            </a:endParaRPr>
          </a:p>
        </p:txBody>
      </p:sp>
      <p:sp>
        <p:nvSpPr>
          <p:cNvPr id="6" name="Text Placeholder 149">
            <a:extLst>
              <a:ext uri="{FF2B5EF4-FFF2-40B4-BE49-F238E27FC236}">
                <a16:creationId xmlns:a16="http://schemas.microsoft.com/office/drawing/2014/main" id="{195E63DD-9D84-66B4-519A-3EBC18E08255}"/>
              </a:ext>
            </a:extLst>
          </p:cNvPr>
          <p:cNvSpPr txBox="1">
            <a:spLocks/>
          </p:cNvSpPr>
          <p:nvPr/>
        </p:nvSpPr>
        <p:spPr>
          <a:xfrm>
            <a:off x="5808433" y="774861"/>
            <a:ext cx="3840619" cy="5696063"/>
          </a:xfrm>
          <a:prstGeom prst="rect">
            <a:avLst/>
          </a:prstGeom>
        </p:spPr>
        <p:txBody>
          <a:bodyPr vert="horz" lIns="91440" tIns="45720" rIns="91440" bIns="45720" rtlCol="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1400" b="0" i="0" u="none" strike="noStrike" kern="1200" cap="none" spc="0" normalizeH="0" baseline="0" dirty="0">
                <a:ln>
                  <a:noFill/>
                </a:ln>
                <a:solidFill>
                  <a:schemeClr val="accent1"/>
                </a:solidFill>
                <a:effectLst/>
                <a:uLnTx/>
                <a:uFillTx/>
                <a:latin typeface="+mn-lt"/>
                <a:ea typeface="Segoe UI Light" charset="0"/>
                <a:cs typeface="Segoe UI Light" charset="0"/>
              </a:defRPr>
            </a:lvl1pPr>
            <a:lvl2pPr marL="342900" indent="-342900" algn="l" defTabSz="914400" rtl="0" eaLnBrk="1" latinLnBrk="0" hangingPunct="1">
              <a:spcBef>
                <a:spcPct val="20000"/>
              </a:spcBef>
              <a:buClr>
                <a:schemeClr val="accent3"/>
              </a:buClr>
              <a:buFont typeface="Arial"/>
              <a:buChar char="•"/>
              <a:defRPr lang="en-US" sz="2000" kern="1200" dirty="0" smtClean="0">
                <a:solidFill>
                  <a:schemeClr val="tx1"/>
                </a:solidFill>
                <a:latin typeface="+mn-lt"/>
                <a:ea typeface="+mn-ea"/>
                <a:cs typeface="Segoe UI"/>
              </a:defRPr>
            </a:lvl2pPr>
            <a:lvl3pPr marL="638175"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3pPr>
            <a:lvl4pPr marL="922338"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4pPr>
            <a:lvl5pPr marL="1189038" indent="-342900" algn="l" defTabSz="914400" rtl="0" eaLnBrk="1" latinLnBrk="0" hangingPunct="1">
              <a:spcBef>
                <a:spcPct val="20000"/>
              </a:spcBef>
              <a:buClr>
                <a:schemeClr val="accent3"/>
              </a:buClr>
              <a:buFont typeface="Arial"/>
              <a:buChar char="•"/>
              <a:defRPr lang="en-US" sz="1800" kern="1200" dirty="0">
                <a:solidFill>
                  <a:schemeClr val="tx1"/>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He / him pronouns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Microsoft Data Platform MVP</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Independent Analytics and DBA Consultant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Albuquerque data platform group leader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Contact me: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Bluesky:  @ChrisHyde325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LinkedIn:  /in/chris-hyde-3803706/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Email:  chrishyde325@gmail.com</a:t>
            </a:r>
          </a:p>
        </p:txBody>
      </p:sp>
      <p:pic>
        <p:nvPicPr>
          <p:cNvPr id="7" name="Picture Placeholder 3">
            <a:extLst>
              <a:ext uri="{FF2B5EF4-FFF2-40B4-BE49-F238E27FC236}">
                <a16:creationId xmlns:a16="http://schemas.microsoft.com/office/drawing/2014/main" id="{8623CDD5-A2D7-E061-D3F3-A6F420010A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0611" y="774861"/>
            <a:ext cx="1938490" cy="2713887"/>
          </a:xfrm>
          <a:prstGeom prst="ellipse">
            <a:avLst/>
          </a:prstGeom>
          <a:solidFill>
            <a:srgbClr val="FFFFFF">
              <a:lumMod val="95000"/>
            </a:srgbClr>
          </a:solidFill>
        </p:spPr>
      </p:pic>
    </p:spTree>
    <p:extLst>
      <p:ext uri="{BB962C8B-B14F-4D97-AF65-F5344CB8AC3E}">
        <p14:creationId xmlns:p14="http://schemas.microsoft.com/office/powerpoint/2010/main" val="156709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Agenda</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Brief overview of Microsoft Fabric Data 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Design for performance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Direct Lake mode in Power BI</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Workarounds for T-SQL 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My ELT patterns</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69511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What is Microsoft Fabric?</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fontScale="92500"/>
          </a:bodyPr>
          <a:lstStyle/>
          <a:p>
            <a:pPr algn="l"/>
            <a:r>
              <a:rPr lang="en-US" sz="2600" dirty="0">
                <a:solidFill>
                  <a:schemeClr val="tx1">
                    <a:lumMod val="65000"/>
                    <a:lumOff val="35000"/>
                  </a:schemeClr>
                </a:solidFill>
              </a:rPr>
              <a:t>Microsoft’s next generation all-in-one data analytics product</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Full integration of data warehousing, data engineering, and data science tools into the same portal as Power BI (reporting and data visualization)</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Software-as-a-Service (SaaS) rather than Platform-as-a-Service (PaaS)</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One copy of data in the integrated </a:t>
            </a:r>
            <a:r>
              <a:rPr lang="en-US" sz="2600" dirty="0" err="1">
                <a:solidFill>
                  <a:schemeClr val="tx1">
                    <a:lumMod val="65000"/>
                    <a:lumOff val="35000"/>
                  </a:schemeClr>
                </a:solidFill>
              </a:rPr>
              <a:t>OneLake</a:t>
            </a:r>
            <a:r>
              <a:rPr lang="en-US" sz="2600" dirty="0">
                <a:solidFill>
                  <a:schemeClr val="tx1">
                    <a:lumMod val="65000"/>
                    <a:lumOff val="35000"/>
                  </a:schemeClr>
                </a:solidFill>
              </a:rPr>
              <a:t> data lake</a:t>
            </a:r>
          </a:p>
          <a:p>
            <a:pPr algn="l"/>
            <a:endParaRPr lang="en-US" sz="2800" dirty="0">
              <a:solidFill>
                <a:schemeClr val="tx1">
                  <a:lumMod val="65000"/>
                  <a:lumOff val="35000"/>
                </a:schemeClr>
              </a:solidFill>
            </a:endParaRPr>
          </a:p>
        </p:txBody>
      </p:sp>
    </p:spTree>
    <p:extLst>
      <p:ext uri="{BB962C8B-B14F-4D97-AF65-F5344CB8AC3E}">
        <p14:creationId xmlns:p14="http://schemas.microsoft.com/office/powerpoint/2010/main" val="3341443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5400" dirty="0">
                <a:solidFill>
                  <a:schemeClr val="accent2"/>
                </a:solidFill>
              </a:rPr>
              <a:t>SaaS Foundation</a:t>
            </a:r>
            <a:endParaRPr lang="en-US" dirty="0">
              <a:solidFill>
                <a:schemeClr val="accent2"/>
              </a:solidFill>
            </a:endParaRPr>
          </a:p>
        </p:txBody>
      </p:sp>
      <p:pic>
        <p:nvPicPr>
          <p:cNvPr id="7" name="Picture 6">
            <a:extLst>
              <a:ext uri="{FF2B5EF4-FFF2-40B4-BE49-F238E27FC236}">
                <a16:creationId xmlns:a16="http://schemas.microsoft.com/office/drawing/2014/main" id="{2278BEF3-28CA-3A6F-C5FD-0B3353D868E0}"/>
              </a:ext>
            </a:extLst>
          </p:cNvPr>
          <p:cNvPicPr>
            <a:picLocks noChangeAspect="1"/>
          </p:cNvPicPr>
          <p:nvPr/>
        </p:nvPicPr>
        <p:blipFill>
          <a:blip r:embed="rId2"/>
          <a:srcRect/>
          <a:stretch/>
        </p:blipFill>
        <p:spPr>
          <a:xfrm>
            <a:off x="1265493" y="1792079"/>
            <a:ext cx="7360382" cy="4235564"/>
          </a:xfrm>
          <a:prstGeom prst="rect">
            <a:avLst/>
          </a:prstGeom>
        </p:spPr>
      </p:pic>
    </p:spTree>
    <p:extLst>
      <p:ext uri="{BB962C8B-B14F-4D97-AF65-F5344CB8AC3E}">
        <p14:creationId xmlns:p14="http://schemas.microsoft.com/office/powerpoint/2010/main" val="356480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What is Fabric DW?</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T-SQL based data warehousing experience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Denormalized tables optimized for reporting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Stored Procedures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Parquet Files</a:t>
            </a:r>
          </a:p>
          <a:p>
            <a:pPr algn="l"/>
            <a:endParaRPr lang="en-US" sz="1200" dirty="0">
              <a:solidFill>
                <a:schemeClr val="tx1">
                  <a:lumMod val="65000"/>
                  <a:lumOff val="35000"/>
                </a:schemeClr>
              </a:solidFill>
            </a:endParaRPr>
          </a:p>
          <a:p>
            <a:pPr algn="l"/>
            <a:r>
              <a:rPr lang="en-US" sz="2400" dirty="0" err="1">
                <a:solidFill>
                  <a:schemeClr val="tx1">
                    <a:lumMod val="65000"/>
                    <a:lumOff val="35000"/>
                  </a:schemeClr>
                </a:solidFill>
              </a:rPr>
              <a:t>Queryable</a:t>
            </a:r>
            <a:r>
              <a:rPr lang="en-US" sz="2400" dirty="0">
                <a:solidFill>
                  <a:schemeClr val="tx1">
                    <a:lumMod val="65000"/>
                    <a:lumOff val="35000"/>
                  </a:schemeClr>
                </a:solidFill>
              </a:rPr>
              <a:t> through query tools, incl. Power BI</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520625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1. Consider Latency</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0"/>
            <a:ext cx="7766936" cy="4739779"/>
          </a:xfrm>
        </p:spPr>
        <p:txBody>
          <a:bodyPr>
            <a:normAutofit/>
          </a:bodyPr>
          <a:lstStyle/>
          <a:p>
            <a:pPr algn="l"/>
            <a:r>
              <a:rPr lang="en-US" sz="2400" dirty="0">
                <a:solidFill>
                  <a:schemeClr val="tx1">
                    <a:lumMod val="65000"/>
                    <a:lumOff val="35000"/>
                  </a:schemeClr>
                </a:solidFill>
              </a:rPr>
              <a:t>Collocate resources where possible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Network latency between client and compute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Network latency between compute and shortcuts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Data latency of large result sets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https://learn.microsoft.com/en-us/fabric/data-warehouse/guidelines-warehouse-performance</a:t>
            </a:r>
          </a:p>
        </p:txBody>
      </p:sp>
    </p:spTree>
    <p:extLst>
      <p:ext uri="{BB962C8B-B14F-4D97-AF65-F5344CB8AC3E}">
        <p14:creationId xmlns:p14="http://schemas.microsoft.com/office/powerpoint/2010/main" val="151417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867508" y="570452"/>
            <a:ext cx="8616461" cy="855676"/>
          </a:xfrm>
        </p:spPr>
        <p:txBody>
          <a:bodyPr/>
          <a:lstStyle/>
          <a:p>
            <a:pPr algn="ctr"/>
            <a:r>
              <a:rPr lang="en-US" sz="4800" dirty="0">
                <a:solidFill>
                  <a:schemeClr val="accent2"/>
                </a:solidFill>
              </a:rPr>
              <a:t>2. Table Design – Star Schema</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Denormalized data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Fact tables – countable data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Dimension tables – slicing-and-dicing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Also will include integration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https://learn.microsoft.com/en-us/fabric/data-warehouse/guidelines-warehouse-performance</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46423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961292" y="570452"/>
            <a:ext cx="8534399" cy="855676"/>
          </a:xfrm>
        </p:spPr>
        <p:txBody>
          <a:bodyPr/>
          <a:lstStyle/>
          <a:p>
            <a:pPr algn="ctr"/>
            <a:r>
              <a:rPr lang="en-US" sz="4800" dirty="0">
                <a:solidFill>
                  <a:schemeClr val="accent2"/>
                </a:solidFill>
              </a:rPr>
              <a:t>2. Table Design – Star Schema</a:t>
            </a:r>
          </a:p>
        </p:txBody>
      </p:sp>
      <p:pic>
        <p:nvPicPr>
          <p:cNvPr id="4" name="Picture 3">
            <a:extLst>
              <a:ext uri="{FF2B5EF4-FFF2-40B4-BE49-F238E27FC236}">
                <a16:creationId xmlns:a16="http://schemas.microsoft.com/office/drawing/2014/main" id="{538CCAEA-472F-0E2A-F786-B9EB2435D98D}"/>
              </a:ext>
            </a:extLst>
          </p:cNvPr>
          <p:cNvPicPr>
            <a:picLocks noChangeAspect="1"/>
          </p:cNvPicPr>
          <p:nvPr/>
        </p:nvPicPr>
        <p:blipFill>
          <a:blip r:embed="rId3"/>
          <a:stretch>
            <a:fillRect/>
          </a:stretch>
        </p:blipFill>
        <p:spPr>
          <a:xfrm>
            <a:off x="1092485" y="1609728"/>
            <a:ext cx="7861733" cy="4901784"/>
          </a:xfrm>
          <a:prstGeom prst="rect">
            <a:avLst/>
          </a:prstGeom>
        </p:spPr>
      </p:pic>
    </p:spTree>
    <p:extLst>
      <p:ext uri="{BB962C8B-B14F-4D97-AF65-F5344CB8AC3E}">
        <p14:creationId xmlns:p14="http://schemas.microsoft.com/office/powerpoint/2010/main" val="241765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113692" y="570452"/>
            <a:ext cx="8160311" cy="855676"/>
          </a:xfrm>
        </p:spPr>
        <p:txBody>
          <a:bodyPr/>
          <a:lstStyle/>
          <a:p>
            <a:pPr algn="ctr"/>
            <a:r>
              <a:rPr lang="en-US" sz="4800" dirty="0">
                <a:solidFill>
                  <a:schemeClr val="accent2"/>
                </a:solidFill>
              </a:rPr>
              <a:t>3. Table Design – Data Types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956110" cy="4530054"/>
          </a:xfrm>
        </p:spPr>
        <p:txBody>
          <a:bodyPr>
            <a:noAutofit/>
          </a:bodyPr>
          <a:lstStyle/>
          <a:p>
            <a:pPr algn="l"/>
            <a:r>
              <a:rPr lang="en-US" sz="2400" dirty="0">
                <a:solidFill>
                  <a:schemeClr val="tx1">
                    <a:lumMod val="65000"/>
                    <a:lumOff val="35000"/>
                  </a:schemeClr>
                </a:solidFill>
              </a:rPr>
              <a:t>Use the smallest data type possible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Use data types supported by parquet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Use NOT NULL instead of NULL where possible, especially primary/foreign key fields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Validate table schemas created by tools (e.g. Pipelines)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https://learn.microsoft.com/en-us/fabric/data-warehouse/data-types</a:t>
            </a:r>
          </a:p>
        </p:txBody>
      </p:sp>
    </p:spTree>
    <p:extLst>
      <p:ext uri="{BB962C8B-B14F-4D97-AF65-F5344CB8AC3E}">
        <p14:creationId xmlns:p14="http://schemas.microsoft.com/office/powerpoint/2010/main" val="3993880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8E13D8-D675-D917-C36D-A6F75CF4833F}"/>
              </a:ext>
            </a:extLst>
          </p:cNvPr>
          <p:cNvPicPr>
            <a:picLocks noChangeAspect="1"/>
          </p:cNvPicPr>
          <p:nvPr/>
        </p:nvPicPr>
        <p:blipFill>
          <a:blip r:embed="rId2"/>
          <a:stretch>
            <a:fillRect/>
          </a:stretch>
        </p:blipFill>
        <p:spPr>
          <a:xfrm>
            <a:off x="1600076" y="1728847"/>
            <a:ext cx="7181710" cy="4090771"/>
          </a:xfrm>
          <a:prstGeom prst="rect">
            <a:avLst/>
          </a:prstGeom>
        </p:spPr>
      </p:pic>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090246" y="570452"/>
            <a:ext cx="8183757" cy="855676"/>
          </a:xfrm>
        </p:spPr>
        <p:txBody>
          <a:bodyPr/>
          <a:lstStyle/>
          <a:p>
            <a:pPr algn="ctr"/>
            <a:r>
              <a:rPr lang="en-US" sz="4800" dirty="0">
                <a:solidFill>
                  <a:schemeClr val="accent2"/>
                </a:solidFill>
              </a:rPr>
              <a:t>3. Table Design – Data Types</a:t>
            </a:r>
          </a:p>
        </p:txBody>
      </p:sp>
    </p:spTree>
    <p:extLst>
      <p:ext uri="{BB962C8B-B14F-4D97-AF65-F5344CB8AC3E}">
        <p14:creationId xmlns:p14="http://schemas.microsoft.com/office/powerpoint/2010/main" val="1148364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Data Pipeline Demo</a:t>
            </a:r>
          </a:p>
        </p:txBody>
      </p:sp>
    </p:spTree>
    <p:extLst>
      <p:ext uri="{BB962C8B-B14F-4D97-AF65-F5344CB8AC3E}">
        <p14:creationId xmlns:p14="http://schemas.microsoft.com/office/powerpoint/2010/main" val="3001048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4. Direct Lake Considerations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8098846" cy="4530054"/>
          </a:xfrm>
        </p:spPr>
        <p:txBody>
          <a:bodyPr>
            <a:normAutofit/>
          </a:bodyPr>
          <a:lstStyle/>
          <a:p>
            <a:pPr algn="l"/>
            <a:r>
              <a:rPr lang="en-US" sz="2400" dirty="0">
                <a:solidFill>
                  <a:schemeClr val="tx1">
                    <a:lumMod val="65000"/>
                    <a:lumOff val="35000"/>
                  </a:schemeClr>
                </a:solidFill>
              </a:rPr>
              <a:t>Power BI Direct Lake mode (diagram next slide)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Several current 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Limitations detailed at: https://learn.microsoft.com/en-us/power-bi/enterprise/directlake-overview#known-issues-and-limitations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Marco Russo on Direct Lake vs. Import Mode:  https://www.sqlbi.com/blog/marco/2024/04/06/direct-lake-vs-import-mode-in-power-bi/</a:t>
            </a:r>
          </a:p>
        </p:txBody>
      </p:sp>
    </p:spTree>
    <p:extLst>
      <p:ext uri="{BB962C8B-B14F-4D97-AF65-F5344CB8AC3E}">
        <p14:creationId xmlns:p14="http://schemas.microsoft.com/office/powerpoint/2010/main" val="1228612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948D777-6C84-06F2-E643-458D63458EC2}"/>
              </a:ext>
            </a:extLst>
          </p:cNvPr>
          <p:cNvPicPr>
            <a:picLocks noChangeAspect="1" noChangeArrowheads="1"/>
          </p:cNvPicPr>
          <p:nvPr/>
        </p:nvPicPr>
        <p:blipFill>
          <a:blip r:embed="rId2"/>
          <a:srcRect/>
          <a:stretch/>
        </p:blipFill>
        <p:spPr bwMode="auto">
          <a:xfrm>
            <a:off x="0" y="621493"/>
            <a:ext cx="12192000" cy="561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998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Unsupported in Direct Lake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Segoe UI"/>
              </a:rPr>
              <a:t>Model contains tables from more than one warehouse</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Model contains calculated columns and tables</a:t>
            </a:r>
            <a:endParaRPr lang="en-US" sz="2400" dirty="0">
              <a:solidFill>
                <a:schemeClr val="tx1">
                  <a:lumMod val="65000"/>
                  <a:lumOff val="35000"/>
                </a:schemeClr>
              </a:solidFill>
            </a:endParaRP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Model contains relationships based on datetime columns</a:t>
            </a:r>
            <a:endParaRPr lang="en-US" sz="2400" dirty="0">
              <a:solidFill>
                <a:schemeClr val="tx1">
                  <a:lumMod val="65000"/>
                  <a:lumOff val="35000"/>
                </a:schemeClr>
              </a:solidFill>
            </a:endParaRP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Key column data types do not coincide or are not unique</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520498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Fallback to </a:t>
            </a:r>
            <a:r>
              <a:rPr lang="en-US" sz="4800" dirty="0" err="1">
                <a:solidFill>
                  <a:schemeClr val="accent2"/>
                </a:solidFill>
              </a:rPr>
              <a:t>DirectQuery</a:t>
            </a:r>
            <a:endParaRPr lang="en-US" sz="4800" dirty="0">
              <a:solidFill>
                <a:schemeClr val="accent2"/>
              </a:solidFill>
            </a:endParaRP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A query reads data from a view contained in the model</a:t>
            </a:r>
          </a:p>
          <a:p>
            <a:pPr algn="l"/>
            <a:endParaRPr lang="en-US" sz="24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SSO authentication is used when SQL endpoint security has been defined</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2473102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Schema Patterns for Direct Lake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On premises / Not using Direct Lake:</a:t>
            </a:r>
          </a:p>
          <a:p>
            <a:pPr algn="l"/>
            <a:r>
              <a:rPr lang="en-US" sz="2400" dirty="0">
                <a:solidFill>
                  <a:schemeClr val="tx1">
                    <a:lumMod val="65000"/>
                    <a:lumOff val="35000"/>
                  </a:schemeClr>
                </a:solidFill>
                <a:cs typeface="Arial"/>
              </a:rPr>
              <a:t>	fact and dim contain tables</a:t>
            </a:r>
          </a:p>
          <a:p>
            <a:pPr algn="l"/>
            <a:r>
              <a:rPr lang="en-US" sz="2400" dirty="0">
                <a:solidFill>
                  <a:schemeClr val="tx1">
                    <a:lumMod val="65000"/>
                    <a:lumOff val="35000"/>
                  </a:schemeClr>
                </a:solidFill>
                <a:cs typeface="Arial"/>
              </a:rPr>
              <a:t>	data and lookup contain views</a:t>
            </a:r>
          </a:p>
          <a:p>
            <a:pPr algn="l"/>
            <a:r>
              <a:rPr lang="en-US" sz="2400" dirty="0">
                <a:solidFill>
                  <a:schemeClr val="tx1">
                    <a:lumMod val="65000"/>
                    <a:lumOff val="35000"/>
                  </a:schemeClr>
                </a:solidFill>
                <a:cs typeface="Arial"/>
              </a:rPr>
              <a:t>	</a:t>
            </a:r>
            <a:r>
              <a:rPr lang="en-US" sz="2400" dirty="0" err="1">
                <a:solidFill>
                  <a:schemeClr val="tx1">
                    <a:lumMod val="65000"/>
                    <a:lumOff val="35000"/>
                  </a:schemeClr>
                </a:solidFill>
                <a:cs typeface="Arial"/>
              </a:rPr>
              <a:t>etl</a:t>
            </a:r>
            <a:r>
              <a:rPr lang="en-US" sz="2400" dirty="0">
                <a:solidFill>
                  <a:schemeClr val="tx1">
                    <a:lumMod val="65000"/>
                    <a:lumOff val="35000"/>
                  </a:schemeClr>
                </a:solidFill>
                <a:cs typeface="Arial"/>
              </a:rPr>
              <a:t> contains orchestration items</a:t>
            </a:r>
          </a:p>
          <a:p>
            <a:pPr algn="l"/>
            <a:endParaRPr lang="en-US" sz="24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In Fabric DW for Direct Lake:</a:t>
            </a:r>
            <a:endParaRPr lang="en-US" sz="2400" dirty="0">
              <a:solidFill>
                <a:schemeClr val="tx1">
                  <a:lumMod val="65000"/>
                  <a:lumOff val="35000"/>
                </a:schemeClr>
              </a:solidFill>
            </a:endParaRPr>
          </a:p>
          <a:p>
            <a:pPr algn="l"/>
            <a:r>
              <a:rPr lang="en-US" sz="2400" dirty="0">
                <a:solidFill>
                  <a:schemeClr val="tx1">
                    <a:lumMod val="65000"/>
                    <a:lumOff val="35000"/>
                  </a:schemeClr>
                </a:solidFill>
                <a:cs typeface="Arial"/>
              </a:rPr>
              <a:t>	data and lookup contain tables</a:t>
            </a:r>
          </a:p>
          <a:p>
            <a:pPr algn="l"/>
            <a:r>
              <a:rPr lang="en-US" sz="2400" dirty="0">
                <a:solidFill>
                  <a:schemeClr val="tx1">
                    <a:lumMod val="65000"/>
                    <a:lumOff val="35000"/>
                  </a:schemeClr>
                </a:solidFill>
                <a:cs typeface="Arial"/>
              </a:rPr>
              <a:t>	</a:t>
            </a:r>
            <a:r>
              <a:rPr lang="en-US" sz="2400" dirty="0" err="1">
                <a:solidFill>
                  <a:schemeClr val="tx1">
                    <a:lumMod val="65000"/>
                    <a:lumOff val="35000"/>
                  </a:schemeClr>
                </a:solidFill>
                <a:cs typeface="Arial"/>
              </a:rPr>
              <a:t>etl</a:t>
            </a:r>
            <a:r>
              <a:rPr lang="en-US" sz="2400" dirty="0">
                <a:solidFill>
                  <a:schemeClr val="tx1">
                    <a:lumMod val="65000"/>
                    <a:lumOff val="35000"/>
                  </a:schemeClr>
                </a:solidFill>
                <a:cs typeface="Arial"/>
              </a:rPr>
              <a:t> contains orchestration items</a:t>
            </a: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1106584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4B8A-44D0-B888-4B32-8099E3B1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53CFC-0996-FC37-ED23-92EDAEBED1F2}"/>
              </a:ext>
            </a:extLst>
          </p:cNvPr>
          <p:cNvSpPr>
            <a:spLocks noGrp="1"/>
          </p:cNvSpPr>
          <p:nvPr>
            <p:ph type="ctrTitle"/>
          </p:nvPr>
        </p:nvSpPr>
        <p:spPr>
          <a:xfrm>
            <a:off x="1342238" y="570452"/>
            <a:ext cx="8414504" cy="855676"/>
          </a:xfrm>
        </p:spPr>
        <p:txBody>
          <a:bodyPr/>
          <a:lstStyle/>
          <a:p>
            <a:pPr algn="ctr"/>
            <a:r>
              <a:rPr lang="en-US" sz="4800" dirty="0">
                <a:solidFill>
                  <a:schemeClr val="accent2"/>
                </a:solidFill>
              </a:rPr>
              <a:t>5. Modeling Dimension Tables</a:t>
            </a:r>
          </a:p>
        </p:txBody>
      </p:sp>
      <p:sp>
        <p:nvSpPr>
          <p:cNvPr id="3" name="Subtitle 2">
            <a:extLst>
              <a:ext uri="{FF2B5EF4-FFF2-40B4-BE49-F238E27FC236}">
                <a16:creationId xmlns:a16="http://schemas.microsoft.com/office/drawing/2014/main" id="{EFDB30FF-D7E7-577D-8C2E-653501281613}"/>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Slowly-changing dimensions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Dimension metadata fields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Sentinel values</a:t>
            </a:r>
          </a:p>
        </p:txBody>
      </p:sp>
    </p:spTree>
    <p:extLst>
      <p:ext uri="{BB962C8B-B14F-4D97-AF65-F5344CB8AC3E}">
        <p14:creationId xmlns:p14="http://schemas.microsoft.com/office/powerpoint/2010/main" val="1145418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Slowly-Changing Dimensions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Type 0 – no updates</a:t>
            </a:r>
          </a:p>
          <a:p>
            <a:pPr algn="l"/>
            <a:r>
              <a:rPr lang="en-US" sz="2400" dirty="0">
                <a:solidFill>
                  <a:schemeClr val="tx1">
                    <a:lumMod val="65000"/>
                    <a:lumOff val="35000"/>
                  </a:schemeClr>
                </a:solidFill>
                <a:cs typeface="Arial"/>
              </a:rPr>
              <a:t>	calendar / date tables</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Type 1 – update in place; no historical record reqd.</a:t>
            </a:r>
          </a:p>
          <a:p>
            <a:pPr algn="l"/>
            <a:r>
              <a:rPr lang="en-US" sz="2400" dirty="0">
                <a:solidFill>
                  <a:schemeClr val="tx1">
                    <a:lumMod val="65000"/>
                    <a:lumOff val="35000"/>
                  </a:schemeClr>
                </a:solidFill>
                <a:cs typeface="Arial"/>
              </a:rPr>
              <a:t>	college example – student name</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Type 2 – data versioning</a:t>
            </a:r>
          </a:p>
          <a:p>
            <a:pPr algn="l"/>
            <a:r>
              <a:rPr lang="en-US" sz="2400" dirty="0">
                <a:solidFill>
                  <a:schemeClr val="tx1">
                    <a:lumMod val="65000"/>
                    <a:lumOff val="35000"/>
                  </a:schemeClr>
                </a:solidFill>
                <a:cs typeface="Arial"/>
              </a:rPr>
              <a:t>	college example – gender and ethnicity</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Can mix within same dimension table</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2007605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Dimension Metadata Fields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Source System Name</a:t>
            </a:r>
          </a:p>
          <a:p>
            <a:pPr algn="l"/>
            <a:r>
              <a:rPr lang="en-US" sz="2400" dirty="0">
                <a:solidFill>
                  <a:schemeClr val="tx1">
                    <a:lumMod val="65000"/>
                    <a:lumOff val="35000"/>
                  </a:schemeClr>
                </a:solidFill>
                <a:cs typeface="Arial"/>
              </a:rPr>
              <a:t>Source System Key </a:t>
            </a:r>
          </a:p>
          <a:p>
            <a:pPr algn="l"/>
            <a:r>
              <a:rPr lang="en-US" sz="2400" dirty="0">
                <a:solidFill>
                  <a:schemeClr val="tx1">
                    <a:lumMod val="65000"/>
                    <a:lumOff val="35000"/>
                  </a:schemeClr>
                </a:solidFill>
                <a:cs typeface="Arial"/>
              </a:rPr>
              <a:t>SCD Type 1 Hash Value</a:t>
            </a:r>
          </a:p>
          <a:p>
            <a:pPr algn="l"/>
            <a:r>
              <a:rPr lang="en-US" sz="2400" dirty="0">
                <a:solidFill>
                  <a:schemeClr val="tx1">
                    <a:lumMod val="65000"/>
                    <a:lumOff val="35000"/>
                  </a:schemeClr>
                </a:solidFill>
                <a:cs typeface="Arial"/>
              </a:rPr>
              <a:t>SCD Type 2 Hash Value</a:t>
            </a:r>
          </a:p>
          <a:p>
            <a:pPr algn="l"/>
            <a:r>
              <a:rPr lang="en-US" sz="2400" dirty="0">
                <a:solidFill>
                  <a:schemeClr val="tx1">
                    <a:lumMod val="65000"/>
                    <a:lumOff val="35000"/>
                  </a:schemeClr>
                </a:solidFill>
                <a:cs typeface="Arial"/>
              </a:rPr>
              <a:t>Active Record Flag</a:t>
            </a:r>
          </a:p>
          <a:p>
            <a:pPr algn="l"/>
            <a:r>
              <a:rPr lang="en-US" sz="2400" dirty="0">
                <a:solidFill>
                  <a:schemeClr val="tx1">
                    <a:lumMod val="65000"/>
                    <a:lumOff val="35000"/>
                  </a:schemeClr>
                </a:solidFill>
                <a:cs typeface="Arial"/>
              </a:rPr>
              <a:t>Start Effective Date (in warehouse)</a:t>
            </a:r>
          </a:p>
          <a:p>
            <a:pPr algn="l"/>
            <a:r>
              <a:rPr lang="en-US" sz="2400" dirty="0">
                <a:solidFill>
                  <a:schemeClr val="tx1">
                    <a:lumMod val="65000"/>
                    <a:lumOff val="35000"/>
                  </a:schemeClr>
                </a:solidFill>
                <a:cs typeface="Arial"/>
              </a:rPr>
              <a:t>End Effective Date (in warehouse)</a:t>
            </a:r>
          </a:p>
          <a:p>
            <a:pPr algn="l"/>
            <a:r>
              <a:rPr lang="en-US" sz="2400" dirty="0">
                <a:solidFill>
                  <a:schemeClr val="tx1">
                    <a:lumMod val="65000"/>
                    <a:lumOff val="35000"/>
                  </a:schemeClr>
                </a:solidFill>
                <a:cs typeface="Arial"/>
              </a:rPr>
              <a:t>Record Last Updated Date/Time</a:t>
            </a:r>
          </a:p>
        </p:txBody>
      </p:sp>
    </p:spTree>
    <p:extLst>
      <p:ext uri="{BB962C8B-B14F-4D97-AF65-F5344CB8AC3E}">
        <p14:creationId xmlns:p14="http://schemas.microsoft.com/office/powerpoint/2010/main" val="226300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Sentinel Values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Default dimension members</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Unknown</a:t>
            </a:r>
          </a:p>
          <a:p>
            <a:pPr algn="l"/>
            <a:r>
              <a:rPr lang="en-US" sz="2400" dirty="0">
                <a:solidFill>
                  <a:schemeClr val="tx1">
                    <a:lumMod val="65000"/>
                    <a:lumOff val="35000"/>
                  </a:schemeClr>
                </a:solidFill>
                <a:cs typeface="Arial"/>
              </a:rPr>
              <a:t>	e.g. Student record mismatch</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Missing</a:t>
            </a:r>
          </a:p>
          <a:p>
            <a:pPr algn="l"/>
            <a:r>
              <a:rPr lang="en-US" sz="2400" dirty="0">
                <a:solidFill>
                  <a:schemeClr val="tx1">
                    <a:lumMod val="65000"/>
                    <a:lumOff val="35000"/>
                  </a:schemeClr>
                </a:solidFill>
                <a:cs typeface="Arial"/>
              </a:rPr>
              <a:t>	e.g. Student grades for in-process classes</a:t>
            </a:r>
          </a:p>
        </p:txBody>
      </p:sp>
    </p:spTree>
    <p:extLst>
      <p:ext uri="{BB962C8B-B14F-4D97-AF65-F5344CB8AC3E}">
        <p14:creationId xmlns:p14="http://schemas.microsoft.com/office/powerpoint/2010/main" val="1741014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6. T-SQL Limitations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True lift-and-shift not quite there yet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Several T-SQL enhancements on the DW product roadmap</a:t>
            </a:r>
          </a:p>
        </p:txBody>
      </p:sp>
    </p:spTree>
    <p:extLst>
      <p:ext uri="{BB962C8B-B14F-4D97-AF65-F5344CB8AC3E}">
        <p14:creationId xmlns:p14="http://schemas.microsoft.com/office/powerpoint/2010/main" val="278821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53465-0487-5BE2-545E-6FA0CD96F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AB82F-A4D6-FED2-B1DA-E5D150532F98}"/>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#1</a:t>
            </a:r>
          </a:p>
        </p:txBody>
      </p:sp>
      <p:sp>
        <p:nvSpPr>
          <p:cNvPr id="3" name="Subtitle 2">
            <a:extLst>
              <a:ext uri="{FF2B5EF4-FFF2-40B4-BE49-F238E27FC236}">
                <a16:creationId xmlns:a16="http://schemas.microsoft.com/office/drawing/2014/main" id="{28C25E19-33E2-3DEA-9AEF-D69AAF346ECC}"/>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No temp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Making complex business logic simpler</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Separating complex business logic from “plumbing”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Physically materialize a table in temp schema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updates</a:t>
            </a:r>
          </a:p>
        </p:txBody>
      </p:sp>
    </p:spTree>
    <p:extLst>
      <p:ext uri="{BB962C8B-B14F-4D97-AF65-F5344CB8AC3E}">
        <p14:creationId xmlns:p14="http://schemas.microsoft.com/office/powerpoint/2010/main" val="3844078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A2C3-0A11-DBB9-583D-14D700294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C784B-CD27-ED33-238F-C357D788BE47}"/>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#1 Fixed!</a:t>
            </a:r>
          </a:p>
        </p:txBody>
      </p:sp>
      <p:sp>
        <p:nvSpPr>
          <p:cNvPr id="3" name="Subtitle 2">
            <a:extLst>
              <a:ext uri="{FF2B5EF4-FFF2-40B4-BE49-F238E27FC236}">
                <a16:creationId xmlns:a16="http://schemas.microsoft.com/office/drawing/2014/main" id="{4399520E-A67D-DBCC-D816-B2805838AA73}"/>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Two types of session-scoped temporary tables are available as of April 22nd</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Globally-scoped temporary tables are not available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Non-distributed temp tables work like classic T-SQL temp tables; Distributed ones declared </a:t>
            </a:r>
            <a:r>
              <a:rPr lang="en-US" sz="2400">
                <a:solidFill>
                  <a:schemeClr val="tx1">
                    <a:lumMod val="65000"/>
                    <a:lumOff val="35000"/>
                  </a:schemeClr>
                </a:solidFill>
              </a:rPr>
              <a:t>as round-robin</a:t>
            </a:r>
            <a:endParaRPr lang="en-US" sz="2400" dirty="0">
              <a:solidFill>
                <a:schemeClr val="tx1">
                  <a:lumMod val="65000"/>
                  <a:lumOff val="35000"/>
                </a:schemeClr>
              </a:solidFill>
            </a:endParaRP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https://blog.fabric.microsoft.com/en-US/blog/announcing-the-general-availability-of-session-scoped-distributed-temp-tables-in-fabric-data-warehouse/</a:t>
            </a:r>
          </a:p>
        </p:txBody>
      </p:sp>
    </p:spTree>
    <p:extLst>
      <p:ext uri="{BB962C8B-B14F-4D97-AF65-F5344CB8AC3E}">
        <p14:creationId xmlns:p14="http://schemas.microsoft.com/office/powerpoint/2010/main" val="2266139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#2</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INSERT INTO… EXEC from a stored procedure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Re-locate transformation logic</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Separating complex business logic from “plumbing”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Use physical “temp”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updates</a:t>
            </a:r>
          </a:p>
        </p:txBody>
      </p:sp>
    </p:spTree>
    <p:extLst>
      <p:ext uri="{BB962C8B-B14F-4D97-AF65-F5344CB8AC3E}">
        <p14:creationId xmlns:p14="http://schemas.microsoft.com/office/powerpoint/2010/main" val="94531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#3</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MERGE statement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Is this really a limitation?  </a:t>
            </a:r>
            <a:r>
              <a:rPr lang="en-US" sz="2400" dirty="0">
                <a:solidFill>
                  <a:schemeClr val="tx1">
                    <a:lumMod val="65000"/>
                    <a:lumOff val="35000"/>
                  </a:schemeClr>
                </a:solidFill>
                <a:sym typeface="Wingdings" panose="05000000000000000000" pitchFamily="2" charset="2"/>
              </a:rPr>
              <a: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Separate INSERT and UPDATE statements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Handling transactions</a:t>
            </a:r>
          </a:p>
        </p:txBody>
      </p:sp>
    </p:spTree>
    <p:extLst>
      <p:ext uri="{BB962C8B-B14F-4D97-AF65-F5344CB8AC3E}">
        <p14:creationId xmlns:p14="http://schemas.microsoft.com/office/powerpoint/2010/main" val="2990947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#4</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IDENTITY() columns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Use ROW_NUMBER() function plus a seed</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inserts</a:t>
            </a:r>
          </a:p>
        </p:txBody>
      </p:sp>
    </p:spTree>
    <p:extLst>
      <p:ext uri="{BB962C8B-B14F-4D97-AF65-F5344CB8AC3E}">
        <p14:creationId xmlns:p14="http://schemas.microsoft.com/office/powerpoint/2010/main" val="1513189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7. Leverage the Lakehouse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File Storage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Medallion Architecture options</a:t>
            </a:r>
          </a:p>
          <a:p>
            <a:pPr algn="l"/>
            <a:r>
              <a:rPr lang="en-US" sz="2400" dirty="0">
                <a:solidFill>
                  <a:schemeClr val="tx1">
                    <a:lumMod val="65000"/>
                    <a:lumOff val="35000"/>
                  </a:schemeClr>
                </a:solidFill>
              </a:rPr>
              <a:t>	Bronze and Silver layers in the Lakehouse</a:t>
            </a:r>
          </a:p>
          <a:p>
            <a:pPr algn="l"/>
            <a:r>
              <a:rPr lang="en-US" sz="2400" dirty="0">
                <a:solidFill>
                  <a:schemeClr val="tx1">
                    <a:lumMod val="65000"/>
                    <a:lumOff val="35000"/>
                  </a:schemeClr>
                </a:solidFill>
              </a:rPr>
              <a:t>	Gold layer in the 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Lakehouse shortcuts to Data Warehouses in different workspaces</a:t>
            </a:r>
          </a:p>
        </p:txBody>
      </p:sp>
    </p:spTree>
    <p:extLst>
      <p:ext uri="{BB962C8B-B14F-4D97-AF65-F5344CB8AC3E}">
        <p14:creationId xmlns:p14="http://schemas.microsoft.com/office/powerpoint/2010/main" val="4094384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Resources</a:t>
            </a:r>
          </a:p>
        </p:txBody>
      </p:sp>
      <p:sp>
        <p:nvSpPr>
          <p:cNvPr id="3" name="Subtitle 2" descr="Link to two articles from Microsoft and a link to a Microsoft Fabric playlist on the GuyInACube YouTube channel.">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https://github.com/DrJekyll325/Presentations</a:t>
            </a:r>
          </a:p>
          <a:p>
            <a:pPr algn="l"/>
            <a:endParaRPr lang="en-US" sz="2400" dirty="0">
              <a:solidFill>
                <a:schemeClr val="tx1">
                  <a:lumMod val="65000"/>
                  <a:lumOff val="35000"/>
                </a:schemeClr>
              </a:solidFill>
            </a:endParaRPr>
          </a:p>
          <a:p>
            <a:pPr algn="l"/>
            <a:r>
              <a:rPr lang="en-US" sz="2400" dirty="0">
                <a:solidFill>
                  <a:schemeClr val="tx1">
                    <a:lumMod val="65000"/>
                    <a:lumOff val="35000"/>
                  </a:schemeClr>
                </a:solidFill>
              </a:rPr>
              <a:t>aka.ms/fabric-learn</a:t>
            </a:r>
          </a:p>
          <a:p>
            <a:pPr algn="l"/>
            <a:r>
              <a:rPr lang="en-US" sz="2400" dirty="0">
                <a:solidFill>
                  <a:schemeClr val="tx1">
                    <a:lumMod val="65000"/>
                    <a:lumOff val="35000"/>
                  </a:schemeClr>
                </a:solidFill>
              </a:rPr>
              <a:t>aka.ms/</a:t>
            </a:r>
            <a:r>
              <a:rPr lang="en-US" sz="2400" dirty="0" err="1">
                <a:solidFill>
                  <a:schemeClr val="tx1">
                    <a:lumMod val="65000"/>
                    <a:lumOff val="35000"/>
                  </a:schemeClr>
                </a:solidFill>
              </a:rPr>
              <a:t>FabricRoadmap</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4771222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Redgate theme v2">
  <a:themeElements>
    <a:clrScheme name="Redgate PASS Summit">
      <a:dk1>
        <a:srgbClr val="222222"/>
      </a:dk1>
      <a:lt1>
        <a:srgbClr val="FFFFFF"/>
      </a:lt1>
      <a:dk2>
        <a:srgbClr val="CC0000"/>
      </a:dk2>
      <a:lt2>
        <a:srgbClr val="F2F2F2"/>
      </a:lt2>
      <a:accent1>
        <a:srgbClr val="CC0000"/>
      </a:accent1>
      <a:accent2>
        <a:srgbClr val="000000"/>
      </a:accent2>
      <a:accent3>
        <a:srgbClr val="767676"/>
      </a:accent3>
      <a:accent4>
        <a:srgbClr val="790000"/>
      </a:accent4>
      <a:accent5>
        <a:srgbClr val="1AAC1E"/>
      </a:accent5>
      <a:accent6>
        <a:srgbClr val="336DC1"/>
      </a:accent6>
      <a:hlink>
        <a:srgbClr val="336DC1"/>
      </a:hlink>
      <a:folHlink>
        <a:srgbClr val="2A5E9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latin typeface="Roboto" panose="02000000000000000000" pitchFamily="2" charset="0"/>
            <a:ea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b="0" i="0" dirty="0" err="1" smtClean="0">
            <a:latin typeface="IBM Plex Sans" panose="020B0503050203000203" pitchFamily="34" charset="77"/>
            <a:ea typeface="Roboto" panose="02000000000000000000" pitchFamily="2" charset="0"/>
          </a:defRPr>
        </a:defPPr>
      </a:lstStyle>
    </a:txDef>
  </a:objectDefaults>
  <a:extraClrSchemeLst/>
  <a:extLst>
    <a:ext uri="{05A4C25C-085E-4340-85A3-A5531E510DB2}">
      <thm15:themeFamily xmlns:thm15="http://schemas.microsoft.com/office/thememl/2012/main" name="Redgate theme v2" id="{1734A0F3-C998-EF41-934D-51BF3B82E1A2}" vid="{D6099F4A-34CB-A94F-8B65-95F962FE41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3788</TotalTime>
  <Words>1875</Words>
  <Application>Microsoft Office PowerPoint</Application>
  <PresentationFormat>Widescreen</PresentationFormat>
  <Paragraphs>228</Paragraphs>
  <Slides>29</Slides>
  <Notes>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29</vt:i4>
      </vt:variant>
    </vt:vector>
  </HeadingPairs>
  <TitlesOfParts>
    <vt:vector size="46" baseType="lpstr">
      <vt:lpstr>Aptos</vt:lpstr>
      <vt:lpstr>Arial</vt:lpstr>
      <vt:lpstr>Calibri Light</vt:lpstr>
      <vt:lpstr>Gotham</vt:lpstr>
      <vt:lpstr>IBM Plex Sans</vt:lpstr>
      <vt:lpstr>IBM Plex Sans Medium</vt:lpstr>
      <vt:lpstr>IBM Plex Sans SemiBold</vt:lpstr>
      <vt:lpstr>Roboto</vt:lpstr>
      <vt:lpstr>Roboto Regular</vt:lpstr>
      <vt:lpstr>Segoe UI</vt:lpstr>
      <vt:lpstr>Segoe UI Light</vt:lpstr>
      <vt:lpstr>Söhne</vt:lpstr>
      <vt:lpstr>Trebuchet MS</vt:lpstr>
      <vt:lpstr>Wingdings</vt:lpstr>
      <vt:lpstr>Wingdings 3</vt:lpstr>
      <vt:lpstr>Facet</vt:lpstr>
      <vt:lpstr>Redgate theme v2</vt:lpstr>
      <vt:lpstr>Tips and Tricks for Microsoft Fabric Data Warehouse</vt:lpstr>
      <vt:lpstr>PowerPoint Presentation</vt:lpstr>
      <vt:lpstr>Agenda</vt:lpstr>
      <vt:lpstr>What is Microsoft Fabric?</vt:lpstr>
      <vt:lpstr>SaaS Foundation</vt:lpstr>
      <vt:lpstr>What is Fabric DW?</vt:lpstr>
      <vt:lpstr>1. Consider Latency</vt:lpstr>
      <vt:lpstr>2. Table Design – Star Schema</vt:lpstr>
      <vt:lpstr>2. Table Design – Star Schema</vt:lpstr>
      <vt:lpstr>3. Table Design – Data Types</vt:lpstr>
      <vt:lpstr>3. Table Design – Data Types</vt:lpstr>
      <vt:lpstr>Data Pipeline Demo</vt:lpstr>
      <vt:lpstr>4. Direct Lake Considerations</vt:lpstr>
      <vt:lpstr>PowerPoint Presentation</vt:lpstr>
      <vt:lpstr>Unsupported in Direct Lake</vt:lpstr>
      <vt:lpstr>Fallback to DirectQuery</vt:lpstr>
      <vt:lpstr>Schema Patterns for Direct Lake</vt:lpstr>
      <vt:lpstr>5. Modeling Dimension Tables</vt:lpstr>
      <vt:lpstr>Slowly-Changing Dimensions</vt:lpstr>
      <vt:lpstr>Dimension Metadata Fields</vt:lpstr>
      <vt:lpstr>Sentinel Values</vt:lpstr>
      <vt:lpstr>6. T-SQL Limitations</vt:lpstr>
      <vt:lpstr>T-SQL Limitation #1</vt:lpstr>
      <vt:lpstr>T-SQL Limitation #1 Fixed!</vt:lpstr>
      <vt:lpstr>T-SQL Limitation #2</vt:lpstr>
      <vt:lpstr>T-SQL Limitation #3</vt:lpstr>
      <vt:lpstr>T-SQL Limitation #4</vt:lpstr>
      <vt:lpstr>7. Leverage the Lakehouse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 Transactions Model</dc:title>
  <dc:creator>Chris Hyde</dc:creator>
  <cp:lastModifiedBy>Chris Hyde</cp:lastModifiedBy>
  <cp:revision>122</cp:revision>
  <dcterms:created xsi:type="dcterms:W3CDTF">2021-06-17T21:52:43Z</dcterms:created>
  <dcterms:modified xsi:type="dcterms:W3CDTF">2025-07-17T15:41:55Z</dcterms:modified>
</cp:coreProperties>
</file>