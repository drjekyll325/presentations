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56" r:id="rId2"/>
    <p:sldId id="311" r:id="rId3"/>
    <p:sldId id="2147482569" r:id="rId4"/>
    <p:sldId id="2147482625" r:id="rId5"/>
    <p:sldId id="2147482525" r:id="rId6"/>
    <p:sldId id="2147482575" r:id="rId7"/>
    <p:sldId id="2147482574" r:id="rId8"/>
    <p:sldId id="2147482573" r:id="rId9"/>
    <p:sldId id="2147482570" r:id="rId10"/>
    <p:sldId id="2147482577" r:id="rId11"/>
    <p:sldId id="2147482572" r:id="rId12"/>
    <p:sldId id="2147482578" r:id="rId13"/>
    <p:sldId id="2147482576" r:id="rId14"/>
    <p:sldId id="2147482579" r:id="rId15"/>
    <p:sldId id="2147482546" r:id="rId16"/>
    <p:sldId id="2147482626" r:id="rId17"/>
    <p:sldId id="2147482620" r:id="rId18"/>
    <p:sldId id="2147482627" r:id="rId19"/>
    <p:sldId id="2147482628" r:id="rId20"/>
    <p:sldId id="2147482629" r:id="rId21"/>
    <p:sldId id="2147482630" r:id="rId22"/>
    <p:sldId id="2147482631" r:id="rId23"/>
    <p:sldId id="2147482632" r:id="rId24"/>
    <p:sldId id="2147482633" r:id="rId25"/>
    <p:sldId id="2147482634" r:id="rId26"/>
    <p:sldId id="2147482635" r:id="rId27"/>
    <p:sldId id="2147482619" r:id="rId28"/>
    <p:sldId id="2147482636" r:id="rId29"/>
    <p:sldId id="2147482637" r:id="rId30"/>
    <p:sldId id="2147482402" r:id="rId31"/>
    <p:sldId id="2147482403" r:id="rId32"/>
    <p:sldId id="2147482683" r:id="rId33"/>
    <p:sldId id="2147482404" r:id="rId34"/>
    <p:sldId id="2147482405" r:id="rId35"/>
    <p:sldId id="2147482406" r:id="rId36"/>
    <p:sldId id="2147482407" r:id="rId37"/>
    <p:sldId id="27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2E17-912C-1062-D728-D2DF2800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80064-1DEC-E666-99E2-30DA1F91A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A8108-16D5-AC28-714B-DB5090C9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5A6B7-E122-3166-D69D-5A88D246B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28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376A9-68E7-6C60-1AC6-8D9D8EF6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63F8C-B667-A32D-B41C-E33348A5C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F7AD9-330A-666F-4B8A-64D46B8CD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1B70D-059F-AE0F-C367-9124FA384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83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75FA-B32F-CC11-6AEE-1FA7C657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8F6C0-DAFE-D0A2-1E8C-FF54D17FA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25836-EA81-BDA8-D0ED-DEC215B5C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19D0F-91FC-2965-B707-A6B7FACCA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07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A3C1-CB73-C873-49AD-74E1945C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87508-76EE-FE27-BD43-41202B25F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D8E26-8536-477B-CD8F-4A40D1AB9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B2D9-A999-FB98-D71E-996C9BE2F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1059-DA48-2338-AAB7-7A562CB9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6DFB2-52A2-6DCE-6A7C-AFE7EFB01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D824F-0B00-A278-E9C8-7D41AE98C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4539-1B38-EDE1-9C02-C0F9D0C60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82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9C62-6146-C498-56F4-F64C3323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EC7DA-8AF9-609F-4A2F-E7D327115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7B7B7-E282-77D9-BA8A-5625E5D20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BBC1-8E6F-055C-E055-AD7F4B466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99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C4D8-0916-E7A6-D828-46A079CD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13729-4D36-B265-064D-0788E0D1E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5E482-1444-2846-33EF-228CD1385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BDDA-654F-8C27-D9DD-7E6DFCCD4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75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E220-5639-BFE7-5CBB-85848E43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22909-1107-CCB6-8D17-C8445F53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25FFC-05DD-E429-A36E-FD9E4D02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86CC-4EF9-6584-7B09-B17D90B9A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9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E1FA-58B4-A856-B12E-9E9019A5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F791F-306B-44B6-A1B9-1CAA2EA04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65A43-E932-C614-9A56-18A20888C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66BD9-555F-E5CE-D015-B18D9FA48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26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8360-A422-7817-128E-DBFD85DC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9A6AD-549A-2FB3-C4A1-D83EED300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CF0A9-9D49-A058-6237-DD442C278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116B7-B8D9-C338-96EC-0FC7C040C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57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1BC7-5357-F827-0D21-241E66F0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3A30-1318-E912-AF02-FC4B38E9D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B2B44-EC1C-FB72-823D-FCA730E35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F72A-B72C-AB09-97C7-B4447432C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32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4115-67BF-152A-C706-0027507E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308E0-D74A-6EED-8BEE-089E4A99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23E2A-06E9-A64B-4B75-94840492B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D206-0156-00B7-8785-91A3A55BC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50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85FB-F25A-355E-1A8F-4515A4B4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F8EAB-D105-2DD1-2D60-94B4150B5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1DC32-9F9A-FD9F-49FD-5F471D4EA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29CB1-56FA-88F9-A3EA-3AA9C7E14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87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D096-C729-74F6-6CBD-2F336247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463AD-A432-A79D-D299-BF94E8527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244B9-8004-25C3-C64D-A604F2C4D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87E4E-AB00-7BB7-67E4-1BA4552B7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48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EC8C-3F2B-676C-D319-FD719DAB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ADA3D-0570-83FB-4176-C880D9372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1FD0E-E0C6-CF95-B2F2-7AE8DF801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6D23A-C2BC-F7B8-AF3C-5D25A3A4F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36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6042-3338-7F4D-BD6F-36F310B2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6B153-AB93-E448-D332-7BBE3B0E0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E7F61-14EC-9973-881B-06E4CE378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EA0D3-305D-4D22-A5EE-CE06A443F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60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95DA7-0825-E4DD-8A77-5B9068E0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4874A-C575-57E8-8881-3765EBE4D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618DA-C140-8B1A-746D-3604213B0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DA606-D969-3429-6A37-3790F07D7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4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9BEC-84BA-0025-D5D2-AB662EBD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1FD8A-8214-0733-6066-56E71DC96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37600-F638-C9A3-DAFF-A444A32B5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D2EFB-E5C1-EB17-54B9-3013C130F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6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D1F1E-9741-747E-C7B9-8A364107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4199D-8FFA-09B7-37A4-6216AC01E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2DCD5-F4F6-7446-F41D-64BD4D8AB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2DDE5-F7B4-EA8A-B0B0-6CCCBB914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63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7BD1-8F5F-65C0-E3B7-DCA3BFFD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EC77E-DAB9-0696-9AA9-0B553C9C7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F6512-880C-610F-4354-307F6B52E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FD547-6A3E-4054-EE3D-04667104D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5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5E55-C732-0BD7-0AC8-D2CF7BE9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D0394-D07A-5CD3-E778-298BEC626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8873F-19C6-563F-55A2-0F78330FA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DFE1A-AD41-6348-343A-FF115F18A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2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BA24-E5BE-2D4E-EAC3-D9B4FE35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C637D-52B8-41B3-55F5-5D692CF9E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F651B-005E-61D7-E257-C9C16695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E70AF-7F9D-74FB-16F5-C93F9F96B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355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AE7D-333A-2D37-1A64-AB6815BF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D1AC3-E797-3CED-1EFB-08511E0C1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B5C95-0DDA-F9E0-2F5B-3E82A0DFC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47B36-A7AA-0994-57CE-4C67E7391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36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7205F-66F0-BC2E-5FDE-201DE1CD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F0D51-8233-9503-34AF-3092D7D14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7DE8E-3D9B-D91F-035F-3CCE9E833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81B3-51E4-991E-9048-6E3223257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001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822B-8E36-747B-DFA4-A4026FBC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3B384-4146-0086-1DBB-D79A3244A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6C93D-C7B9-C200-68D8-CEEB67B5C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C59FF-F486-A29F-49F9-B26A3E117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002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CDAA-248C-85B4-C7C6-59E1E9DC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7CFD8-63DD-76DA-8BB1-77C97C8D7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79A9B-63DB-E1C2-B76F-862C7769D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1E942-E4F1-FBC3-C0AB-F68ED795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05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B4D9-F8AE-0C99-3FB0-C35D2207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5B381-BE2F-126B-02FF-500BCDA3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69E70-9E6E-7E12-7EF8-5ADB8A6C8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EE0C-B54C-5B50-6C0B-FFACE84E2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812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84C1-4E5C-8AA4-0607-C12D42F9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ADC4F-3EA8-F360-DC44-E8E343A13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D125-E0E8-5FF8-88B3-B1746E78D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4978D-7EBE-E391-6C72-51963535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17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A6D9-7B33-BD7D-2693-F98DE8EB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72A07-7069-83B5-B16E-6C5DFDA41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A9484-9BFA-91CE-E408-2DF70D862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47BB5-1F41-0D5B-0805-CD2FAA8AE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917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B196-0395-79D8-AFE4-191F50CA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B8DAC-C55D-2B3B-B6DC-E9F62BA34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46EDF-9858-1142-9705-D795763B4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0FB0-880D-A3B4-852B-BF9BFDFAC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208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68D3-B882-8131-DA7C-60D4CADA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EBED4-7057-5A58-6811-A6B5CD411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9E7F4-5F67-8150-F6A5-7793B7B2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HAVE END DATE = THE NEW EFFECTIVE DATE like in the Learn example above. This is a recipe </a:t>
            </a:r>
            <a:r>
              <a:rPr lang="en-US"/>
              <a:t>for disaster.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749AE-9C3B-23C2-D1CD-6ADFD7D2F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185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08DD-3899-3004-8379-03E27BB6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E0EF1-6420-09EF-A9E5-6B9241EB7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A7754-A082-E9D9-0419-AC27F7023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68946-0610-FB4A-7F0B-2BBCF9D9F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12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D520-7939-605C-D38B-A19A7B9E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9DB9A-524D-B336-8A88-75DACF01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E6682-3BA8-0970-494F-F38124963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38BAE-DBFE-B119-97CF-14D98C2ED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21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293C-BE40-AF07-8836-9DD8FB1A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BDE52-C153-396C-1057-449016299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82384-6289-F793-C299-808CCDF27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4443-12FC-6422-B0BA-7E37CC241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0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 Gentle (Re-)Introduction to Dimensional Modeling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SQL Saturday Houston</a:t>
            </a:r>
          </a:p>
          <a:p>
            <a:pPr algn="ctr"/>
            <a:r>
              <a:rPr lang="en-US" sz="2800" dirty="0"/>
              <a:t>June 27th,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6D14-AFAF-B919-C7E4-D228F7E3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9DD0-CD5F-5EC2-1FF2-E1F42A73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424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agenda, part 1</a:t>
            </a:r>
            <a:endParaRPr lang="en-US" sz="4000" kern="1200" dirty="0">
              <a:solidFill>
                <a:schemeClr val="accent2"/>
              </a:solidFill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8F198-FC46-D232-EC1E-4E69DBBF79EA}"/>
              </a:ext>
            </a:extLst>
          </p:cNvPr>
          <p:cNvSpPr txBox="1"/>
          <p:nvPr/>
        </p:nvSpPr>
        <p:spPr>
          <a:xfrm>
            <a:off x="1254120" y="1325563"/>
            <a:ext cx="1027826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What is dimensional modeling and why does it matter?</a:t>
            </a:r>
          </a:p>
          <a:p>
            <a:endParaRPr lang="en-US" sz="1200" dirty="0"/>
          </a:p>
          <a:p>
            <a:r>
              <a:rPr lang="en-US" sz="2400" dirty="0"/>
              <a:t>Fact tables</a:t>
            </a:r>
          </a:p>
          <a:p>
            <a:endParaRPr lang="en-US" sz="1200" dirty="0"/>
          </a:p>
          <a:p>
            <a:r>
              <a:rPr lang="en-US" sz="2400" dirty="0"/>
              <a:t>Dimension tables</a:t>
            </a:r>
            <a:endParaRPr lang="en-US" dirty="0"/>
          </a:p>
          <a:p>
            <a:endParaRPr lang="en-US" sz="1200" dirty="0"/>
          </a:p>
          <a:p>
            <a:r>
              <a:rPr lang="en-US" sz="2400" dirty="0"/>
              <a:t>Star schema</a:t>
            </a:r>
          </a:p>
          <a:p>
            <a:endParaRPr lang="en-US" sz="1200" dirty="0"/>
          </a:p>
          <a:p>
            <a:r>
              <a:rPr lang="en-US" sz="2400" dirty="0"/>
              <a:t>Snowflake schema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2400" dirty="0"/>
              <a:t>The Kimball methodology</a:t>
            </a:r>
          </a:p>
          <a:p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27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5E83-35F2-B7BC-CBD4-27D365B4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A656-539C-FFBA-0120-4F2988AA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3424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agenda, part 2</a:t>
            </a:r>
            <a:endParaRPr lang="en-US" sz="4000" kern="1200" dirty="0">
              <a:solidFill>
                <a:schemeClr val="accent2"/>
              </a:solidFill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26A14-8B3B-E41A-E408-31FAABB58DBD}"/>
              </a:ext>
            </a:extLst>
          </p:cNvPr>
          <p:cNvSpPr txBox="1"/>
          <p:nvPr/>
        </p:nvSpPr>
        <p:spPr>
          <a:xfrm>
            <a:off x="1262746" y="1325563"/>
            <a:ext cx="1027826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My table and schema design patterns</a:t>
            </a:r>
          </a:p>
          <a:p>
            <a:endParaRPr lang="en-US" sz="1200" dirty="0"/>
          </a:p>
          <a:p>
            <a:r>
              <a:rPr lang="en-US" sz="2400" dirty="0"/>
              <a:t>Why I like views</a:t>
            </a:r>
          </a:p>
          <a:p>
            <a:endParaRPr lang="en-US" sz="1200" dirty="0"/>
          </a:p>
          <a:p>
            <a:r>
              <a:rPr lang="en-US" sz="2400" dirty="0"/>
              <a:t>Let's talk about nulls</a:t>
            </a:r>
            <a:endParaRPr lang="en-US" dirty="0"/>
          </a:p>
          <a:p>
            <a:endParaRPr lang="en-US" sz="1200" dirty="0"/>
          </a:p>
          <a:p>
            <a:r>
              <a:rPr lang="en-US" sz="2400" dirty="0"/>
              <a:t>Sentinel values</a:t>
            </a:r>
          </a:p>
          <a:p>
            <a:endParaRPr lang="en-US" sz="1200" dirty="0"/>
          </a:p>
          <a:p>
            <a:r>
              <a:rPr lang="en-US" sz="2400" dirty="0"/>
              <a:t>Plumbing, miscellaneous, and the dreaded customer</a:t>
            </a:r>
          </a:p>
          <a:p>
            <a:r>
              <a:rPr lang="en-US" sz="2400" dirty="0"/>
              <a:t>dimension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Exercise!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30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B9DE-5ACF-A5B6-01FC-A70DB711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30DE-C175-AFB6-8486-9DBCB23C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3424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what is dimensional modeling?</a:t>
            </a:r>
            <a:endParaRPr lang="en-US" sz="4000" kern="1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DBA34-2BD5-92BF-9C8A-1CE5071A88F9}"/>
              </a:ext>
            </a:extLst>
          </p:cNvPr>
          <p:cNvSpPr txBox="1"/>
          <p:nvPr/>
        </p:nvSpPr>
        <p:spPr>
          <a:xfrm>
            <a:off x="1176481" y="1325563"/>
            <a:ext cx="10278263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Dimensional modeling is a pattern and approach to modeling</a:t>
            </a:r>
          </a:p>
          <a:p>
            <a:r>
              <a:rPr lang="en-US" sz="2400" dirty="0"/>
              <a:t>data specifically to support analytical workloads (OLAP)</a:t>
            </a:r>
          </a:p>
          <a:p>
            <a:endParaRPr lang="en-US" sz="1200" dirty="0"/>
          </a:p>
          <a:p>
            <a:r>
              <a:rPr lang="en-US" sz="2400" dirty="0"/>
              <a:t>First published by Kimball in 1996 in </a:t>
            </a:r>
            <a:r>
              <a:rPr lang="en-US" sz="2400" i="1" dirty="0"/>
              <a:t>The Data Warehouse</a:t>
            </a:r>
          </a:p>
          <a:p>
            <a:r>
              <a:rPr lang="en-US" sz="2400" i="1" dirty="0"/>
              <a:t>Toolkit</a:t>
            </a:r>
            <a:r>
              <a:rPr lang="en-US" sz="2400" dirty="0"/>
              <a:t> based on his practices in the early and mid 1990s</a:t>
            </a:r>
          </a:p>
          <a:p>
            <a:endParaRPr lang="en-US" sz="1200" dirty="0"/>
          </a:p>
          <a:p>
            <a:r>
              <a:rPr lang="en-US" sz="2400" dirty="0"/>
              <a:t>Data is organized into fact and dimension tables that are</a:t>
            </a:r>
          </a:p>
          <a:p>
            <a:r>
              <a:rPr lang="en-US" sz="2400" dirty="0"/>
              <a:t>arranged in patterns called star schemas (hooray!) or</a:t>
            </a:r>
          </a:p>
          <a:p>
            <a:r>
              <a:rPr lang="en-US" sz="2400" dirty="0"/>
              <a:t>snowflakes (boo, hiss)</a:t>
            </a:r>
          </a:p>
          <a:p>
            <a:endParaRPr lang="en-US" sz="1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369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F003-6585-7A82-B5BE-E4500982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3BF6-90D4-345A-22F2-7CD68B83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4592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why does dimensional modeling matter?</a:t>
            </a:r>
            <a:endParaRPr lang="en-US" kern="1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E605F-C3B3-7D08-8400-D9A1E12FBEF2}"/>
              </a:ext>
            </a:extLst>
          </p:cNvPr>
          <p:cNvSpPr txBox="1"/>
          <p:nvPr/>
        </p:nvSpPr>
        <p:spPr>
          <a:xfrm>
            <a:off x="1167856" y="1325563"/>
            <a:ext cx="10278263" cy="4339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Tables are optimized for analytical workloads, </a:t>
            </a:r>
            <a:r>
              <a:rPr lang="en-US" sz="2400" dirty="0" err="1"/>
              <a:t>ie</a:t>
            </a:r>
            <a:r>
              <a:rPr lang="en-US" sz="2400" dirty="0"/>
              <a:t>. Querying</a:t>
            </a:r>
          </a:p>
          <a:p>
            <a:r>
              <a:rPr lang="en-US" sz="2400" dirty="0"/>
              <a:t>rather than for frequent transactions</a:t>
            </a:r>
            <a:endParaRPr lang="en-US" dirty="0"/>
          </a:p>
          <a:p>
            <a:endParaRPr lang="en-US" sz="1200" dirty="0"/>
          </a:p>
          <a:p>
            <a:r>
              <a:rPr lang="en-US" sz="2400" dirty="0"/>
              <a:t>Tables are organized and named in a business-focused manner</a:t>
            </a:r>
          </a:p>
          <a:p>
            <a:endParaRPr lang="en-US" sz="1200" dirty="0"/>
          </a:p>
          <a:p>
            <a:r>
              <a:rPr lang="en-US" sz="2400" dirty="0"/>
              <a:t>Much easier for data analysts to query</a:t>
            </a:r>
          </a:p>
          <a:p>
            <a:endParaRPr lang="en-US" sz="1200" dirty="0"/>
          </a:p>
          <a:p>
            <a:r>
              <a:rPr lang="en-US" sz="2400" dirty="0"/>
              <a:t>So easy, even BI tools can do it!</a:t>
            </a:r>
          </a:p>
          <a:p>
            <a:endParaRPr lang="en-US" sz="1200" dirty="0"/>
          </a:p>
          <a:p>
            <a:r>
              <a:rPr lang="en-US" sz="2400" dirty="0"/>
              <a:t>Predictable patterns reduce development time, both for</a:t>
            </a:r>
          </a:p>
          <a:p>
            <a:r>
              <a:rPr lang="en-US" sz="2400" dirty="0"/>
              <a:t>queries and for the transformation layer</a:t>
            </a:r>
          </a:p>
          <a:p>
            <a:endParaRPr lang="en-US" sz="1200" dirty="0"/>
          </a:p>
          <a:p>
            <a:r>
              <a:rPr lang="en-US" sz="2400" dirty="0"/>
              <a:t>The foundation of every successful data warehousing</a:t>
            </a:r>
          </a:p>
          <a:p>
            <a:r>
              <a:rPr lang="en-US" sz="2400" dirty="0"/>
              <a:t>project!</a:t>
            </a:r>
          </a:p>
        </p:txBody>
      </p:sp>
    </p:spTree>
    <p:extLst>
      <p:ext uri="{BB962C8B-B14F-4D97-AF65-F5344CB8AC3E}">
        <p14:creationId xmlns:p14="http://schemas.microsoft.com/office/powerpoint/2010/main" val="128781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63E7-9DB1-8D31-0F2E-778D265F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C752-3782-6492-957B-FFE6ABF8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3378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fact tables</a:t>
            </a:r>
            <a:endParaRPr lang="en-US" sz="4000" kern="1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6CD97-AD72-FFCB-E69C-E2E5644F56E0}"/>
              </a:ext>
            </a:extLst>
          </p:cNvPr>
          <p:cNvSpPr txBox="1"/>
          <p:nvPr/>
        </p:nvSpPr>
        <p:spPr>
          <a:xfrm>
            <a:off x="1262746" y="1325563"/>
            <a:ext cx="10278263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Facts are the events or measurements that you will be</a:t>
            </a:r>
          </a:p>
          <a:p>
            <a:r>
              <a:rPr lang="en-US" sz="2400" dirty="0"/>
              <a:t>aggregating</a:t>
            </a:r>
          </a:p>
          <a:p>
            <a:endParaRPr lang="en-US" sz="1200" dirty="0"/>
          </a:p>
          <a:p>
            <a:r>
              <a:rPr lang="en-US" sz="2400" dirty="0"/>
              <a:t>A fact table contains mostly numeric, additive values</a:t>
            </a:r>
          </a:p>
          <a:p>
            <a:r>
              <a:rPr lang="en-US" sz="2400" dirty="0"/>
              <a:t>referred to as "measures"</a:t>
            </a:r>
          </a:p>
          <a:p>
            <a:endParaRPr lang="en-US" sz="1200" dirty="0"/>
          </a:p>
          <a:p>
            <a:r>
              <a:rPr lang="en-US" sz="2400" dirty="0"/>
              <a:t>The "grain" of a fact table refers to the level of detail</a:t>
            </a:r>
          </a:p>
          <a:p>
            <a:r>
              <a:rPr lang="en-US" sz="2400" dirty="0"/>
              <a:t>captured, </a:t>
            </a:r>
            <a:r>
              <a:rPr lang="en-US" sz="2400" dirty="0" err="1"/>
              <a:t>ie</a:t>
            </a:r>
            <a:r>
              <a:rPr lang="en-US" sz="2400" dirty="0"/>
              <a:t>. what does one row represent</a:t>
            </a:r>
          </a:p>
          <a:p>
            <a:endParaRPr lang="en-US" sz="1200" dirty="0"/>
          </a:p>
          <a:p>
            <a:r>
              <a:rPr lang="en-US" sz="2400" dirty="0"/>
              <a:t>The grain is most often a specific event such as a sale, an</a:t>
            </a:r>
          </a:p>
          <a:p>
            <a:r>
              <a:rPr lang="en-US" sz="2400" dirty="0"/>
              <a:t>appointment, a transaction etc., but sometimes summary</a:t>
            </a:r>
          </a:p>
          <a:p>
            <a:r>
              <a:rPr lang="en-US" sz="2400" dirty="0"/>
              <a:t>fact tables will be created</a:t>
            </a:r>
          </a:p>
          <a:p>
            <a:endParaRPr lang="en-US" sz="1200" dirty="0"/>
          </a:p>
          <a:p>
            <a:r>
              <a:rPr lang="en-US" sz="2400" dirty="0"/>
              <a:t>Usually the largest tables in your presentation layer</a:t>
            </a:r>
          </a:p>
          <a:p>
            <a:endParaRPr lang="en-US" sz="1200" dirty="0"/>
          </a:p>
          <a:p>
            <a:r>
              <a:rPr lang="en-US" sz="2400" dirty="0"/>
              <a:t>Business users often think of facts as the "data" tables</a:t>
            </a:r>
          </a:p>
        </p:txBody>
      </p:sp>
    </p:spTree>
    <p:extLst>
      <p:ext uri="{BB962C8B-B14F-4D97-AF65-F5344CB8AC3E}">
        <p14:creationId xmlns:p14="http://schemas.microsoft.com/office/powerpoint/2010/main" val="161356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CDA5-1341-9798-9CC7-44086C6D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627E-66AD-06D1-AF9C-80378148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424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dimension tables</a:t>
            </a:r>
            <a:endParaRPr lang="en-US" sz="4000" kern="1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F67BF-1CC4-8861-BFB7-8DFDD3B3F4B0}"/>
              </a:ext>
            </a:extLst>
          </p:cNvPr>
          <p:cNvSpPr txBox="1"/>
          <p:nvPr/>
        </p:nvSpPr>
        <p:spPr>
          <a:xfrm>
            <a:off x="1029833" y="1325563"/>
            <a:ext cx="10278263" cy="54476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Dimensions are the context in which the aggregations are</a:t>
            </a:r>
          </a:p>
          <a:p>
            <a:r>
              <a:rPr lang="en-US" sz="2400" dirty="0"/>
              <a:t>viewed</a:t>
            </a:r>
          </a:p>
          <a:p>
            <a:endParaRPr lang="en-US" sz="1200" dirty="0"/>
          </a:p>
          <a:p>
            <a:r>
              <a:rPr lang="en-US" sz="2400" dirty="0"/>
              <a:t>The who, what, where, when, and maybe even the why</a:t>
            </a:r>
          </a:p>
          <a:p>
            <a:endParaRPr lang="en-US" sz="1200" dirty="0"/>
          </a:p>
          <a:p>
            <a:r>
              <a:rPr lang="en-US" sz="2400" dirty="0"/>
              <a:t>A dimension table contains mostly descriptive columns</a:t>
            </a:r>
          </a:p>
          <a:p>
            <a:r>
              <a:rPr lang="en-US" sz="2400" dirty="0"/>
              <a:t>referred to as "attributes"</a:t>
            </a:r>
          </a:p>
          <a:p>
            <a:endParaRPr lang="en-US" sz="1200" dirty="0"/>
          </a:p>
          <a:p>
            <a:r>
              <a:rPr lang="en-US" sz="2400" dirty="0"/>
              <a:t>In general, attributes are one-to-one with the "member" of</a:t>
            </a:r>
          </a:p>
          <a:p>
            <a:r>
              <a:rPr lang="en-US" sz="2400" dirty="0"/>
              <a:t>the entity they represent, </a:t>
            </a:r>
            <a:r>
              <a:rPr lang="en-US" sz="2400" dirty="0" err="1"/>
              <a:t>eg.</a:t>
            </a:r>
            <a:r>
              <a:rPr lang="en-US" sz="2400" dirty="0"/>
              <a:t> a Person has a Name, a Product</a:t>
            </a:r>
          </a:p>
          <a:p>
            <a:r>
              <a:rPr lang="en-US" sz="2400" dirty="0"/>
              <a:t>has a Category, an Employee has a department</a:t>
            </a:r>
          </a:p>
          <a:p>
            <a:endParaRPr lang="en-US" sz="1200" dirty="0"/>
          </a:p>
          <a:p>
            <a:r>
              <a:rPr lang="en-US" sz="2400" dirty="0"/>
              <a:t>Fact tables contain the measures that you aggregate </a:t>
            </a:r>
            <a:r>
              <a:rPr lang="en-US" sz="2400" dirty="0" err="1"/>
              <a:t>ie</a:t>
            </a:r>
            <a:r>
              <a:rPr lang="en-US" sz="2400" dirty="0"/>
              <a:t>.</a:t>
            </a:r>
          </a:p>
          <a:p>
            <a:r>
              <a:rPr lang="en-US" sz="2400" dirty="0"/>
              <a:t>SUM(), MIN(), AVG(), etc.; Dimension tables contain the</a:t>
            </a:r>
          </a:p>
          <a:p>
            <a:r>
              <a:rPr lang="en-US" sz="2400" dirty="0"/>
              <a:t>GROUP BY, WHERE clauses</a:t>
            </a:r>
          </a:p>
          <a:p>
            <a:endParaRPr lang="en-US" sz="1200" dirty="0"/>
          </a:p>
          <a:p>
            <a:r>
              <a:rPr lang="en-US" sz="2400" dirty="0"/>
              <a:t>Business users often think of dimensions as "lookup" tables</a:t>
            </a:r>
          </a:p>
        </p:txBody>
      </p:sp>
    </p:spTree>
    <p:extLst>
      <p:ext uri="{BB962C8B-B14F-4D97-AF65-F5344CB8AC3E}">
        <p14:creationId xmlns:p14="http://schemas.microsoft.com/office/powerpoint/2010/main" val="3138778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70CF-1EC7-F64C-D62C-A65F110F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CA3E-4676-2ADF-22ED-BEC987C4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06"/>
            <a:ext cx="935103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facts and dimensions example query</a:t>
            </a:r>
            <a:endParaRPr lang="en-US" sz="4000" kern="12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AA5486-E94A-30E0-F0BD-289A759E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3" y="1447189"/>
            <a:ext cx="7973892" cy="472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5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2273-36D9-8B82-6753-00BCE8CB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647B-949A-8FCE-A25E-E272C7C9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0"/>
            <a:ext cx="933936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star schemas</a:t>
            </a:r>
            <a:endParaRPr lang="en-US" sz="4000" kern="1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AA283-EA4C-AB35-A9CE-7E30B45E7B2E}"/>
              </a:ext>
            </a:extLst>
          </p:cNvPr>
          <p:cNvSpPr txBox="1"/>
          <p:nvPr/>
        </p:nvSpPr>
        <p:spPr>
          <a:xfrm>
            <a:off x="1090218" y="1325563"/>
            <a:ext cx="1027826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Star schemas have a single fact table at the center</a:t>
            </a:r>
          </a:p>
          <a:p>
            <a:endParaRPr lang="en-US" sz="1200" dirty="0"/>
          </a:p>
          <a:p>
            <a:r>
              <a:rPr lang="en-US" sz="2400" dirty="0"/>
              <a:t>Dimension tables radiate outward, forming a star shape</a:t>
            </a:r>
          </a:p>
          <a:p>
            <a:endParaRPr lang="en-US" sz="1200" dirty="0"/>
          </a:p>
          <a:p>
            <a:r>
              <a:rPr lang="en-US" sz="2400" dirty="0"/>
              <a:t>Foreign key fields relate the dimension tables to the fact</a:t>
            </a:r>
          </a:p>
          <a:p>
            <a:r>
              <a:rPr lang="en-US" sz="2400" dirty="0"/>
              <a:t>table (well, usually)</a:t>
            </a:r>
          </a:p>
          <a:p>
            <a:endParaRPr lang="en-US" sz="1200" dirty="0"/>
          </a:p>
          <a:p>
            <a:r>
              <a:rPr lang="en-US" sz="2400" dirty="0"/>
              <a:t>Note that this is deliberately </a:t>
            </a:r>
            <a:r>
              <a:rPr lang="en-US" sz="2400" dirty="0" err="1"/>
              <a:t>denormalised</a:t>
            </a:r>
            <a:r>
              <a:rPr lang="en-US" sz="2400" dirty="0"/>
              <a:t> for ease and</a:t>
            </a:r>
          </a:p>
          <a:p>
            <a:r>
              <a:rPr lang="en-US" sz="2400" dirty="0"/>
              <a:t>speed of querying</a:t>
            </a:r>
            <a:endParaRPr lang="en-US" dirty="0"/>
          </a:p>
          <a:p>
            <a:endParaRPr lang="en-US" sz="1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189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6A58-92E3-49F5-13D0-622F1209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E693-CAF8-CD70-706F-6E5C4B32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5103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star schema example</a:t>
            </a:r>
            <a:endParaRPr lang="en-US" sz="4000" kern="12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85A5FF55-D610-793F-14EF-58016ABED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64" y="1576388"/>
            <a:ext cx="8513395" cy="427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6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50E0-822F-CE3A-A63D-4A97B53B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40A7-94E3-83A9-2E35-6D5B9D802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snowflakes</a:t>
            </a:r>
            <a:endParaRPr lang="en-US" sz="4000" kern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3DB3B-0AE1-D767-3505-C04C181E7C0B}"/>
              </a:ext>
            </a:extLst>
          </p:cNvPr>
          <p:cNvSpPr txBox="1"/>
          <p:nvPr/>
        </p:nvSpPr>
        <p:spPr>
          <a:xfrm>
            <a:off x="1271373" y="1964829"/>
            <a:ext cx="1027826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Still a single fact table, but dimensions are </a:t>
            </a:r>
            <a:r>
              <a:rPr lang="en-US" sz="2400" err="1"/>
              <a:t>normalised</a:t>
            </a:r>
            <a:endParaRPr lang="en-US" sz="2400"/>
          </a:p>
          <a:p>
            <a:endParaRPr lang="en-US" sz="1200"/>
          </a:p>
          <a:p>
            <a:r>
              <a:rPr lang="en-US" sz="2400"/>
              <a:t>For example: product name </a:t>
            </a:r>
            <a:r>
              <a:rPr lang="en-US" sz="2000">
                <a:ea typeface="+mn-lt"/>
                <a:cs typeface="+mn-lt"/>
              </a:rPr>
              <a:t>→ </a:t>
            </a:r>
            <a:r>
              <a:rPr lang="en-US" sz="2400"/>
              <a:t>product sub-category </a:t>
            </a:r>
            <a:r>
              <a:rPr lang="en-US" sz="2000">
                <a:ea typeface="+mn-lt"/>
                <a:cs typeface="+mn-lt"/>
              </a:rPr>
              <a:t>→ </a:t>
            </a:r>
            <a:r>
              <a:rPr lang="en-US" sz="2400"/>
              <a:t> product category</a:t>
            </a:r>
          </a:p>
          <a:p>
            <a:endParaRPr lang="en-US" sz="1200"/>
          </a:p>
          <a:p>
            <a:r>
              <a:rPr lang="en-US" sz="2400"/>
              <a:t>Saves on storage, but queries are more </a:t>
            </a:r>
            <a:r>
              <a:rPr lang="en-US" sz="2400" err="1"/>
              <a:t>compl</a:t>
            </a:r>
            <a:r>
              <a:rPr lang="en-US" sz="2400"/>
              <a:t>ex</a:t>
            </a:r>
          </a:p>
          <a:p>
            <a:endParaRPr lang="en-US" sz="1200"/>
          </a:p>
          <a:p>
            <a:r>
              <a:rPr lang="en-US" sz="2400"/>
              <a:t>When to use: NEVER</a:t>
            </a:r>
          </a:p>
          <a:p>
            <a:endParaRPr lang="en-US" sz="1200"/>
          </a:p>
          <a:p>
            <a:r>
              <a:rPr lang="en-US" sz="2400"/>
              <a:t>Okay, that's not true.  This can sometimes be helpful with very large dimensions with clear hierarchies.</a:t>
            </a:r>
          </a:p>
          <a:p>
            <a:endParaRPr lang="en-US" sz="1200"/>
          </a:p>
          <a:p>
            <a:r>
              <a:rPr lang="en-US" sz="2400"/>
              <a:t>Microsoft recommends using star schemas in Fabric due to how the query</a:t>
            </a:r>
          </a:p>
          <a:p>
            <a:r>
              <a:rPr lang="en-US" sz="2400"/>
              <a:t>engine is </a:t>
            </a:r>
            <a:r>
              <a:rPr lang="en-US" sz="2400" err="1"/>
              <a:t>optimised</a:t>
            </a:r>
            <a:endParaRPr lang="en-US" err="1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FA94BF42-1043-FD2A-2950-11A479F52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6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CF52-CCB5-A8B4-6DF5-C96E22B7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38EB-3015-617C-70D2-5EEDC96EA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snowflake example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79194E75-264E-C9D4-8C38-374F83C43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ED0841E2-B5D0-FFF1-153A-8FFD62B5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18" y="1572968"/>
            <a:ext cx="9496180" cy="460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4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D492F-F3CE-9962-F065-01913D7B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7742-22DD-F536-A9E9-6514AAE7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the Kimball modeling methodology</a:t>
            </a:r>
            <a:endParaRPr lang="en-US" sz="4000" kern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44665-328F-7D03-9833-52587FADC223}"/>
              </a:ext>
            </a:extLst>
          </p:cNvPr>
          <p:cNvSpPr txBox="1"/>
          <p:nvPr/>
        </p:nvSpPr>
        <p:spPr>
          <a:xfrm>
            <a:off x="1271373" y="1964829"/>
            <a:ext cx="10278263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So simple, anyone can do it!</a:t>
            </a:r>
            <a:endParaRPr lang="en-US"/>
          </a:p>
          <a:p>
            <a:endParaRPr lang="en-US" sz="1200"/>
          </a:p>
          <a:p>
            <a:r>
              <a:rPr lang="en-US" sz="2400"/>
              <a:t>1.  Identify the business process to model</a:t>
            </a:r>
            <a:endParaRPr lang="en-US"/>
          </a:p>
          <a:p>
            <a:endParaRPr lang="en-US" sz="1200"/>
          </a:p>
          <a:p>
            <a:r>
              <a:rPr lang="en-US" sz="2400"/>
              <a:t>2.  Decide on the grain of the fact table</a:t>
            </a:r>
          </a:p>
          <a:p>
            <a:endParaRPr lang="en-US" sz="1200"/>
          </a:p>
          <a:p>
            <a:r>
              <a:rPr lang="en-US" sz="2400"/>
              <a:t>3.  Choose the dimensions that will apply to each row in the fact table</a:t>
            </a:r>
          </a:p>
          <a:p>
            <a:endParaRPr lang="en-US" sz="1200"/>
          </a:p>
          <a:p>
            <a:r>
              <a:rPr lang="en-US" sz="2400"/>
              <a:t>4.  Identify the numeric measures that will be populated in each row in the fact table</a:t>
            </a:r>
          </a:p>
          <a:p>
            <a:endParaRPr lang="en-US" sz="1200"/>
          </a:p>
          <a:p>
            <a:endParaRPr lang="en-US" sz="24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B7CA4C73-65B3-8A46-9E3E-F699C8B32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72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493C-503A-2FA2-09D0-6F433747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03D1-79A5-00F7-F5FF-F866F5C0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conforming dimension tables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94FE8-C0FE-2AC3-AE8A-8ECE0C5E2FAD}"/>
              </a:ext>
            </a:extLst>
          </p:cNvPr>
          <p:cNvSpPr txBox="1"/>
          <p:nvPr/>
        </p:nvSpPr>
        <p:spPr>
          <a:xfrm>
            <a:off x="1271373" y="1964829"/>
            <a:ext cx="10278263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Many common dimension tables are often "conformed," meaning the contexts are standardized across many facts</a:t>
            </a:r>
            <a:endParaRPr lang="en-US" sz="2400" err="1"/>
          </a:p>
          <a:p>
            <a:endParaRPr lang="en-US" sz="1200"/>
          </a:p>
          <a:p>
            <a:r>
              <a:rPr lang="en-US" sz="2400"/>
              <a:t>The mapping and decision-making to make this happen can be very painful</a:t>
            </a:r>
          </a:p>
          <a:p>
            <a:endParaRPr lang="en-US" sz="1200"/>
          </a:p>
          <a:p>
            <a:r>
              <a:rPr lang="en-US" sz="2400"/>
              <a:t>But it is crucial as it's nigh-on impossible to perform analysis across different systems if, say, the department structure is different in each one</a:t>
            </a:r>
          </a:p>
          <a:p>
            <a:endParaRPr lang="en-US" sz="1200"/>
          </a:p>
          <a:p>
            <a:endParaRPr lang="en-US" sz="24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81D6B0AE-ECF3-9CBD-F8DB-B4F4F87A3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69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47F95-6B7E-BBC3-6746-40733A8D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016E-BDEC-5D68-E6EF-717C439C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common dimension tables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BC43F-4154-1E88-E1EC-C8E39CF17EEF}"/>
              </a:ext>
            </a:extLst>
          </p:cNvPr>
          <p:cNvSpPr txBox="1"/>
          <p:nvPr/>
        </p:nvSpPr>
        <p:spPr>
          <a:xfrm>
            <a:off x="1271373" y="1964829"/>
            <a:ext cx="1027826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Many of the most common dimension tables are conformed by their very nature</a:t>
            </a:r>
            <a:endParaRPr lang="en-US" sz="2400" err="1"/>
          </a:p>
          <a:p>
            <a:endParaRPr lang="en-US" sz="1200"/>
          </a:p>
          <a:p>
            <a:r>
              <a:rPr lang="en-US" sz="2400"/>
              <a:t>A calendar or date table is the most common dimension table, and often has to be created from scratch</a:t>
            </a:r>
          </a:p>
          <a:p>
            <a:endParaRPr lang="en-US" sz="1200"/>
          </a:p>
          <a:p>
            <a:r>
              <a:rPr lang="en-US" sz="2400"/>
              <a:t>Customer, Department, Employee, Geography, Location, Product, Status, etc.</a:t>
            </a:r>
            <a:endParaRPr lang="en-US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78352135-FE13-FEC0-EA61-CC201C11E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86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4DBD-283B-024E-88FA-59F1F6EE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0845-B667-038B-972C-D0F5DF7B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dr. </a:t>
            </a:r>
            <a:r>
              <a:rPr lang="en-US" sz="4000" err="1"/>
              <a:t>jekyll's</a:t>
            </a:r>
            <a:r>
              <a:rPr lang="en-US" sz="4000"/>
              <a:t> dimension design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27438-3427-6C12-F4B9-44E675B02AAA}"/>
              </a:ext>
            </a:extLst>
          </p:cNvPr>
          <p:cNvSpPr txBox="1"/>
          <p:nvPr/>
        </p:nvSpPr>
        <p:spPr>
          <a:xfrm>
            <a:off x="1271373" y="1964829"/>
            <a:ext cx="10278263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Start with a surrogate key (SMALLINT, INT, or BIGINT) called &lt;</a:t>
            </a:r>
            <a:r>
              <a:rPr lang="en-US" sz="2400" err="1"/>
              <a:t>table_name</a:t>
            </a:r>
            <a:r>
              <a:rPr lang="en-US" sz="2400"/>
              <a:t>&gt;Key as a unique primary key</a:t>
            </a:r>
            <a:endParaRPr lang="en-US" sz="2400" err="1"/>
          </a:p>
          <a:p>
            <a:endParaRPr lang="en-US" sz="1200"/>
          </a:p>
          <a:p>
            <a:r>
              <a:rPr lang="en-US" sz="2400"/>
              <a:t>Add a column for the data value that best identifies the member of the dimension, </a:t>
            </a:r>
            <a:r>
              <a:rPr lang="en-US" sz="2400" err="1"/>
              <a:t>ie</a:t>
            </a:r>
            <a:r>
              <a:rPr lang="en-US" sz="2400"/>
              <a:t>. </a:t>
            </a:r>
            <a:r>
              <a:rPr lang="en-US" sz="2400" err="1"/>
              <a:t>PatientName</a:t>
            </a:r>
            <a:endParaRPr lang="en-US" sz="2400"/>
          </a:p>
          <a:p>
            <a:endParaRPr lang="en-US" sz="1200"/>
          </a:p>
          <a:p>
            <a:r>
              <a:rPr lang="en-US" sz="2400"/>
              <a:t>Add columns for any hierarchies in order of largest (least granular) to smallest (most granular)</a:t>
            </a:r>
          </a:p>
          <a:p>
            <a:endParaRPr lang="en-US" sz="1200"/>
          </a:p>
          <a:p>
            <a:r>
              <a:rPr lang="en-US" sz="2400"/>
              <a:t>Add the remaining columns, preferably in alphabetical order, and use nulls only if your life depends on it</a:t>
            </a:r>
            <a:endParaRPr lang="en-US"/>
          </a:p>
          <a:p>
            <a:endParaRPr lang="en-US" sz="1200"/>
          </a:p>
          <a:p>
            <a:r>
              <a:rPr lang="en-US" sz="2400"/>
              <a:t>Then add your plumbing</a:t>
            </a: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FCB34A8-F36F-DB0E-1871-1EA9AEA2A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2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5C03-8C89-4203-6494-E34DE274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15AB-3067-F16D-8C2E-039A15DE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err="1"/>
              <a:t>i</a:t>
            </a:r>
            <a:r>
              <a:rPr lang="en-US" sz="4000"/>
              <a:t> can design facts too!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51A45-FA0B-1A89-4E44-9727E7D59FED}"/>
              </a:ext>
            </a:extLst>
          </p:cNvPr>
          <p:cNvSpPr txBox="1"/>
          <p:nvPr/>
        </p:nvSpPr>
        <p:spPr>
          <a:xfrm>
            <a:off x="1271373" y="1964829"/>
            <a:ext cx="10278263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Start with a surrogate key (INT or BIGINT) called &lt;</a:t>
            </a:r>
            <a:r>
              <a:rPr lang="en-US" sz="2400" err="1"/>
              <a:t>table_name</a:t>
            </a:r>
            <a:r>
              <a:rPr lang="en-US" sz="2400"/>
              <a:t>&gt;Key as a unique primary key</a:t>
            </a:r>
            <a:endParaRPr lang="en-US" sz="2400" err="1"/>
          </a:p>
          <a:p>
            <a:endParaRPr lang="en-US" sz="1200"/>
          </a:p>
          <a:p>
            <a:r>
              <a:rPr lang="en-US" sz="2400"/>
              <a:t>Add "foreign keys" to each related dimension called &lt;</a:t>
            </a:r>
            <a:r>
              <a:rPr lang="en-US" sz="2400" err="1"/>
              <a:t>dimension_name</a:t>
            </a:r>
            <a:r>
              <a:rPr lang="en-US" sz="2400"/>
              <a:t>&gt;Key</a:t>
            </a:r>
            <a:endParaRPr lang="en-US"/>
          </a:p>
          <a:p>
            <a:endParaRPr lang="en-US" sz="1200"/>
          </a:p>
          <a:p>
            <a:r>
              <a:rPr lang="en-US" sz="2400"/>
              <a:t>Don't forget to match data types and remember role-playing dimensions!</a:t>
            </a:r>
          </a:p>
          <a:p>
            <a:endParaRPr lang="en-US" sz="1200"/>
          </a:p>
          <a:p>
            <a:r>
              <a:rPr lang="en-US" sz="2400"/>
              <a:t>Add the measures, preferably in alphabetical order</a:t>
            </a:r>
          </a:p>
          <a:p>
            <a:endParaRPr lang="en-US" sz="1200"/>
          </a:p>
          <a:p>
            <a:r>
              <a:rPr lang="en-US" sz="2400"/>
              <a:t>Include numerator and denominator measures if you have division coming up later</a:t>
            </a:r>
          </a:p>
          <a:p>
            <a:endParaRPr lang="en-US" sz="1200"/>
          </a:p>
          <a:p>
            <a:r>
              <a:rPr lang="en-US" sz="2400"/>
              <a:t>Push calculations upstream as far as possible!</a:t>
            </a:r>
          </a:p>
          <a:p>
            <a:endParaRPr lang="en-US" sz="1200"/>
          </a:p>
          <a:p>
            <a:r>
              <a:rPr lang="en-US" sz="2400"/>
              <a:t>Then add your plumbing</a:t>
            </a: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E74DCB26-1791-AC30-E41E-68263C65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14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F6287-FAF5-95E4-068B-7A59A24B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60EA-DABF-0B67-1F68-09B50E44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plumbing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AEF96-E5C0-000B-41A7-49D55443E187}"/>
              </a:ext>
            </a:extLst>
          </p:cNvPr>
          <p:cNvSpPr txBox="1"/>
          <p:nvPr/>
        </p:nvSpPr>
        <p:spPr>
          <a:xfrm>
            <a:off x="1271373" y="1964829"/>
            <a:ext cx="10278263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For both fact and dimension tables include the following fields:</a:t>
            </a:r>
          </a:p>
          <a:p>
            <a:endParaRPr lang="en-US" sz="1200"/>
          </a:p>
          <a:p>
            <a:r>
              <a:rPr lang="en-US" sz="2400"/>
              <a:t>Which source system did your row come from?  &lt;</a:t>
            </a:r>
            <a:r>
              <a:rPr lang="en-US" sz="2400" err="1"/>
              <a:t>table_name</a:t>
            </a:r>
            <a:r>
              <a:rPr lang="en-US" sz="2400"/>
              <a:t>&gt;</a:t>
            </a:r>
            <a:r>
              <a:rPr lang="en-US" sz="2400" err="1"/>
              <a:t>SourceSystemName</a:t>
            </a:r>
          </a:p>
          <a:p>
            <a:endParaRPr lang="en-US" sz="1200"/>
          </a:p>
          <a:p>
            <a:r>
              <a:rPr lang="en-US" sz="2400">
                <a:ea typeface="+mn-lt"/>
                <a:cs typeface="+mn-lt"/>
              </a:rPr>
              <a:t>How was it identified in that source system, </a:t>
            </a:r>
            <a:r>
              <a:rPr lang="en-US" sz="2400" err="1">
                <a:ea typeface="+mn-lt"/>
                <a:cs typeface="+mn-lt"/>
              </a:rPr>
              <a:t>ie</a:t>
            </a:r>
            <a:r>
              <a:rPr lang="en-US" sz="2400">
                <a:ea typeface="+mn-lt"/>
                <a:cs typeface="+mn-lt"/>
              </a:rPr>
              <a:t>. what was the business key? &lt;</a:t>
            </a:r>
            <a:r>
              <a:rPr lang="en-US" sz="2400" err="1">
                <a:ea typeface="+mn-lt"/>
                <a:cs typeface="+mn-lt"/>
              </a:rPr>
              <a:t>table_name</a:t>
            </a:r>
            <a:r>
              <a:rPr lang="en-US" sz="2400">
                <a:ea typeface="+mn-lt"/>
                <a:cs typeface="+mn-lt"/>
              </a:rPr>
              <a:t>&gt;</a:t>
            </a:r>
            <a:r>
              <a:rPr lang="en-US" sz="2400" err="1">
                <a:ea typeface="+mn-lt"/>
                <a:cs typeface="+mn-lt"/>
              </a:rPr>
              <a:t>SourceSystemKey</a:t>
            </a:r>
            <a:endParaRPr lang="en-US" err="1"/>
          </a:p>
          <a:p>
            <a:endParaRPr lang="en-US" sz="1200"/>
          </a:p>
          <a:p>
            <a:r>
              <a:rPr lang="en-US" sz="2400"/>
              <a:t>When did this row last get updated in the warehouse?  &lt;</a:t>
            </a:r>
            <a:r>
              <a:rPr lang="en-US" sz="2400" err="1"/>
              <a:t>table_name</a:t>
            </a:r>
            <a:r>
              <a:rPr lang="en-US" sz="2400"/>
              <a:t>&gt;</a:t>
            </a:r>
            <a:r>
              <a:rPr lang="en-US" sz="2400" err="1"/>
              <a:t>LastUpdatedDateTime</a:t>
            </a:r>
            <a:endParaRPr lang="en-US" err="1"/>
          </a:p>
          <a:p>
            <a:endParaRPr lang="en-US" sz="1200"/>
          </a:p>
          <a:p>
            <a:r>
              <a:rPr lang="en-US" sz="2400"/>
              <a:t>More plumbing for dimensions only in a little bit...</a:t>
            </a: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8BBBB902-8163-992B-B6D4-2ACD7F991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38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FB4EF-05DD-C5EE-4557-4031354A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F6F2-8106-218A-8B1C-D5661D48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schema usage at the presentation layer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AF6E6-1555-7B78-9C67-828E090EEACA}"/>
              </a:ext>
            </a:extLst>
          </p:cNvPr>
          <p:cNvSpPr txBox="1"/>
          <p:nvPr/>
        </p:nvSpPr>
        <p:spPr>
          <a:xfrm>
            <a:off x="1271373" y="1964829"/>
            <a:ext cx="1027826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fact for fact tables; dim for dimension tables</a:t>
            </a:r>
          </a:p>
          <a:p>
            <a:endParaRPr lang="en-US" sz="1200"/>
          </a:p>
          <a:p>
            <a:r>
              <a:rPr lang="en-US" sz="2400" err="1"/>
              <a:t>etl</a:t>
            </a:r>
            <a:r>
              <a:rPr lang="en-US" sz="2400"/>
              <a:t> for integration tables, </a:t>
            </a:r>
            <a:r>
              <a:rPr lang="en-US" sz="2400" err="1"/>
              <a:t>eg.</a:t>
            </a:r>
            <a:r>
              <a:rPr lang="en-US" sz="2400"/>
              <a:t> intermediate transformations</a:t>
            </a:r>
          </a:p>
          <a:p>
            <a:endParaRPr lang="en-US" sz="1200"/>
          </a:p>
          <a:p>
            <a:r>
              <a:rPr lang="en-US" sz="2400">
                <a:ea typeface="+mn-lt"/>
                <a:cs typeface="+mn-lt"/>
              </a:rPr>
              <a:t>But our end users, whether human or BI tools actually use views on top of </a:t>
            </a:r>
            <a:r>
              <a:rPr lang="en-US" sz="2400" err="1">
                <a:ea typeface="+mn-lt"/>
                <a:cs typeface="+mn-lt"/>
              </a:rPr>
              <a:t>thos</a:t>
            </a:r>
            <a:r>
              <a:rPr lang="en-US" sz="2400">
                <a:ea typeface="+mn-lt"/>
                <a:cs typeface="+mn-lt"/>
              </a:rPr>
              <a:t>e tables </a:t>
            </a:r>
            <a:endParaRPr lang="en-US" sz="2400"/>
          </a:p>
          <a:p>
            <a:endParaRPr lang="en-US" sz="1200"/>
          </a:p>
          <a:p>
            <a:r>
              <a:rPr lang="en-US" sz="2400"/>
              <a:t>data for fact table views; lookup for dimension views</a:t>
            </a:r>
          </a:p>
          <a:p>
            <a:endParaRPr lang="en-US" sz="1200"/>
          </a:p>
          <a:p>
            <a:endParaRPr lang="en-US" sz="24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04E7115-DEE0-C642-8976-95CD6929C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75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D636-AFB5-4927-A20B-85A4EF2E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C39E-D6BE-3E99-5C49-EFB8D84DA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why use views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953B9-6C6D-B992-9F96-E3B016AE0A8B}"/>
              </a:ext>
            </a:extLst>
          </p:cNvPr>
          <p:cNvSpPr txBox="1"/>
          <p:nvPr/>
        </p:nvSpPr>
        <p:spPr>
          <a:xfrm>
            <a:off x="1271373" y="1964829"/>
            <a:ext cx="10278263" cy="58169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Business users think in data and lookup, not fact and dim</a:t>
            </a:r>
          </a:p>
          <a:p>
            <a:endParaRPr lang="en-US" sz="1200"/>
          </a:p>
          <a:p>
            <a:r>
              <a:rPr lang="en-US" sz="2400"/>
              <a:t>Business users don't need or want to see the "plumbing" fields in our tables</a:t>
            </a:r>
          </a:p>
          <a:p>
            <a:endParaRPr lang="en-US" sz="1200"/>
          </a:p>
          <a:p>
            <a:r>
              <a:rPr lang="en-US" sz="2400">
                <a:ea typeface="+mn-lt"/>
                <a:cs typeface="+mn-lt"/>
              </a:rPr>
              <a:t>Views handle "role-playing dimensions" neatly and help avoid ambiguity</a:t>
            </a:r>
            <a:endParaRPr lang="en-US" sz="2400"/>
          </a:p>
          <a:p>
            <a:endParaRPr lang="en-US" sz="1200"/>
          </a:p>
          <a:p>
            <a:r>
              <a:rPr lang="en-US" sz="2400"/>
              <a:t>Role-playing dimensions are when one dimension table can be used in multiple contexts in the same fact</a:t>
            </a:r>
          </a:p>
          <a:p>
            <a:endParaRPr lang="en-US" sz="1200"/>
          </a:p>
          <a:p>
            <a:r>
              <a:rPr lang="en-US" sz="2400"/>
              <a:t>Employee dimension could be used as employee, manager, legal partner, etc.</a:t>
            </a:r>
          </a:p>
          <a:p>
            <a:endParaRPr lang="en-US" sz="1200"/>
          </a:p>
          <a:p>
            <a:r>
              <a:rPr lang="en-US" sz="2400"/>
              <a:t>Calendar (date) dimension is often used many times</a:t>
            </a:r>
          </a:p>
          <a:p>
            <a:endParaRPr lang="en-US" sz="1200"/>
          </a:p>
          <a:p>
            <a:r>
              <a:rPr lang="en-US" sz="2400"/>
              <a:t>So many times...</a:t>
            </a:r>
          </a:p>
          <a:p>
            <a:endParaRPr lang="en-US" sz="1200"/>
          </a:p>
          <a:p>
            <a:endParaRPr lang="en-US" sz="24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1A0EA1EC-6655-A064-BC6F-6B1B98DB9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7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8C67-BC53-188B-97EE-1BF8B66F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4284-7460-3E00-2BF8-399F9C32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define the </a:t>
            </a:r>
            <a:r>
              <a:rPr lang="en-US" sz="4000" err="1"/>
              <a:t>SalesDate</a:t>
            </a:r>
            <a:r>
              <a:rPr lang="en-US" sz="4000"/>
              <a:t> view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E1FD2F5-49BB-3062-E09D-5667D9EA0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48B593-A2D4-A4ED-1765-E084C4F56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54" y="1444869"/>
            <a:ext cx="7234848" cy="473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88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4205-654E-142D-79B0-78DB9FA8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E17B-0DA6-CBC5-EC86-5F7E02659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define the </a:t>
            </a:r>
            <a:r>
              <a:rPr lang="en-US" sz="4000" err="1"/>
              <a:t>StaffHireDate</a:t>
            </a:r>
            <a:r>
              <a:rPr lang="en-US" sz="4000"/>
              <a:t> view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7CE66F5B-D9E6-5EE4-4799-EB37CB00C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ED08C5-FED5-E84D-2AB3-6040AEA79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979" y="1440107"/>
            <a:ext cx="7250967" cy="492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82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4C26-C10A-69F7-CAD5-65BF19A3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159B-144D-AC0C-B505-9116DE73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return of the example query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93F304ED-9669-FAA1-6389-CA97BFED0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18A2AD-C253-29BB-3C71-48D5AD8E7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3" y="1447189"/>
            <a:ext cx="7973892" cy="472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86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E077-18EA-FB3F-7C68-56FC20A2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EAED-F192-C8EE-1198-1AB3EB14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let's talk about nulls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0331F-78C4-426C-7710-9F13EE6C525D}"/>
              </a:ext>
            </a:extLst>
          </p:cNvPr>
          <p:cNvSpPr txBox="1"/>
          <p:nvPr/>
        </p:nvSpPr>
        <p:spPr>
          <a:xfrm>
            <a:off x="1271373" y="1964829"/>
            <a:ext cx="1027826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Only use nulls when necessary</a:t>
            </a:r>
          </a:p>
          <a:p>
            <a:endParaRPr lang="en-US" sz="1200"/>
          </a:p>
          <a:p>
            <a:r>
              <a:rPr lang="en-US" sz="2400"/>
              <a:t>They are the bane of human- and tool-written queries alike</a:t>
            </a:r>
          </a:p>
          <a:p>
            <a:endParaRPr lang="en-US" sz="1200"/>
          </a:p>
          <a:p>
            <a:r>
              <a:rPr lang="en-US" sz="2400">
                <a:ea typeface="+mn-lt"/>
                <a:cs typeface="+mn-lt"/>
              </a:rPr>
              <a:t>Foreign keys in the fact table must never be null</a:t>
            </a:r>
            <a:endParaRPr lang="en-US" sz="2400"/>
          </a:p>
          <a:p>
            <a:endParaRPr lang="en-US" sz="1200"/>
          </a:p>
          <a:p>
            <a:r>
              <a:rPr lang="en-US" sz="2400"/>
              <a:t>Use empty strings for all character attributes</a:t>
            </a:r>
          </a:p>
          <a:p>
            <a:endParaRPr lang="en-US" sz="1200"/>
          </a:p>
          <a:p>
            <a:r>
              <a:rPr lang="en-US" sz="2400"/>
              <a:t>Only use nulls in dates and numeric fields, and only if you know they</a:t>
            </a:r>
          </a:p>
          <a:p>
            <a:r>
              <a:rPr lang="en-US" sz="2400"/>
              <a:t>actually are sometimes null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B91E2F28-EA93-EFF7-DBAD-3BD838DDA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0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10DD-579E-AAEB-BF53-FF542C83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39C3-0C98-AA71-9A35-BD147057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sentinel values, part 1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FE41F-6790-85A8-4EAD-297DFCE23DF4}"/>
              </a:ext>
            </a:extLst>
          </p:cNvPr>
          <p:cNvSpPr txBox="1"/>
          <p:nvPr/>
        </p:nvSpPr>
        <p:spPr>
          <a:xfrm>
            <a:off x="1271373" y="1964829"/>
            <a:ext cx="1027826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How can my foreign keys not be nulls if the data doesn't exist?</a:t>
            </a:r>
          </a:p>
          <a:p>
            <a:endParaRPr lang="en-US" sz="1200"/>
          </a:p>
          <a:p>
            <a:r>
              <a:rPr lang="en-US" sz="2400"/>
              <a:t>We add "dummy" rows to the dimension tables, with a negative surrogate key</a:t>
            </a:r>
          </a:p>
          <a:p>
            <a:endParaRPr lang="en-US" sz="1200"/>
          </a:p>
          <a:p>
            <a:r>
              <a:rPr lang="en-US" sz="2400">
                <a:ea typeface="+mn-lt"/>
                <a:cs typeface="+mn-lt"/>
              </a:rPr>
              <a:t>Row key -1 is for  &lt;unknown&gt; or &lt;missing&gt; data</a:t>
            </a:r>
            <a:endParaRPr lang="en-US" sz="2400"/>
          </a:p>
          <a:p>
            <a:endParaRPr lang="en-US" sz="1200"/>
          </a:p>
          <a:p>
            <a:r>
              <a:rPr lang="en-US" sz="2400"/>
              <a:t>Row key -2 is for &lt;n/a&gt; data</a:t>
            </a:r>
          </a:p>
          <a:p>
            <a:endParaRPr lang="en-US" sz="1200"/>
          </a:p>
          <a:p>
            <a:r>
              <a:rPr lang="en-US" sz="2400"/>
              <a:t>For example, a doctor's appointment that went ahead as scheduled would have -2 for </a:t>
            </a:r>
            <a:r>
              <a:rPr lang="en-US" sz="2400" err="1"/>
              <a:t>CancelledDateKey</a:t>
            </a:r>
            <a:endParaRPr lang="en-US" sz="2400"/>
          </a:p>
          <a:p>
            <a:endParaRPr lang="en-US" sz="12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8C2A4EC-1C94-4BC1-0EA0-7697462DB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45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4B33-F1E0-E21E-BB19-DEACF75F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296B-C721-D10C-D97B-7AA4D8DC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sentinel values, part 2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9D9D3-3625-6B6A-2285-0106F5240669}"/>
              </a:ext>
            </a:extLst>
          </p:cNvPr>
          <p:cNvSpPr txBox="1"/>
          <p:nvPr/>
        </p:nvSpPr>
        <p:spPr>
          <a:xfrm>
            <a:off x="1271373" y="1964829"/>
            <a:ext cx="10278263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Row key -3 is for lagging data</a:t>
            </a:r>
          </a:p>
          <a:p>
            <a:endParaRPr lang="en-US" sz="1200"/>
          </a:p>
          <a:p>
            <a:r>
              <a:rPr lang="en-US" sz="2400"/>
              <a:t>For example, every course registration should have a student, so -1 if there is no matching student</a:t>
            </a:r>
          </a:p>
          <a:p>
            <a:endParaRPr lang="en-US" sz="1200"/>
          </a:p>
          <a:p>
            <a:r>
              <a:rPr lang="en-US" sz="2400"/>
              <a:t>Every course registration should have a grade after the term ends, so -1 after the term, but -3 before grades are given as we wouldn't expect a grade yet</a:t>
            </a:r>
          </a:p>
          <a:p>
            <a:endParaRPr lang="en-US" sz="1200"/>
          </a:p>
          <a:p>
            <a:r>
              <a:rPr lang="en-US" sz="2400"/>
              <a:t>Row key -4 and -5 for before and after specific events, </a:t>
            </a:r>
            <a:r>
              <a:rPr lang="en-US" sz="2400" err="1"/>
              <a:t>eg.</a:t>
            </a:r>
            <a:r>
              <a:rPr lang="en-US" sz="2400"/>
              <a:t> we tracked departments differently in our old system than we do in our new system</a:t>
            </a:r>
          </a:p>
          <a:p>
            <a:endParaRPr lang="en-US" sz="1200"/>
          </a:p>
          <a:p>
            <a:r>
              <a:rPr lang="en-US" sz="2400"/>
              <a:t>You've gone too far, this time!  I usually use -1 for unknown/missing and</a:t>
            </a:r>
          </a:p>
          <a:p>
            <a:r>
              <a:rPr lang="en-US" sz="2400"/>
              <a:t>-2 for n/a and lagging combined</a:t>
            </a:r>
            <a:endParaRPr lang="en-US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2FC8A519-14E8-993A-CE8F-8420AFEDD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21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E817-2F46-4435-4482-19FCA472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A0A6-58F6-0FB8-9D87-22B36F53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for the more discerning user...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E600E-8A04-379A-CAFB-6817C14B6277}"/>
              </a:ext>
            </a:extLst>
          </p:cNvPr>
          <p:cNvSpPr txBox="1"/>
          <p:nvPr/>
        </p:nvSpPr>
        <p:spPr>
          <a:xfrm>
            <a:off x="1271373" y="1964829"/>
            <a:ext cx="1027826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Degenerate dimensions</a:t>
            </a:r>
          </a:p>
          <a:p>
            <a:endParaRPr lang="en-US" sz="1200"/>
          </a:p>
          <a:p>
            <a:r>
              <a:rPr lang="en-US" sz="2400"/>
              <a:t>Junk dimensions</a:t>
            </a:r>
          </a:p>
          <a:p>
            <a:endParaRPr lang="en-US" sz="12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1B6296CB-A2FD-AAF6-1CC3-EC75B7A50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92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E68D-8C5C-AFF0-EFC0-E5FD755B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0FD5-A1ED-A8BC-517F-C03D13FE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the curse of the customer dimension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43509-CB97-B164-70A3-DFF2F1217D52}"/>
              </a:ext>
            </a:extLst>
          </p:cNvPr>
          <p:cNvSpPr txBox="1"/>
          <p:nvPr/>
        </p:nvSpPr>
        <p:spPr>
          <a:xfrm>
            <a:off x="1271373" y="1964829"/>
            <a:ext cx="10278263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The customer is invariably the trickiest dimension, cf. patient, student, etc.</a:t>
            </a:r>
          </a:p>
          <a:p>
            <a:endParaRPr lang="en-US" sz="1200"/>
          </a:p>
          <a:p>
            <a:r>
              <a:rPr lang="en-US" sz="2400"/>
              <a:t>Every department defines customer differently, and usually each definition is so ingrained to that department that they don't realize it</a:t>
            </a:r>
          </a:p>
          <a:p>
            <a:endParaRPr lang="en-US" sz="1200"/>
          </a:p>
          <a:p>
            <a:r>
              <a:rPr lang="en-US" sz="2400"/>
              <a:t>So we almost always need both a customer dimension and a customer fact (watch out for key naming)</a:t>
            </a:r>
          </a:p>
          <a:p>
            <a:endParaRPr lang="en-US" sz="1200"/>
          </a:p>
          <a:p>
            <a:r>
              <a:rPr lang="en-US" sz="2400"/>
              <a:t>In fact (pun not intended), we should always query the warehouse starting with a fact and only then adding context.</a:t>
            </a:r>
          </a:p>
          <a:p>
            <a:endParaRPr lang="en-US" sz="1200"/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F9D1D993-E128-522E-5AED-733A10F7C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68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D521-2CC6-3CD8-05B9-315416FA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7041-F0F3-5168-16C1-B5D271D36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Slowly Changing Dimensions (SCD)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6F73A-6AC4-DD14-4C59-A09C7E36E870}"/>
              </a:ext>
            </a:extLst>
          </p:cNvPr>
          <p:cNvSpPr txBox="1"/>
          <p:nvPr/>
        </p:nvSpPr>
        <p:spPr>
          <a:xfrm>
            <a:off x="1223434" y="2126131"/>
            <a:ext cx="9766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Dimensions change over time: customers move, products get recategorized, employees change roles</a:t>
            </a:r>
          </a:p>
          <a:p>
            <a:endParaRPr lang="en-US" sz="2400" dirty="0"/>
          </a:p>
          <a:p>
            <a:r>
              <a:rPr lang="en-US" sz="2400" dirty="0"/>
              <a:t>SCDs are patterns for handling these changes</a:t>
            </a:r>
          </a:p>
          <a:p>
            <a:endParaRPr lang="en-US" sz="2400" dirty="0"/>
          </a:p>
          <a:p>
            <a:r>
              <a:rPr lang="en-US" sz="2400" dirty="0"/>
              <a:t>Named "slowly" because changes are infrequent compared to transactions</a:t>
            </a:r>
          </a:p>
          <a:p>
            <a:endParaRPr lang="en-US" sz="2400" dirty="0"/>
          </a:p>
          <a:p>
            <a:r>
              <a:rPr lang="en-US" sz="2400" dirty="0"/>
              <a:t>The type you choose affects what questions you can answer</a:t>
            </a:r>
          </a:p>
        </p:txBody>
      </p:sp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0D9D0811-0F61-FE96-8C19-DDC1B4FFE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3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0AEC-339C-668A-091C-FA349125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904F-865A-EF94-9D66-D7B78969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type 0 SCDs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F2DD3-AC20-0AAF-0F1F-0B935F7990AE}"/>
              </a:ext>
            </a:extLst>
          </p:cNvPr>
          <p:cNvSpPr txBox="1"/>
          <p:nvPr/>
        </p:nvSpPr>
        <p:spPr>
          <a:xfrm>
            <a:off x="2743113" y="1968421"/>
            <a:ext cx="685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Something that will never ever change</a:t>
            </a:r>
          </a:p>
          <a:p>
            <a:r>
              <a:rPr lang="en-US" sz="2400" dirty="0"/>
              <a:t>Example: May 7</a:t>
            </a:r>
            <a:r>
              <a:rPr lang="en-US" sz="2400" baseline="30000" dirty="0"/>
              <a:t>th</a:t>
            </a:r>
            <a:r>
              <a:rPr lang="en-US" sz="2400" dirty="0"/>
              <a:t> 2026 will always be a Thursday</a:t>
            </a:r>
          </a:p>
        </p:txBody>
      </p:sp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A3B1786E-F5BE-EE2F-A271-7D949B89D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73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4701-4E8C-7A44-D73E-65F5C590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0A3C-5162-D601-1CCE-D1A2F627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type 1 SCDs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5F01A-B06A-6A73-01B8-6C2E3A241EED}"/>
              </a:ext>
            </a:extLst>
          </p:cNvPr>
          <p:cNvSpPr txBox="1"/>
          <p:nvPr/>
        </p:nvSpPr>
        <p:spPr>
          <a:xfrm>
            <a:off x="2743113" y="1968421"/>
            <a:ext cx="68580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Simply update the existing record</a:t>
            </a:r>
          </a:p>
          <a:p>
            <a:r>
              <a:rPr lang="en-US" sz="2400" dirty="0"/>
              <a:t>No history preserved</a:t>
            </a:r>
          </a:p>
          <a:p>
            <a:r>
              <a:rPr lang="en-US" sz="2400" dirty="0"/>
              <a:t>Use when: History doesn't matter, corrections only</a:t>
            </a:r>
          </a:p>
          <a:p>
            <a:r>
              <a:rPr lang="en-US" sz="2400" dirty="0"/>
              <a:t>Example: Fixing a typo in customer name</a:t>
            </a:r>
          </a:p>
          <a:p>
            <a:r>
              <a:rPr lang="en-US" sz="2400" dirty="0"/>
              <a:t>Pros: Simple, no table growth</a:t>
            </a:r>
          </a:p>
          <a:p>
            <a:r>
              <a:rPr lang="en-US" sz="2400" dirty="0"/>
              <a:t>Cons: Can't answer "what was it before?"</a:t>
            </a:r>
          </a:p>
        </p:txBody>
      </p:sp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CBD903C3-BD91-FEFD-E618-6C187CC23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9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B397-D9C2-BDBB-B9E6-74A6EB73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B184-9698-4A24-209A-FABD4A8A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type 2 SCDs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E898A-FF18-4AFD-31E4-B9252CEA4998}"/>
              </a:ext>
            </a:extLst>
          </p:cNvPr>
          <p:cNvSpPr txBox="1"/>
          <p:nvPr/>
        </p:nvSpPr>
        <p:spPr>
          <a:xfrm>
            <a:off x="2948838" y="1945605"/>
            <a:ext cx="6702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Insert new row with new surrogate key</a:t>
            </a:r>
          </a:p>
          <a:p>
            <a:r>
              <a:rPr lang="en-US" sz="2400" dirty="0"/>
              <a:t>Mark old row as inactive (end date or current flag)</a:t>
            </a:r>
          </a:p>
          <a:p>
            <a:r>
              <a:rPr lang="en-US" sz="2400" dirty="0"/>
              <a:t>Use when: Historical accuracy matters</a:t>
            </a:r>
          </a:p>
          <a:p>
            <a:r>
              <a:rPr lang="en-US" sz="2400" dirty="0"/>
              <a:t>Example: Customer changes address, need to know where they lived when they ordered</a:t>
            </a:r>
          </a:p>
          <a:p>
            <a:r>
              <a:rPr lang="en-US" sz="2400" dirty="0"/>
              <a:t>Pros: Full history preserved</a:t>
            </a:r>
          </a:p>
          <a:p>
            <a:r>
              <a:rPr lang="en-US" sz="2400" dirty="0"/>
              <a:t>Cons: Table grows, queries more complex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EA783-06BD-9E03-24FC-4ABEA0DE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185" y="5042486"/>
            <a:ext cx="5894581" cy="1131668"/>
          </a:xfrm>
          <a:prstGeom prst="rect">
            <a:avLst/>
          </a:prstGeom>
        </p:spPr>
      </p:pic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D68EF154-6272-6348-330C-06722AF34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3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2AFA-01C6-D09B-E3C3-1418F34C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C24E-8547-C429-897B-EA701662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type 3 SCDs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F51B3-8495-8B32-9930-4368BADE4DAF}"/>
              </a:ext>
            </a:extLst>
          </p:cNvPr>
          <p:cNvSpPr txBox="1"/>
          <p:nvPr/>
        </p:nvSpPr>
        <p:spPr>
          <a:xfrm>
            <a:off x="3314598" y="2012106"/>
            <a:ext cx="6702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column for previous value</a:t>
            </a:r>
          </a:p>
          <a:p>
            <a:r>
              <a:rPr lang="en-US" sz="2400" dirty="0"/>
              <a:t>Only tracks one change</a:t>
            </a:r>
          </a:p>
          <a:p>
            <a:r>
              <a:rPr lang="en-US" sz="2400" dirty="0"/>
              <a:t>Use when: Only need current and immediately prior value</a:t>
            </a:r>
          </a:p>
          <a:p>
            <a:r>
              <a:rPr lang="en-US" sz="2400" dirty="0"/>
              <a:t>Example: Current and previous account manager</a:t>
            </a:r>
          </a:p>
          <a:p>
            <a:r>
              <a:rPr lang="en-US" sz="2400" dirty="0"/>
              <a:t>Pros: Simple queries, no row growth</a:t>
            </a:r>
          </a:p>
          <a:p>
            <a:r>
              <a:rPr lang="en-US" sz="2400" dirty="0"/>
              <a:t>Cons: Limited history (only one previous value)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44A93-10AE-5197-F9FB-85465B744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564" y="4990024"/>
            <a:ext cx="5467824" cy="845893"/>
          </a:xfrm>
          <a:prstGeom prst="rect">
            <a:avLst/>
          </a:prstGeom>
        </p:spPr>
      </p:pic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C9E61B18-2E51-9134-BF28-AF0FD38C9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68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DDE7-0477-B300-B6D4-1F2E4438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3CA3-C402-E8CE-84DB-0BE965D7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type 6 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– Hybrid (1+2+3)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972D1-604F-85A4-BA6E-5E3F7DE9C37F}"/>
              </a:ext>
            </a:extLst>
          </p:cNvPr>
          <p:cNvSpPr txBox="1"/>
          <p:nvPr/>
        </p:nvSpPr>
        <p:spPr>
          <a:xfrm>
            <a:off x="2743113" y="2210817"/>
            <a:ext cx="6702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Combines approaches: new rows AND current value column</a:t>
            </a:r>
          </a:p>
          <a:p>
            <a:r>
              <a:rPr lang="en-US" sz="2400" dirty="0"/>
              <a:t>Both historical and current values easily accessible</a:t>
            </a:r>
          </a:p>
          <a:p>
            <a:r>
              <a:rPr lang="en-US" sz="2400" dirty="0"/>
              <a:t>Use when: Need both point-in-time and easy current state access</a:t>
            </a:r>
          </a:p>
          <a:p>
            <a:r>
              <a:rPr lang="en-US" sz="2400" dirty="0"/>
              <a:t>Most flexible but most complex to maintain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AC2EA-22AA-56E9-65D4-AC192B3E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633" y="4977716"/>
            <a:ext cx="6039373" cy="1124047"/>
          </a:xfrm>
          <a:prstGeom prst="rect">
            <a:avLst/>
          </a:prstGeom>
        </p:spPr>
      </p:pic>
      <p:pic>
        <p:nvPicPr>
          <p:cNvPr id="3" name="Picture 2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7291EA50-0CE3-AACB-40B0-8604A0E7C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59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4108-988C-1C4C-E947-5AABCD54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F635-9C22-C0FB-2521-BFFE5063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Choosing the Right Type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E5162A-A478-39B5-0F5C-903A0F3D943E}"/>
              </a:ext>
            </a:extLst>
          </p:cNvPr>
          <p:cNvGraphicFramePr>
            <a:graphicFrameLocks noGrp="1"/>
          </p:cNvGraphicFramePr>
          <p:nvPr/>
        </p:nvGraphicFramePr>
        <p:xfrm>
          <a:off x="1257300" y="18067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529298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0601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Recommended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93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Correcting data entry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12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Tracking customer moves for delivery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088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Sales territory reassignments with quota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642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"Current vs previous manager" report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5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 both easy current access and full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77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High-change-frequency 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Consider separate fact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16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445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3357</TotalTime>
  <Words>1951</Words>
  <Application>Microsoft Office PowerPoint</Application>
  <PresentationFormat>Widescreen</PresentationFormat>
  <Paragraphs>350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Segoe UI</vt:lpstr>
      <vt:lpstr>Segoe UI Light</vt:lpstr>
      <vt:lpstr>Trebuchet MS</vt:lpstr>
      <vt:lpstr>Wingdings 3</vt:lpstr>
      <vt:lpstr>Facet</vt:lpstr>
      <vt:lpstr>A Gentle (Re-)Introduction to Dimensional Modeling</vt:lpstr>
      <vt:lpstr>PowerPoint Presentation</vt:lpstr>
      <vt:lpstr>agenda, part 1</vt:lpstr>
      <vt:lpstr>agenda, part 2</vt:lpstr>
      <vt:lpstr>what is dimensional modeling?</vt:lpstr>
      <vt:lpstr>why does dimensional modeling matter?</vt:lpstr>
      <vt:lpstr>fact tables</vt:lpstr>
      <vt:lpstr>dimension tables</vt:lpstr>
      <vt:lpstr>facts and dimensions example query</vt:lpstr>
      <vt:lpstr>star schemas</vt:lpstr>
      <vt:lpstr>star schema example</vt:lpstr>
      <vt:lpstr>snowflakes</vt:lpstr>
      <vt:lpstr>snowflake example</vt:lpstr>
      <vt:lpstr>the Kimball modeling methodology</vt:lpstr>
      <vt:lpstr>conforming dimension tables</vt:lpstr>
      <vt:lpstr>common dimension tables</vt:lpstr>
      <vt:lpstr>dr. jekyll's dimension design</vt:lpstr>
      <vt:lpstr>i can design facts too!</vt:lpstr>
      <vt:lpstr>plumbing</vt:lpstr>
      <vt:lpstr>schema usage at the presentation layer</vt:lpstr>
      <vt:lpstr>why use views</vt:lpstr>
      <vt:lpstr>define the SalesDate view</vt:lpstr>
      <vt:lpstr>define the StaffHireDate view</vt:lpstr>
      <vt:lpstr>return of the example query</vt:lpstr>
      <vt:lpstr>let's talk about nulls</vt:lpstr>
      <vt:lpstr>sentinel values, part 1</vt:lpstr>
      <vt:lpstr>sentinel values, part 2</vt:lpstr>
      <vt:lpstr>for the more discerning user...</vt:lpstr>
      <vt:lpstr>the curse of the customer dimension</vt:lpstr>
      <vt:lpstr>Slowly Changing Dimensions (SCD)</vt:lpstr>
      <vt:lpstr>type 0 SCDs</vt:lpstr>
      <vt:lpstr>type 1 SCDs</vt:lpstr>
      <vt:lpstr>type 2 SCDs</vt:lpstr>
      <vt:lpstr>type 3 SCDs</vt:lpstr>
      <vt:lpstr>type 6 – Hybrid (1+2+3)</vt:lpstr>
      <vt:lpstr>Choosing the Right Type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131</cp:revision>
  <dcterms:created xsi:type="dcterms:W3CDTF">2021-06-17T21:52:43Z</dcterms:created>
  <dcterms:modified xsi:type="dcterms:W3CDTF">2026-06-27T14:28:27Z</dcterms:modified>
</cp:coreProperties>
</file>